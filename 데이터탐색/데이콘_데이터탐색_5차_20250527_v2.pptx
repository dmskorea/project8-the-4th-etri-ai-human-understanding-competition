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19"/>
  </p:notesMasterIdLst>
  <p:handoutMasterIdLst>
    <p:handoutMasterId r:id="rId20"/>
  </p:handoutMasterIdLst>
  <p:sldIdLst>
    <p:sldId id="301" r:id="rId7"/>
    <p:sldId id="411" r:id="rId8"/>
    <p:sldId id="42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DACE6"/>
    <a:srgbClr val="FF7C80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954" y="102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2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288704" y="2903173"/>
            <a:ext cx="6207212" cy="1143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</a:t>
            </a:r>
            <a:r>
              <a:rPr lang="ko-KR" altLang="en-US" dirty="0" smtClean="0"/>
              <a:t>탐색</a:t>
            </a:r>
            <a:r>
              <a:rPr lang="en-US" altLang="ko-KR" dirty="0" smtClean="0"/>
              <a:t>5</a:t>
            </a:r>
            <a:br>
              <a:rPr lang="en-US" altLang="ko-KR" dirty="0" smtClean="0"/>
            </a:b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예측값</a:t>
            </a:r>
            <a:r>
              <a:rPr lang="ko-KR" altLang="en-US" sz="2000" dirty="0" smtClean="0"/>
              <a:t> 비교 </a:t>
            </a:r>
            <a:r>
              <a:rPr lang="en-US" altLang="ko-KR" sz="2000" dirty="0" smtClean="0"/>
              <a:t>&amp; </a:t>
            </a:r>
            <a:r>
              <a:rPr lang="ko-KR" altLang="en-US" sz="2000" dirty="0" err="1" smtClean="0"/>
              <a:t>오차분석</a:t>
            </a:r>
            <a:r>
              <a:rPr lang="en-US" altLang="ko-KR" sz="2000" dirty="0" smtClean="0"/>
              <a:t>)</a:t>
            </a:r>
            <a:endParaRPr lang="ko-KR" altLang="en-US" sz="1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로컬리더보드 </a:t>
            </a:r>
            <a:r>
              <a:rPr lang="en-US" altLang="ko-KR" dirty="0" smtClean="0"/>
              <a:t>: 0.6594, PUBLIC </a:t>
            </a:r>
            <a:r>
              <a:rPr lang="ko-KR" altLang="en-US" dirty="0" smtClean="0"/>
              <a:t>리더보드 </a:t>
            </a:r>
            <a:r>
              <a:rPr lang="en-US" altLang="ko-KR" dirty="0" smtClean="0"/>
              <a:t>0.6156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344488" y="908720"/>
            <a:ext cx="9361040" cy="54726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>
                <a:solidFill>
                  <a:schemeClr val="tx1"/>
                </a:solidFill>
              </a:rPr>
              <a:t># </a:t>
            </a:r>
            <a:r>
              <a:rPr lang="ko-KR" altLang="en-US" sz="800" dirty="0">
                <a:solidFill>
                  <a:schemeClr val="tx1"/>
                </a:solidFill>
              </a:rPr>
              <a:t>평균 </a:t>
            </a:r>
            <a:r>
              <a:rPr lang="en-US" altLang="ko-KR" sz="800" dirty="0">
                <a:solidFill>
                  <a:schemeClr val="tx1"/>
                </a:solidFill>
              </a:rPr>
              <a:t>F1: 0.6594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):0.7122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):0.7562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):0.6654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):0.6033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):0.6907 S1(</a:t>
            </a:r>
            <a:r>
              <a:rPr lang="ko-KR" altLang="en-US" sz="800" dirty="0">
                <a:solidFill>
                  <a:schemeClr val="tx1"/>
                </a:solidFill>
              </a:rPr>
              <a:t>수면시간</a:t>
            </a:r>
            <a:r>
              <a:rPr lang="en-US" altLang="ko-KR" sz="800" dirty="0">
                <a:solidFill>
                  <a:schemeClr val="tx1"/>
                </a:solidFill>
              </a:rPr>
              <a:t>):0.5284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ACCURACY: 0.7181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):0.7143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):0.7619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):0.7048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):0.6762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):0.7333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PRECISION: 0.7212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):0.7131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):0.7793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):0.6781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):0.7119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):0.7236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RECALL: 0.6864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):0.7117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):0.7582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):0.6604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):0.6189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):0.6830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AUC: 0.7747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):0.7496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):0.8351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):0.7569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):0.7558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):0.7758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LOGLOSS: 0.5680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):0.5951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):0.5326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):0.5673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):0.5979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</a:t>
            </a:r>
            <a:r>
              <a:rPr lang="en-US" altLang="ko-KR" sz="800" dirty="0" smtClean="0">
                <a:solidFill>
                  <a:schemeClr val="tx1"/>
                </a:solidFill>
              </a:rPr>
              <a:t>0.5469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# /content/drive/</a:t>
            </a:r>
            <a:r>
              <a:rPr lang="en-US" altLang="ko-KR" sz="800" dirty="0" err="1">
                <a:solidFill>
                  <a:schemeClr val="tx1"/>
                </a:solidFill>
              </a:rPr>
              <a:t>MyDrive</a:t>
            </a:r>
            <a:r>
              <a:rPr lang="en-US" altLang="ko-KR" sz="800" dirty="0">
                <a:solidFill>
                  <a:schemeClr val="tx1"/>
                </a:solidFill>
              </a:rPr>
              <a:t>/data/submission_0.6593750944266342.csv </a:t>
            </a:r>
            <a:r>
              <a:rPr lang="ko-KR" altLang="en-US" sz="800" dirty="0">
                <a:solidFill>
                  <a:schemeClr val="tx1"/>
                </a:solidFill>
              </a:rPr>
              <a:t>저장 완료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# </a:t>
            </a:r>
            <a:r>
              <a:rPr lang="ko-KR" altLang="en-US" sz="800" dirty="0" err="1">
                <a:solidFill>
                  <a:schemeClr val="tx1"/>
                </a:solidFill>
              </a:rPr>
              <a:t>예측결과</a:t>
            </a:r>
            <a:r>
              <a:rPr lang="ko-KR" altLang="en-US" sz="800" dirty="0">
                <a:solidFill>
                  <a:schemeClr val="tx1"/>
                </a:solidFill>
              </a:rPr>
              <a:t> 비교표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학습</a:t>
            </a:r>
            <a:r>
              <a:rPr lang="en-US" altLang="ko-KR" sz="800" dirty="0">
                <a:solidFill>
                  <a:schemeClr val="tx1"/>
                </a:solidFill>
              </a:rPr>
              <a:t>sum	</a:t>
            </a:r>
            <a:r>
              <a:rPr lang="ko-KR" altLang="en-US" sz="800" dirty="0">
                <a:solidFill>
                  <a:schemeClr val="tx1"/>
                </a:solidFill>
              </a:rPr>
              <a:t>학습</a:t>
            </a:r>
            <a:r>
              <a:rPr lang="en-US" altLang="ko-KR" sz="800" dirty="0" err="1">
                <a:solidFill>
                  <a:schemeClr val="tx1"/>
                </a:solidFill>
              </a:rPr>
              <a:t>len</a:t>
            </a:r>
            <a:r>
              <a:rPr lang="en-US" altLang="ko-KR" sz="800" dirty="0">
                <a:solidFill>
                  <a:schemeClr val="tx1"/>
                </a:solidFill>
              </a:rPr>
              <a:t>	</a:t>
            </a:r>
            <a:r>
              <a:rPr lang="ko-KR" altLang="en-US" sz="800" dirty="0">
                <a:solidFill>
                  <a:schemeClr val="tx1"/>
                </a:solidFill>
              </a:rPr>
              <a:t>학습</a:t>
            </a:r>
            <a:r>
              <a:rPr lang="en-US" altLang="ko-KR" sz="800" dirty="0">
                <a:solidFill>
                  <a:schemeClr val="tx1"/>
                </a:solidFill>
              </a:rPr>
              <a:t>mean	</a:t>
            </a:r>
            <a:r>
              <a:rPr lang="ko-KR" altLang="en-US" sz="800" dirty="0">
                <a:solidFill>
                  <a:schemeClr val="tx1"/>
                </a:solidFill>
              </a:rPr>
              <a:t>테스트</a:t>
            </a:r>
            <a:r>
              <a:rPr lang="en-US" altLang="ko-KR" sz="800" dirty="0">
                <a:solidFill>
                  <a:schemeClr val="tx1"/>
                </a:solidFill>
              </a:rPr>
              <a:t>sum	</a:t>
            </a:r>
            <a:r>
              <a:rPr lang="ko-KR" altLang="en-US" sz="800" dirty="0">
                <a:solidFill>
                  <a:schemeClr val="tx1"/>
                </a:solidFill>
              </a:rPr>
              <a:t>테스트</a:t>
            </a:r>
            <a:r>
              <a:rPr lang="en-US" altLang="ko-KR" sz="800" dirty="0" err="1">
                <a:solidFill>
                  <a:schemeClr val="tx1"/>
                </a:solidFill>
              </a:rPr>
              <a:t>len</a:t>
            </a:r>
            <a:r>
              <a:rPr lang="en-US" altLang="ko-KR" sz="800" dirty="0">
                <a:solidFill>
                  <a:schemeClr val="tx1"/>
                </a:solidFill>
              </a:rPr>
              <a:t>	</a:t>
            </a:r>
            <a:r>
              <a:rPr lang="ko-KR" altLang="en-US" sz="800" dirty="0">
                <a:solidFill>
                  <a:schemeClr val="tx1"/>
                </a:solidFill>
              </a:rPr>
              <a:t>테스트</a:t>
            </a:r>
            <a:r>
              <a:rPr lang="en-US" altLang="ko-KR" sz="800" dirty="0">
                <a:solidFill>
                  <a:schemeClr val="tx1"/>
                </a:solidFill>
              </a:rPr>
              <a:t>mean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Q1	223	450	0.4956	128	250	0.5120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Q2	253	450	0.5622	151	250	0.6040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Q3	270	450	0.6000	171	250	0.6840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S1	390	450	0.8667	195	250	0.7800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S2	293	450	0.6511	151	250	0.6040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S3	298	450	0.6622	167	250	0.6680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 err="1">
                <a:solidFill>
                  <a:schemeClr val="tx1"/>
                </a:solidFill>
              </a:rPr>
              <a:t>train_distribution</a:t>
            </a:r>
            <a:r>
              <a:rPr lang="en-US" altLang="ko-KR" sz="800" dirty="0">
                <a:solidFill>
                  <a:schemeClr val="tx1"/>
                </a:solidFill>
              </a:rPr>
              <a:t>	</a:t>
            </a:r>
            <a:r>
              <a:rPr lang="en-US" altLang="ko-KR" sz="800" dirty="0" err="1">
                <a:solidFill>
                  <a:schemeClr val="tx1"/>
                </a:solidFill>
              </a:rPr>
              <a:t>submission_distribution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S1		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0	0.3178	0.3000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1	0.4978	0.6200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2	0.1844	0.0800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#  </a:t>
            </a:r>
            <a:r>
              <a:rPr lang="en-US" altLang="ko-KR" sz="800" dirty="0" err="1">
                <a:solidFill>
                  <a:schemeClr val="tx1"/>
                </a:solidFill>
              </a:rPr>
              <a:t>oof</a:t>
            </a:r>
            <a:r>
              <a:rPr lang="en-US" altLang="ko-KR" sz="800" dirty="0">
                <a:solidFill>
                  <a:schemeClr val="tx1"/>
                </a:solidFill>
              </a:rPr>
              <a:t> F1: 0.6841 / [</a:t>
            </a:r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r>
              <a:rPr lang="en-US" altLang="ko-KR" sz="800" dirty="0">
                <a:solidFill>
                  <a:schemeClr val="tx1"/>
                </a:solidFill>
              </a:rPr>
              <a:t>] Q1(</a:t>
            </a:r>
            <a:r>
              <a:rPr lang="ko-KR" altLang="en-US" sz="800" dirty="0">
                <a:solidFill>
                  <a:schemeClr val="tx1"/>
                </a:solidFill>
              </a:rPr>
              <a:t>기상직후수면질</a:t>
            </a:r>
            <a:r>
              <a:rPr lang="en-US" altLang="ko-KR" sz="800" dirty="0">
                <a:solidFill>
                  <a:schemeClr val="tx1"/>
                </a:solidFill>
              </a:rPr>
              <a:t>):0.7222 Q2(</a:t>
            </a:r>
            <a:r>
              <a:rPr lang="ko-KR" altLang="en-US" sz="800" dirty="0">
                <a:solidFill>
                  <a:schemeClr val="tx1"/>
                </a:solidFill>
              </a:rPr>
              <a:t>취침전신체적피로</a:t>
            </a:r>
            <a:r>
              <a:rPr lang="en-US" altLang="ko-KR" sz="800" dirty="0">
                <a:solidFill>
                  <a:schemeClr val="tx1"/>
                </a:solidFill>
              </a:rPr>
              <a:t>):0.7111 Q3(</a:t>
            </a:r>
            <a:r>
              <a:rPr lang="ko-KR" altLang="en-US" sz="800" dirty="0">
                <a:solidFill>
                  <a:schemeClr val="tx1"/>
                </a:solidFill>
              </a:rPr>
              <a:t>취침전스트레스</a:t>
            </a:r>
            <a:r>
              <a:rPr lang="en-US" altLang="ko-KR" sz="800" dirty="0">
                <a:solidFill>
                  <a:schemeClr val="tx1"/>
                </a:solidFill>
              </a:rPr>
              <a:t>):0.6948 S2(</a:t>
            </a:r>
            <a:r>
              <a:rPr lang="ko-KR" altLang="en-US" sz="800" dirty="0" err="1">
                <a:solidFill>
                  <a:schemeClr val="tx1"/>
                </a:solidFill>
              </a:rPr>
              <a:t>수면효율</a:t>
            </a:r>
            <a:r>
              <a:rPr lang="en-US" altLang="ko-KR" sz="800" dirty="0">
                <a:solidFill>
                  <a:schemeClr val="tx1"/>
                </a:solidFill>
              </a:rPr>
              <a:t>):0.7211 S3(</a:t>
            </a:r>
            <a:r>
              <a:rPr lang="ko-KR" altLang="en-US" sz="800" dirty="0">
                <a:solidFill>
                  <a:schemeClr val="tx1"/>
                </a:solidFill>
              </a:rPr>
              <a:t>수면잠들기시간</a:t>
            </a:r>
            <a:r>
              <a:rPr lang="en-US" altLang="ko-KR" sz="800" dirty="0">
                <a:solidFill>
                  <a:schemeClr val="tx1"/>
                </a:solidFill>
              </a:rPr>
              <a:t>):0.7110 S1(S1):0.5441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22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id01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196752"/>
            <a:ext cx="3822510" cy="495890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907" y="1196752"/>
            <a:ext cx="4320480" cy="4281027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32520" y="4581128"/>
            <a:ext cx="3822510" cy="15745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208165" y="1628800"/>
            <a:ext cx="4334222" cy="1872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꺾인 연결선 15"/>
          <p:cNvCxnSpPr>
            <a:stCxn id="13" idx="3"/>
            <a:endCxn id="14" idx="1"/>
          </p:cNvCxnSpPr>
          <p:nvPr/>
        </p:nvCxnSpPr>
        <p:spPr>
          <a:xfrm flipV="1">
            <a:off x="4455030" y="2564904"/>
            <a:ext cx="753135" cy="280348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5303" y="3674371"/>
            <a:ext cx="64633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동일월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568" y="1196752"/>
            <a:ext cx="4536504" cy="4295145"/>
          </a:xfrm>
          <a:prstGeom prst="rect">
            <a:avLst/>
          </a:prstGeom>
        </p:spPr>
      </p:pic>
      <p:sp>
        <p:nvSpPr>
          <p:cNvPr id="15" name="모서리가 둥근 직사각형 14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13593960" y="1771579"/>
            <a:ext cx="519902" cy="1872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232777" y="5687604"/>
            <a:ext cx="1800200" cy="936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S1=2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토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</a:rPr>
              <a:t>일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rcRect t="67978"/>
          <a:stretch/>
        </p:blipFill>
        <p:spPr>
          <a:xfrm>
            <a:off x="-4122807" y="5685396"/>
            <a:ext cx="3822510" cy="1587972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rcRect t="1" b="30298"/>
          <a:stretch/>
        </p:blipFill>
        <p:spPr>
          <a:xfrm>
            <a:off x="-3981280" y="-891480"/>
            <a:ext cx="3822510" cy="3456384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rcRect b="88635"/>
          <a:stretch/>
        </p:blipFill>
        <p:spPr>
          <a:xfrm>
            <a:off x="-5014752" y="2772733"/>
            <a:ext cx="4714455" cy="530884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/>
          <a:srcRect t="10862" b="47087"/>
          <a:stretch/>
        </p:blipFill>
        <p:spPr>
          <a:xfrm>
            <a:off x="-5080459" y="3473395"/>
            <a:ext cx="4810522" cy="200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id02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204" y="1035841"/>
            <a:ext cx="4456227" cy="520147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60" y="1035841"/>
            <a:ext cx="3312368" cy="5011738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992561" y="2286419"/>
            <a:ext cx="3312368" cy="3761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004203" y="1174305"/>
            <a:ext cx="4456227" cy="297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569" y="1045218"/>
            <a:ext cx="4608512" cy="5139964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11217696" y="2132856"/>
            <a:ext cx="2448272" cy="1872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5232777" y="5687604"/>
            <a:ext cx="1800200" cy="936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금요일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54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id03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992" y="1340768"/>
            <a:ext cx="4603128" cy="358688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20" y="1340768"/>
            <a:ext cx="3880263" cy="4077072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32519" y="2907259"/>
            <a:ext cx="3880263" cy="25105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861555" y="1484784"/>
            <a:ext cx="4622565" cy="27363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3560" y="1484784"/>
            <a:ext cx="4602638" cy="342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5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id04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600" y="1124744"/>
            <a:ext cx="4287625" cy="424847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592" y="1107559"/>
            <a:ext cx="2915194" cy="521944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280592" y="3501007"/>
            <a:ext cx="2915194" cy="28259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224585" y="1268760"/>
            <a:ext cx="4315640" cy="41044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576" y="1107559"/>
            <a:ext cx="4505360" cy="426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0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id05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008" y="1124744"/>
            <a:ext cx="4435660" cy="34563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6" y="1124744"/>
            <a:ext cx="3672408" cy="510374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76536" y="3824900"/>
            <a:ext cx="3672408" cy="2376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025008" y="1268760"/>
            <a:ext cx="4435660" cy="331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732" y="1143086"/>
            <a:ext cx="4786287" cy="356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06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id06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316" y="1034970"/>
            <a:ext cx="4387661" cy="38832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1034970"/>
            <a:ext cx="3737496" cy="5654973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814228" y="4005064"/>
            <a:ext cx="3771812" cy="268487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205247" y="1177577"/>
            <a:ext cx="4370730" cy="37406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5025008" y="5373216"/>
            <a:ext cx="1800200" cy="9361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S1=2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목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</a:rPr>
              <a:t>금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653" y="1034970"/>
            <a:ext cx="4660443" cy="394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23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id07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24" y="1052736"/>
            <a:ext cx="4227692" cy="463646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52" y="1052736"/>
            <a:ext cx="3672408" cy="5669680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920552" y="3645024"/>
            <a:ext cx="3665488" cy="30449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162104" y="1166024"/>
            <a:ext cx="4234612" cy="4523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576" y="1083320"/>
            <a:ext cx="4424486" cy="463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4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id08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24" y="977153"/>
            <a:ext cx="4064349" cy="28803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68" y="977153"/>
            <a:ext cx="3265545" cy="574607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064568" y="4293096"/>
            <a:ext cx="3265545" cy="24301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148354" y="1130851"/>
            <a:ext cx="4085019" cy="2726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9584" y="1074463"/>
            <a:ext cx="4115116" cy="278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53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id09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978115"/>
            <a:ext cx="4360296" cy="432048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2" y="978115"/>
            <a:ext cx="4053988" cy="5259197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536612" y="4221089"/>
            <a:ext cx="4077888" cy="2016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945614" y="1124744"/>
            <a:ext cx="4367682" cy="41738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568" y="1004259"/>
            <a:ext cx="4489969" cy="425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77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id10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2000672" y="177688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TRAIN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537176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008" y="1052736"/>
            <a:ext cx="4651983" cy="378904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90" y="1052736"/>
            <a:ext cx="4523113" cy="4752528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356089" y="3933056"/>
            <a:ext cx="4523113" cy="1872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000817" y="1196752"/>
            <a:ext cx="4676174" cy="36450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382545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0.6156(PUBLIC)</a:t>
            </a:r>
            <a:endParaRPr lang="ko-KR" altLang="en-US" sz="12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0929664" y="162185"/>
            <a:ext cx="1689943" cy="400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TEST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12775033" y="238145"/>
            <a:ext cx="1338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485465"/>
                </a:solidFill>
                <a:latin typeface="Roboto"/>
              </a:rPr>
              <a:t>0.6283(PUBLIC)</a:t>
            </a:r>
            <a:endParaRPr lang="ko-KR" altLang="en-US" sz="12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6927" y="1052736"/>
            <a:ext cx="4868528" cy="378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32829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27526</TotalTime>
  <Words>315</Words>
  <Application>Microsoft Office PowerPoint</Application>
  <PresentationFormat>A4 용지(210x297mm)</PresentationFormat>
  <Paragraphs>94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12</vt:i4>
      </vt:variant>
    </vt:vector>
  </HeadingPairs>
  <TitlesOfParts>
    <vt:vector size="30" baseType="lpstr">
      <vt:lpstr>-2002</vt:lpstr>
      <vt:lpstr>HY중고딕</vt:lpstr>
      <vt:lpstr>Roboto</vt:lpstr>
      <vt:lpstr>굴림</vt:lpstr>
      <vt:lpstr>나눔고딕</vt:lpstr>
      <vt:lpstr>나눔고딕 ExtraBold</vt:lpstr>
      <vt:lpstr>맑은 고딕</vt:lpstr>
      <vt:lpstr>-윤고딕320</vt:lpstr>
      <vt:lpstr>Arial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탐색5 (예측값 비교 &amp; 오차분석)</vt:lpstr>
      <vt:lpstr>로컬리더보드 : 0.6594, PUBLIC 리더보드 0.6156</vt:lpstr>
      <vt:lpstr>id01</vt:lpstr>
      <vt:lpstr>id02</vt:lpstr>
      <vt:lpstr>id03</vt:lpstr>
      <vt:lpstr>id04</vt:lpstr>
      <vt:lpstr>id05</vt:lpstr>
      <vt:lpstr>id06</vt:lpstr>
      <vt:lpstr>id07</vt:lpstr>
      <vt:lpstr>id08</vt:lpstr>
      <vt:lpstr>id09</vt:lpstr>
      <vt:lpstr>id10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1229</cp:revision>
  <dcterms:created xsi:type="dcterms:W3CDTF">2007-08-16T05:20:03Z</dcterms:created>
  <dcterms:modified xsi:type="dcterms:W3CDTF">2025-05-28T00:08:16Z</dcterms:modified>
</cp:coreProperties>
</file>