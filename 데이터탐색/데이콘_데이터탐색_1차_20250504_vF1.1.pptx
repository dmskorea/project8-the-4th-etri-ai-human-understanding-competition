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  <p:sldMasterId id="2147483764" r:id="rId2"/>
    <p:sldMasterId id="2147483650" r:id="rId3"/>
    <p:sldMasterId id="2147483654" r:id="rId4"/>
    <p:sldMasterId id="2147483776" r:id="rId5"/>
    <p:sldMasterId id="2147483778" r:id="rId6"/>
  </p:sldMasterIdLst>
  <p:notesMasterIdLst>
    <p:notesMasterId r:id="rId57"/>
  </p:notesMasterIdLst>
  <p:handoutMasterIdLst>
    <p:handoutMasterId r:id="rId58"/>
  </p:handoutMasterIdLst>
  <p:sldIdLst>
    <p:sldId id="301" r:id="rId7"/>
    <p:sldId id="379" r:id="rId8"/>
    <p:sldId id="389" r:id="rId9"/>
    <p:sldId id="391" r:id="rId10"/>
    <p:sldId id="390" r:id="rId11"/>
    <p:sldId id="337" r:id="rId12"/>
    <p:sldId id="392" r:id="rId13"/>
    <p:sldId id="386" r:id="rId14"/>
    <p:sldId id="387" r:id="rId15"/>
    <p:sldId id="388" r:id="rId16"/>
    <p:sldId id="393" r:id="rId17"/>
    <p:sldId id="394" r:id="rId18"/>
    <p:sldId id="395" r:id="rId19"/>
    <p:sldId id="396" r:id="rId20"/>
    <p:sldId id="397" r:id="rId21"/>
    <p:sldId id="398" r:id="rId22"/>
    <p:sldId id="400" r:id="rId23"/>
    <p:sldId id="407" r:id="rId24"/>
    <p:sldId id="408" r:id="rId25"/>
    <p:sldId id="409" r:id="rId26"/>
    <p:sldId id="410" r:id="rId27"/>
    <p:sldId id="418" r:id="rId28"/>
    <p:sldId id="419" r:id="rId29"/>
    <p:sldId id="411" r:id="rId30"/>
    <p:sldId id="422" r:id="rId31"/>
    <p:sldId id="412" r:id="rId32"/>
    <p:sldId id="416" r:id="rId33"/>
    <p:sldId id="421" r:id="rId34"/>
    <p:sldId id="423" r:id="rId35"/>
    <p:sldId id="424" r:id="rId36"/>
    <p:sldId id="425" r:id="rId37"/>
    <p:sldId id="426" r:id="rId38"/>
    <p:sldId id="427" r:id="rId39"/>
    <p:sldId id="413" r:id="rId40"/>
    <p:sldId id="415" r:id="rId41"/>
    <p:sldId id="430" r:id="rId42"/>
    <p:sldId id="429" r:id="rId43"/>
    <p:sldId id="399" r:id="rId44"/>
    <p:sldId id="401" r:id="rId45"/>
    <p:sldId id="402" r:id="rId46"/>
    <p:sldId id="403" r:id="rId47"/>
    <p:sldId id="420" r:id="rId48"/>
    <p:sldId id="435" r:id="rId49"/>
    <p:sldId id="434" r:id="rId50"/>
    <p:sldId id="431" r:id="rId51"/>
    <p:sldId id="406" r:id="rId52"/>
    <p:sldId id="417" r:id="rId53"/>
    <p:sldId id="432" r:id="rId54"/>
    <p:sldId id="414" r:id="rId55"/>
    <p:sldId id="433" r:id="rId56"/>
  </p:sldIdLst>
  <p:sldSz cx="9906000" cy="6858000" type="A4"/>
  <p:notesSz cx="9866313" cy="67357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orient="horz" pos="73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orient="horz" pos="754" userDrawn="1">
          <p15:clr>
            <a:srgbClr val="A4A3A4"/>
          </p15:clr>
        </p15:guide>
        <p15:guide id="5" orient="horz" pos="346">
          <p15:clr>
            <a:srgbClr val="A4A3A4"/>
          </p15:clr>
        </p15:guide>
        <p15:guide id="6" orient="horz" pos="1162">
          <p15:clr>
            <a:srgbClr val="A4A3A4"/>
          </p15:clr>
        </p15:guide>
        <p15:guide id="7" pos="3120">
          <p15:clr>
            <a:srgbClr val="A4A3A4"/>
          </p15:clr>
        </p15:guide>
        <p15:guide id="8" pos="217" userDrawn="1">
          <p15:clr>
            <a:srgbClr val="A4A3A4"/>
          </p15:clr>
        </p15:guide>
        <p15:guide id="9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>
          <p15:clr>
            <a:srgbClr val="A4A3A4"/>
          </p15:clr>
        </p15:guide>
        <p15:guide id="2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ACE6"/>
    <a:srgbClr val="FF7C80"/>
    <a:srgbClr val="FF0066"/>
    <a:srgbClr val="FF5050"/>
    <a:srgbClr val="FFCCCC"/>
    <a:srgbClr val="FFFFFF"/>
    <a:srgbClr val="FF9999"/>
    <a:srgbClr val="FF6600"/>
    <a:srgbClr val="FF99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8" autoAdjust="0"/>
    <p:restoredTop sz="99157" autoAdjust="0"/>
  </p:normalViewPr>
  <p:slideViewPr>
    <p:cSldViewPr showGuides="1">
      <p:cViewPr varScale="1">
        <p:scale>
          <a:sx n="107" d="100"/>
          <a:sy n="107" d="100"/>
        </p:scale>
        <p:origin x="2064" y="102"/>
      </p:cViewPr>
      <p:guideLst>
        <p:guide orient="horz" pos="2115"/>
        <p:guide orient="horz" pos="73"/>
        <p:guide orient="horz" pos="3974"/>
        <p:guide orient="horz" pos="754"/>
        <p:guide orient="horz" pos="346"/>
        <p:guide orient="horz" pos="1162"/>
        <p:guide pos="3120"/>
        <p:guide pos="217"/>
        <p:guide pos="60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5" d="100"/>
          <a:sy n="95" d="100"/>
        </p:scale>
        <p:origin x="-1584" y="-96"/>
      </p:cViewPr>
      <p:guideLst>
        <p:guide orient="horz" pos="212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61" Type="http://schemas.openxmlformats.org/officeDocument/2006/relationships/theme" Target="theme/theme1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presProps" Target="pres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027DDD-4B85-49AE-9189-BA37F2EFF3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5121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08325" y="504825"/>
            <a:ext cx="3648075" cy="2525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59" y="3199567"/>
            <a:ext cx="7893996" cy="303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C089FE8-A1A6-49F2-B317-3775AAE829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94190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_표지(타이틀수정가능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656856" y="2903173"/>
            <a:ext cx="4839060" cy="1143000"/>
          </a:xfrm>
          <a:prstGeom prst="rect">
            <a:avLst/>
          </a:prstGeo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355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80" r:id="rId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72880" y="1570038"/>
            <a:ext cx="34496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3076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72880" y="2172617"/>
            <a:ext cx="3887788" cy="312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30000"/>
        </a:lnSpc>
        <a:spcBef>
          <a:spcPct val="20000"/>
        </a:spcBef>
        <a:spcAft>
          <a:spcPct val="0"/>
        </a:spcAft>
        <a:buClrTx/>
        <a:buFont typeface="+mj-lt"/>
        <a:buAutoNum type="arabicPeriod"/>
        <a:defRPr kumimoji="1" sz="1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4">
            <a:lumMod val="75000"/>
          </a:schemeClr>
        </a:buClr>
        <a:buFont typeface="Wingdings" pitchFamily="2" charset="2"/>
        <a:buChar char="l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D35345"/>
        </a:buClr>
        <a:buFont typeface="Wingdings" pitchFamily="2" charset="2"/>
        <a:buChar char="§"/>
        <a:defRPr kumimoji="1" sz="1100" b="1">
          <a:solidFill>
            <a:srgbClr val="333333"/>
          </a:solidFill>
          <a:latin typeface="Verdana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HY중고딕" pitchFamily="18" charset="-127"/>
          <a:ea typeface="HY중고딕" pitchFamily="18" charset="-127"/>
        </a:defRPr>
      </a:lvl4pPr>
      <a:lvl5pPr marL="2209800" indent="-3810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6670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1242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5814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0386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그림 14" descr="tag.jpg"/>
          <p:cNvPicPr>
            <a:picLocks noChangeAspect="1"/>
          </p:cNvPicPr>
          <p:nvPr userDrawn="1"/>
        </p:nvPicPr>
        <p:blipFill>
          <a:blip r:embed="rId3" cstate="print"/>
          <a:srcRect l="28920"/>
          <a:stretch>
            <a:fillRect/>
          </a:stretch>
        </p:blipFill>
        <p:spPr bwMode="auto">
          <a:xfrm>
            <a:off x="0" y="6583363"/>
            <a:ext cx="9906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SzPct val="140000"/>
        <a:buChar char="•"/>
        <a:defRPr kumimoji="1" sz="1200">
          <a:solidFill>
            <a:srgbClr val="080808"/>
          </a:solidFill>
          <a:latin typeface="+mn-lt"/>
          <a:ea typeface="+mn-ea"/>
          <a:cs typeface="+mn-cs"/>
        </a:defRPr>
      </a:lvl1pPr>
      <a:lvl2pPr marL="1208088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1100">
          <a:solidFill>
            <a:srgbClr val="080808"/>
          </a:solidFill>
          <a:latin typeface="+mn-lt"/>
          <a:ea typeface="+mn-ea"/>
        </a:defRPr>
      </a:lvl2pPr>
      <a:lvl3pPr marL="1616075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1000">
          <a:solidFill>
            <a:srgbClr val="080808"/>
          </a:solidFill>
          <a:latin typeface="+mn-lt"/>
          <a:ea typeface="+mn-ea"/>
        </a:defRPr>
      </a:lvl3pPr>
      <a:lvl4pPr marL="202406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43205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8892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3464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8036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2608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6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>
              <a:lnSpc>
                <a:spcPct val="120000"/>
              </a:lnSpc>
            </a:pPr>
            <a:r>
              <a:rPr lang="ko-KR" altLang="en-US" dirty="0" smtClean="0"/>
              <a:t>데이터 탐색</a:t>
            </a:r>
            <a:r>
              <a:rPr lang="en-US" altLang="ko-KR" dirty="0" smtClean="0"/>
              <a:t>1</a:t>
            </a:r>
            <a:endParaRPr lang="ko-KR" altLang="en-US" sz="2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488215" y="4170566"/>
            <a:ext cx="99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dirty="0" smtClean="0">
                <a:latin typeface="나눔고딕" pitchFamily="50" charset="-127"/>
                <a:ea typeface="나눔고딕" pitchFamily="50" charset="-127"/>
              </a:rPr>
              <a:t>2025.05</a:t>
            </a:r>
            <a:endParaRPr lang="ko-KR" altLang="en-US" sz="1600" dirty="0"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560512" y="1373857"/>
            <a:ext cx="9145016" cy="507947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예측 타겟 중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F1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점수가 낮은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Q1, S1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탐색</a:t>
            </a:r>
            <a:endParaRPr lang="en-US" altLang="ko-KR" sz="14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타겟 데이터 탐색 </a:t>
            </a:r>
            <a:r>
              <a:rPr lang="en-US" altLang="ko-KR" sz="1600" dirty="0" smtClean="0"/>
              <a:t>- Q1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/>
              <a:t>타겟 데이터 탐색 </a:t>
            </a:r>
            <a:r>
              <a:rPr lang="en-US" altLang="ko-KR" sz="1600" dirty="0" smtClean="0"/>
              <a:t>- S1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블루투스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wifi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같은 </a:t>
            </a:r>
            <a:r>
              <a:rPr lang="ko-KR" altLang="en-US" sz="1600" dirty="0" err="1" smtClean="0"/>
              <a:t>기기신호와</a:t>
            </a:r>
            <a:r>
              <a:rPr lang="ko-KR" altLang="en-US" sz="1600" dirty="0" smtClean="0"/>
              <a:t> 타겟과의 상관관계 분석</a:t>
            </a:r>
            <a:endParaRPr lang="en-US" altLang="ko-KR" sz="1600" dirty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과도한 기기 사용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en-US" altLang="ko-KR" sz="1600" dirty="0" err="1" smtClean="0"/>
              <a:t>Sleeptime</a:t>
            </a:r>
            <a:r>
              <a:rPr lang="en-US" altLang="ko-KR" sz="1600" dirty="0" smtClean="0"/>
              <a:t>(00-05)</a:t>
            </a:r>
            <a:r>
              <a:rPr lang="ko-KR" altLang="en-US" sz="1600" dirty="0" smtClean="0"/>
              <a:t>에 행동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주변소음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코골이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뒤척임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새벽화장실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운동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걸음수</a:t>
            </a:r>
            <a:r>
              <a:rPr lang="ko-KR" altLang="en-US" sz="1600" dirty="0" smtClean="0"/>
              <a:t> 등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err="1" smtClean="0"/>
              <a:t>심박동수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계절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월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주말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공휴일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휴가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타겟과의 상관관계 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 smtClean="0"/>
              <a:t>이미지 분석 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err="1"/>
              <a:t>Sleeptime</a:t>
            </a:r>
            <a:r>
              <a:rPr lang="ko-KR" altLang="en-US" sz="1600" dirty="0"/>
              <a:t>에 일어난 건수 </a:t>
            </a:r>
            <a:r>
              <a:rPr lang="en-US" altLang="ko-KR" sz="1600" dirty="0"/>
              <a:t>(</a:t>
            </a:r>
            <a:r>
              <a:rPr lang="en-US" altLang="ko-KR" sz="1600" dirty="0" err="1" smtClean="0"/>
              <a:t>wakeupcount</a:t>
            </a:r>
            <a:r>
              <a:rPr lang="en-US" altLang="ko-KR" sz="1600" dirty="0" smtClean="0"/>
              <a:t>)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 smtClean="0"/>
              <a:t>타겟 탐색 추가 </a:t>
            </a:r>
            <a:endParaRPr lang="ko-KR" altLang="en-US" sz="1600" dirty="0"/>
          </a:p>
          <a:p>
            <a:pPr marL="400050" indent="-400050">
              <a:lnSpc>
                <a:spcPct val="150000"/>
              </a:lnSpc>
              <a:buAutoNum type="romanUcPeriod"/>
            </a:pPr>
            <a:endParaRPr lang="ko-KR" altLang="en-US" sz="1600" dirty="0" smtClean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488504" y="836712"/>
            <a:ext cx="4032448" cy="360040"/>
          </a:xfrm>
        </p:spPr>
        <p:txBody>
          <a:bodyPr/>
          <a:lstStyle/>
          <a:p>
            <a:r>
              <a:rPr lang="ko-KR" altLang="en-US" sz="2400" dirty="0" smtClean="0"/>
              <a:t>목차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560512" y="1825774"/>
            <a:ext cx="4680520" cy="432048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690237"/>
              </p:ext>
            </p:extLst>
          </p:nvPr>
        </p:nvGraphicFramePr>
        <p:xfrm>
          <a:off x="3368824" y="1772816"/>
          <a:ext cx="7992888" cy="859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92888">
                  <a:extLst>
                    <a:ext uri="{9D8B030D-6E8A-4147-A177-3AD203B41FA5}">
                      <a16:colId xmlns:a16="http://schemas.microsoft.com/office/drawing/2014/main" val="2100540287"/>
                    </a:ext>
                  </a:extLst>
                </a:gridCol>
              </a:tblGrid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=0.5]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0.6536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기상직후수면질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:0.5714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):0.6549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):0.7267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):0.7953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):0.8012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0.3718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1718390450"/>
                  </a:ext>
                </a:extLst>
              </a:tr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=0.4]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0.6614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기상직후수면질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:0.5629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):0.6781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):0.7149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):0.8015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):0.7955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0.4155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1447872720"/>
                  </a:ext>
                </a:extLst>
              </a:tr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=0.3]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0.6605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</a:t>
                      </a:r>
                      <a:r>
                        <a:rPr lang="ko-KR" altLang="en-US" sz="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질</a:t>
                      </a:r>
                      <a:r>
                        <a:rPr lang="en-US" altLang="ko-KR" sz="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0.5581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):0.6667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):0.7363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):0.7817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):0.7822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0.4377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1736187529"/>
                  </a:ext>
                </a:extLst>
              </a:tr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=0.2]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0.6709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기상직후수면질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:0.5952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):0.6226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):0.7344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):0.7692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):0.8235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0.4807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606954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939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월별 </a:t>
            </a:r>
            <a:r>
              <a:rPr lang="en-US" altLang="ko-KR" dirty="0"/>
              <a:t>Q1 </a:t>
            </a:r>
            <a:r>
              <a:rPr lang="ko-KR" altLang="en-US" dirty="0" smtClean="0"/>
              <a:t>건수 </a:t>
            </a:r>
            <a:r>
              <a:rPr lang="en-US" altLang="ko-KR" dirty="0" smtClean="0"/>
              <a:t>- TRAIN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en-US" altLang="ko-KR" b="0" dirty="0"/>
              <a:t>0: </a:t>
            </a:r>
            <a:r>
              <a:rPr lang="ko-KR" altLang="en-US" b="0" dirty="0"/>
              <a:t>개인 평균 이하</a:t>
            </a:r>
          </a:p>
          <a:p>
            <a:r>
              <a:rPr lang="en-US" altLang="ko-KR" b="0" dirty="0"/>
              <a:t>1: </a:t>
            </a:r>
            <a:r>
              <a:rPr lang="ko-KR" altLang="en-US" b="0" dirty="0"/>
              <a:t>개인 평균 이상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91" y="2385978"/>
            <a:ext cx="9188048" cy="3640235"/>
          </a:xfrm>
          <a:prstGeom prst="rect">
            <a:avLst/>
          </a:prstGeom>
        </p:spPr>
      </p:pic>
      <p:sp>
        <p:nvSpPr>
          <p:cNvPr id="2" name="모서리가 둥근 직사각형 1"/>
          <p:cNvSpPr/>
          <p:nvPr/>
        </p:nvSpPr>
        <p:spPr>
          <a:xfrm>
            <a:off x="342666" y="1628800"/>
            <a:ext cx="9204073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7030A0"/>
                </a:solidFill>
              </a:rPr>
              <a:t>TRAIN </a:t>
            </a:r>
            <a:r>
              <a:rPr lang="ko-KR" altLang="en-US" b="1" dirty="0" smtClean="0">
                <a:solidFill>
                  <a:srgbClr val="7030A0"/>
                </a:solidFill>
              </a:rPr>
              <a:t>데이터 </a:t>
            </a:r>
            <a:r>
              <a:rPr lang="en-US" altLang="ko-KR" b="1" dirty="0" smtClean="0">
                <a:solidFill>
                  <a:srgbClr val="7030A0"/>
                </a:solidFill>
              </a:rPr>
              <a:t>ID</a:t>
            </a:r>
            <a:r>
              <a:rPr lang="ko-KR" altLang="en-US" b="1" dirty="0" smtClean="0">
                <a:solidFill>
                  <a:srgbClr val="7030A0"/>
                </a:solidFill>
              </a:rPr>
              <a:t>별 월별 기록 건수 </a:t>
            </a:r>
            <a:r>
              <a:rPr lang="en-US" altLang="ko-KR" b="1" dirty="0" smtClean="0">
                <a:solidFill>
                  <a:srgbClr val="7030A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여름 시즌 </a:t>
            </a:r>
            <a:r>
              <a:rPr lang="ko-KR" altLang="en-US" b="1" dirty="0" smtClean="0">
                <a:solidFill>
                  <a:srgbClr val="7030A0"/>
                </a:solidFill>
              </a:rPr>
              <a:t>비중 높음</a:t>
            </a:r>
            <a:r>
              <a:rPr lang="en-US" altLang="ko-KR" b="1" dirty="0" smtClean="0">
                <a:solidFill>
                  <a:srgbClr val="7030A0"/>
                </a:solidFill>
              </a:rPr>
              <a:t>)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783235" y="2385977"/>
            <a:ext cx="1872208" cy="364023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6177136" y="233809"/>
            <a:ext cx="3455814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kern="0"/>
              <a:t>Q1: </a:t>
            </a:r>
            <a:r>
              <a:rPr lang="ko-KR" altLang="en-US" sz="1200" kern="0"/>
              <a:t>기상 직후 본인이 인지한 전반적인 수면의 질</a:t>
            </a:r>
            <a:endParaRPr lang="ko-KR" altLang="en-US" sz="1200" kern="0" dirty="0"/>
          </a:p>
        </p:txBody>
      </p:sp>
    </p:spTree>
    <p:extLst>
      <p:ext uri="{BB962C8B-B14F-4D97-AF65-F5344CB8AC3E}">
        <p14:creationId xmlns:p14="http://schemas.microsoft.com/office/powerpoint/2010/main" val="3038526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월별 </a:t>
            </a:r>
            <a:r>
              <a:rPr lang="en-US" altLang="ko-KR" dirty="0"/>
              <a:t>Q1 </a:t>
            </a:r>
            <a:r>
              <a:rPr lang="ko-KR" altLang="en-US" dirty="0" smtClean="0"/>
              <a:t>건수 </a:t>
            </a:r>
            <a:r>
              <a:rPr lang="en-US" altLang="ko-KR" dirty="0" smtClean="0"/>
              <a:t>- TEST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en-US" altLang="ko-KR" b="0" dirty="0"/>
              <a:t>0: </a:t>
            </a:r>
            <a:r>
              <a:rPr lang="ko-KR" altLang="en-US" b="0" dirty="0"/>
              <a:t>개인 평균 이하</a:t>
            </a:r>
          </a:p>
          <a:p>
            <a:r>
              <a:rPr lang="en-US" altLang="ko-KR" b="0" dirty="0"/>
              <a:t>1: </a:t>
            </a:r>
            <a:r>
              <a:rPr lang="ko-KR" altLang="en-US" b="0" dirty="0"/>
              <a:t>개인 평균 이상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342666" y="1628800"/>
            <a:ext cx="9204073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7030A0"/>
                </a:solidFill>
              </a:rPr>
              <a:t>TEST </a:t>
            </a:r>
            <a:r>
              <a:rPr lang="ko-KR" altLang="en-US" b="1" dirty="0" smtClean="0">
                <a:solidFill>
                  <a:srgbClr val="7030A0"/>
                </a:solidFill>
              </a:rPr>
              <a:t>데이터 </a:t>
            </a:r>
            <a:r>
              <a:rPr lang="en-US" altLang="ko-KR" b="1" dirty="0" smtClean="0">
                <a:solidFill>
                  <a:srgbClr val="7030A0"/>
                </a:solidFill>
              </a:rPr>
              <a:t>ID</a:t>
            </a:r>
            <a:r>
              <a:rPr lang="ko-KR" altLang="en-US" b="1" dirty="0" smtClean="0">
                <a:solidFill>
                  <a:srgbClr val="7030A0"/>
                </a:solidFill>
              </a:rPr>
              <a:t>별 월별 기록 건수 </a:t>
            </a:r>
            <a:r>
              <a:rPr lang="en-US" altLang="ko-KR" b="1" dirty="0" smtClean="0">
                <a:solidFill>
                  <a:srgbClr val="7030A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여름 시즌 </a:t>
            </a:r>
            <a:r>
              <a:rPr lang="ko-KR" altLang="en-US" b="1" dirty="0" smtClean="0">
                <a:solidFill>
                  <a:srgbClr val="7030A0"/>
                </a:solidFill>
              </a:rPr>
              <a:t>비중 높음</a:t>
            </a:r>
            <a:r>
              <a:rPr lang="en-US" altLang="ko-KR" b="1" dirty="0" smtClean="0">
                <a:solidFill>
                  <a:srgbClr val="7030A0"/>
                </a:solidFill>
              </a:rPr>
              <a:t>)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90" y="2392846"/>
            <a:ext cx="7546637" cy="3657867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2576736" y="2418370"/>
            <a:ext cx="1800200" cy="364023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177136" y="233809"/>
            <a:ext cx="3455814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kern="0"/>
              <a:t>Q1: </a:t>
            </a:r>
            <a:r>
              <a:rPr lang="ko-KR" altLang="en-US" sz="1200" kern="0"/>
              <a:t>기상 직후 본인이 인지한 전반적인 수면의 질</a:t>
            </a:r>
            <a:endParaRPr lang="ko-KR" altLang="en-US" sz="1200" kern="0" dirty="0"/>
          </a:p>
        </p:txBody>
      </p:sp>
    </p:spTree>
    <p:extLst>
      <p:ext uri="{BB962C8B-B14F-4D97-AF65-F5344CB8AC3E}">
        <p14:creationId xmlns:p14="http://schemas.microsoft.com/office/powerpoint/2010/main" val="327457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개인별 </a:t>
            </a:r>
            <a:r>
              <a:rPr lang="en-US" altLang="ko-KR" dirty="0" smtClean="0"/>
              <a:t>Q1 </a:t>
            </a:r>
            <a:r>
              <a:rPr lang="ko-KR" altLang="en-US" dirty="0"/>
              <a:t>평균 점수 비교분석 </a:t>
            </a:r>
            <a:r>
              <a:rPr lang="en-US" altLang="ko-KR" dirty="0" smtClean="0"/>
              <a:t>(1/2)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en-US" altLang="ko-KR" b="0" dirty="0"/>
              <a:t>0: </a:t>
            </a:r>
            <a:r>
              <a:rPr lang="ko-KR" altLang="en-US" b="0" dirty="0"/>
              <a:t>개인 평균 이하</a:t>
            </a:r>
          </a:p>
          <a:p>
            <a:r>
              <a:rPr lang="en-US" altLang="ko-KR" b="0" dirty="0"/>
              <a:t>1: </a:t>
            </a:r>
            <a:r>
              <a:rPr lang="ko-KR" altLang="en-US" b="0" dirty="0"/>
              <a:t>개인 평균 이상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13" y="1484784"/>
            <a:ext cx="9226204" cy="288032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26558" y="3112228"/>
            <a:ext cx="417646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77769" y="4509120"/>
            <a:ext cx="9188048" cy="1944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100" dirty="0" smtClean="0">
              <a:solidFill>
                <a:schemeClr val="tx1"/>
              </a:solidFill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</a:rPr>
              <a:t>[Id07]</a:t>
            </a:r>
          </a:p>
          <a:p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</a:rPr>
              <a:t>6</a:t>
            </a:r>
            <a:r>
              <a:rPr lang="ko-KR" altLang="en-US" sz="1100" dirty="0" smtClean="0">
                <a:solidFill>
                  <a:schemeClr val="tx1"/>
                </a:solidFill>
              </a:rPr>
              <a:t>월 수면의 질이 </a:t>
            </a:r>
            <a:r>
              <a:rPr lang="en-US" altLang="ko-KR" sz="1100" dirty="0" smtClean="0">
                <a:solidFill>
                  <a:schemeClr val="tx1"/>
                </a:solidFill>
              </a:rPr>
              <a:t>64% </a:t>
            </a:r>
            <a:r>
              <a:rPr lang="ko-KR" altLang="en-US" sz="1100" dirty="0" smtClean="0">
                <a:solidFill>
                  <a:schemeClr val="tx1"/>
                </a:solidFill>
              </a:rPr>
              <a:t>좋은 편에 속하다가 </a:t>
            </a:r>
            <a:r>
              <a:rPr lang="en-US" altLang="ko-KR" sz="1100" dirty="0" smtClean="0">
                <a:solidFill>
                  <a:schemeClr val="tx1"/>
                </a:solidFill>
              </a:rPr>
              <a:t>7</a:t>
            </a:r>
            <a:r>
              <a:rPr lang="ko-KR" altLang="en-US" sz="1100" dirty="0" smtClean="0">
                <a:solidFill>
                  <a:schemeClr val="tx1"/>
                </a:solidFill>
              </a:rPr>
              <a:t>월 이후 </a:t>
            </a:r>
            <a:r>
              <a:rPr lang="en-US" altLang="ko-KR" sz="1100" dirty="0" smtClean="0">
                <a:solidFill>
                  <a:schemeClr val="tx1"/>
                </a:solidFill>
              </a:rPr>
              <a:t>7-8</a:t>
            </a:r>
            <a:r>
              <a:rPr lang="ko-KR" altLang="en-US" sz="1100" dirty="0" smtClean="0">
                <a:solidFill>
                  <a:schemeClr val="tx1"/>
                </a:solidFill>
              </a:rPr>
              <a:t>월 수면의 질이 안 좋게 변함</a:t>
            </a:r>
            <a:endParaRPr lang="en-US" altLang="ko-KR" sz="1100" dirty="0" smtClean="0">
              <a:solidFill>
                <a:schemeClr val="tx1"/>
              </a:solidFill>
            </a:endParaRPr>
          </a:p>
          <a:p>
            <a:r>
              <a:rPr lang="ko-KR" altLang="en-US" sz="1100" dirty="0" smtClean="0">
                <a:solidFill>
                  <a:schemeClr val="tx1"/>
                </a:solidFill>
              </a:rPr>
              <a:t> </a:t>
            </a:r>
            <a:endParaRPr lang="en-US" altLang="ko-KR" sz="1100" dirty="0" smtClean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7-8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여름에 영향이 있는듯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..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1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수면효율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가이드라인 </a:t>
            </a:r>
            <a:r>
              <a:rPr lang="ko-KR" altLang="en-US" sz="11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미준수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1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수면질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신체적 피로 등 전반적으로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6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대비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7-8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안 좋음 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944" y="5186006"/>
            <a:ext cx="4973776" cy="967200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2097063" y="2483371"/>
            <a:ext cx="1296144" cy="253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177136" y="233809"/>
            <a:ext cx="3455814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kern="0"/>
              <a:t>Q1: </a:t>
            </a:r>
            <a:r>
              <a:rPr lang="ko-KR" altLang="en-US" sz="1200" kern="0"/>
              <a:t>기상 직후 본인이 인지한 전반적인 수면의 질</a:t>
            </a:r>
            <a:endParaRPr lang="ko-KR" altLang="en-US" sz="1200" kern="0" dirty="0"/>
          </a:p>
        </p:txBody>
      </p:sp>
    </p:spTree>
    <p:extLst>
      <p:ext uri="{BB962C8B-B14F-4D97-AF65-F5344CB8AC3E}">
        <p14:creationId xmlns:p14="http://schemas.microsoft.com/office/powerpoint/2010/main" val="1150940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개인별 </a:t>
            </a:r>
            <a:r>
              <a:rPr lang="en-US" altLang="ko-KR" dirty="0"/>
              <a:t>Q1 </a:t>
            </a:r>
            <a:r>
              <a:rPr lang="ko-KR" altLang="en-US" dirty="0"/>
              <a:t>평균 점수 </a:t>
            </a:r>
            <a:r>
              <a:rPr lang="ko-KR" altLang="en-US" dirty="0" smtClean="0"/>
              <a:t>비교분석 </a:t>
            </a:r>
            <a:r>
              <a:rPr lang="en-US" altLang="ko-KR" dirty="0" smtClean="0"/>
              <a:t>(2/2)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en-US" altLang="ko-KR" b="0" dirty="0"/>
              <a:t>0: </a:t>
            </a:r>
            <a:r>
              <a:rPr lang="ko-KR" altLang="en-US" b="0" dirty="0"/>
              <a:t>개인 평균 이하</a:t>
            </a:r>
          </a:p>
          <a:p>
            <a:r>
              <a:rPr lang="en-US" altLang="ko-KR" b="0" dirty="0"/>
              <a:t>1: </a:t>
            </a:r>
            <a:r>
              <a:rPr lang="ko-KR" altLang="en-US" b="0" dirty="0"/>
              <a:t>개인 평균 이상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13" y="1484784"/>
            <a:ext cx="9226204" cy="288032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11038" y="2915419"/>
            <a:ext cx="4181339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77769" y="4509120"/>
            <a:ext cx="9188048" cy="1944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 smtClean="0">
                <a:solidFill>
                  <a:schemeClr val="tx1"/>
                </a:solidFill>
              </a:rPr>
              <a:t>[Id06] 8</a:t>
            </a:r>
            <a:r>
              <a:rPr lang="ko-KR" altLang="en-US" sz="1100" dirty="0" smtClean="0">
                <a:solidFill>
                  <a:schemeClr val="tx1"/>
                </a:solidFill>
              </a:rPr>
              <a:t>월 수면의 질 점수 </a:t>
            </a:r>
            <a:r>
              <a:rPr lang="en-US" altLang="ko-KR" sz="1100" dirty="0" smtClean="0">
                <a:solidFill>
                  <a:schemeClr val="tx1"/>
                </a:solidFill>
              </a:rPr>
              <a:t>0</a:t>
            </a:r>
            <a:r>
              <a:rPr lang="ko-KR" altLang="en-US" sz="1100" dirty="0" smtClean="0">
                <a:solidFill>
                  <a:schemeClr val="tx1"/>
                </a:solidFill>
              </a:rPr>
              <a:t>점 존재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건 전부를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0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으로 점수를 줌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[Id07] 7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수면의 질이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64%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좋았다가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7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월이 시작하면서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36% </a:t>
            </a:r>
            <a:r>
              <a:rPr lang="ko-KR" altLang="en-US" sz="11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급하락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 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반면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[Id10] 7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수면의 질이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50% 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33% 9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57%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변화가 불규칙 함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[Id03]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은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7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수면의 질이 좋음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여름 영향을 받지 않는 사람  </a:t>
            </a:r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[Id09] 9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수면의 질이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100%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로 향상 됨 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(9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3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건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어떤 사람은 예민해서 여름에 잠을 설치고 어떤 사람은 </a:t>
            </a:r>
            <a:r>
              <a:rPr lang="ko-KR" altLang="en-US" sz="11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둔감해서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여름에 더워도 잠을 </a:t>
            </a:r>
            <a:r>
              <a:rPr lang="ko-KR" altLang="en-US" sz="11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잘잔다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. 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사람마다 편차가 존재</a:t>
            </a:r>
            <a:r>
              <a:rPr lang="en-US" altLang="ko-KR" sz="11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ID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별 타겟 </a:t>
            </a:r>
            <a:r>
              <a:rPr lang="ko-KR" altLang="en-US" sz="1100" b="1" u="sng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인코딩</a:t>
            </a:r>
            <a:r>
              <a:rPr lang="en-US" altLang="ko-KR" sz="11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endParaRPr lang="en-US" altLang="ko-KR" sz="1100" b="1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097063" y="2483371"/>
            <a:ext cx="1296144" cy="253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311038" y="2303351"/>
            <a:ext cx="5146018" cy="2244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6177136" y="233809"/>
            <a:ext cx="3455814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kern="0"/>
              <a:t>Q1: </a:t>
            </a:r>
            <a:r>
              <a:rPr lang="ko-KR" altLang="en-US" sz="1200" kern="0"/>
              <a:t>기상 직후 본인이 인지한 전반적인 수면의 질</a:t>
            </a:r>
            <a:endParaRPr lang="ko-KR" altLang="en-US" sz="1200" kern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4"/>
          <p:cNvSpPr>
            <a:spLocks noGrp="1"/>
          </p:cNvSpPr>
          <p:nvPr>
            <p:ph idx="1"/>
          </p:nvPr>
        </p:nvSpPr>
        <p:spPr>
          <a:xfrm>
            <a:off x="560512" y="1373857"/>
            <a:ext cx="9145016" cy="536751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예측 타겟 중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F1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점수가 낮은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Q1, S1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탐색</a:t>
            </a:r>
            <a:endParaRPr lang="en-US" altLang="ko-KR" sz="14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타겟 데이터 탐색 </a:t>
            </a:r>
            <a:r>
              <a:rPr lang="en-US" altLang="ko-KR" sz="1600" dirty="0" smtClean="0"/>
              <a:t>- Q1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/>
              <a:t>타겟 데이터 탐색 </a:t>
            </a:r>
            <a:r>
              <a:rPr lang="en-US" altLang="ko-KR" sz="1600" dirty="0" smtClean="0"/>
              <a:t>- S1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블루투스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wifi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같은 </a:t>
            </a:r>
            <a:r>
              <a:rPr lang="ko-KR" altLang="en-US" sz="1600" dirty="0" err="1" smtClean="0"/>
              <a:t>기기신호와</a:t>
            </a:r>
            <a:r>
              <a:rPr lang="ko-KR" altLang="en-US" sz="1600" dirty="0" smtClean="0"/>
              <a:t> 타겟과의 상관관계 분석</a:t>
            </a:r>
            <a:endParaRPr lang="en-US" altLang="ko-KR" sz="1600" dirty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과도한 기기 사용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en-US" altLang="ko-KR" sz="1600" dirty="0" err="1" smtClean="0"/>
              <a:t>Sleeptime</a:t>
            </a:r>
            <a:r>
              <a:rPr lang="en-US" altLang="ko-KR" sz="1600" dirty="0" smtClean="0"/>
              <a:t>(00-05)</a:t>
            </a:r>
            <a:r>
              <a:rPr lang="ko-KR" altLang="en-US" sz="1600" dirty="0" smtClean="0"/>
              <a:t>에 행동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주변소음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코골이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뒤척임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새벽화장실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운동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걸음수</a:t>
            </a:r>
            <a:r>
              <a:rPr lang="ko-KR" altLang="en-US" sz="1600" dirty="0" smtClean="0"/>
              <a:t> 등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err="1" smtClean="0"/>
              <a:t>심박동수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계절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월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주말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공휴일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휴가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타겟과의 상관관계 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/>
              <a:t>이미지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err="1"/>
              <a:t>Sleeptime</a:t>
            </a:r>
            <a:r>
              <a:rPr lang="ko-KR" altLang="en-US" sz="1600" dirty="0"/>
              <a:t>에 일어난 건수 </a:t>
            </a:r>
            <a:r>
              <a:rPr lang="en-US" altLang="ko-KR" sz="1600" dirty="0"/>
              <a:t>(</a:t>
            </a:r>
            <a:r>
              <a:rPr lang="en-US" altLang="ko-KR" sz="1600" dirty="0" err="1" smtClean="0"/>
              <a:t>wakeupcount</a:t>
            </a:r>
            <a:r>
              <a:rPr lang="en-US" altLang="ko-KR" sz="1600" dirty="0"/>
              <a:t>)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endParaRPr lang="ko-KR" altLang="en-US" sz="1600" dirty="0"/>
          </a:p>
          <a:p>
            <a:pPr marL="400050" indent="-400050">
              <a:lnSpc>
                <a:spcPct val="150000"/>
              </a:lnSpc>
              <a:buAutoNum type="romanUcPeriod"/>
            </a:pPr>
            <a:endParaRPr lang="ko-KR" altLang="en-US" sz="1600" dirty="0" smtClean="0"/>
          </a:p>
        </p:txBody>
      </p:sp>
      <p:sp>
        <p:nvSpPr>
          <p:cNvPr id="8" name="제목 5"/>
          <p:cNvSpPr>
            <a:spLocks noGrp="1"/>
          </p:cNvSpPr>
          <p:nvPr>
            <p:ph type="title"/>
          </p:nvPr>
        </p:nvSpPr>
        <p:spPr>
          <a:xfrm>
            <a:off x="488504" y="836712"/>
            <a:ext cx="4032448" cy="360040"/>
          </a:xfrm>
        </p:spPr>
        <p:txBody>
          <a:bodyPr/>
          <a:lstStyle/>
          <a:p>
            <a:r>
              <a:rPr lang="ko-KR" altLang="en-US" sz="2400" dirty="0" smtClean="0"/>
              <a:t>목차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60512" y="2214389"/>
            <a:ext cx="4680520" cy="432048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550117"/>
              </p:ext>
            </p:extLst>
          </p:nvPr>
        </p:nvGraphicFramePr>
        <p:xfrm>
          <a:off x="3368824" y="1772816"/>
          <a:ext cx="7992888" cy="859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92888">
                  <a:extLst>
                    <a:ext uri="{9D8B030D-6E8A-4147-A177-3AD203B41FA5}">
                      <a16:colId xmlns:a16="http://schemas.microsoft.com/office/drawing/2014/main" val="2100540287"/>
                    </a:ext>
                  </a:extLst>
                </a:gridCol>
              </a:tblGrid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=0.5]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0.6536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기상직후수면질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:0.5714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):0.6549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):0.7267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):0.7953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):0.8012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0.3718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1718390450"/>
                  </a:ext>
                </a:extLst>
              </a:tr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=0.4]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0.6614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기상직후수면질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:0.5629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):0.6781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):0.7149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):0.8015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):0.7955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0.4155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1447872720"/>
                  </a:ext>
                </a:extLst>
              </a:tr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=0.3]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0.6605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</a:t>
                      </a:r>
                      <a:r>
                        <a:rPr lang="ko-KR" altLang="en-US" sz="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질</a:t>
                      </a:r>
                      <a:r>
                        <a:rPr lang="en-US" altLang="ko-KR" sz="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0.5581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):0.6667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):0.7363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):0.7817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):0.7822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0.4377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1736187529"/>
                  </a:ext>
                </a:extLst>
              </a:tr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=0.2]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0.6709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기상직후수면질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:0.5952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):0.6226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):0.7344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):0.7692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):0.8235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0.4807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606954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32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월별 </a:t>
            </a:r>
            <a:r>
              <a:rPr lang="en-US" altLang="ko-KR" dirty="0" smtClean="0"/>
              <a:t>S1 </a:t>
            </a:r>
            <a:r>
              <a:rPr lang="ko-KR" altLang="en-US" dirty="0"/>
              <a:t>건수 </a:t>
            </a:r>
            <a:r>
              <a:rPr lang="en-US" altLang="ko-KR" dirty="0"/>
              <a:t>- TRAIN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pPr indent="0"/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S1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건수는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Q1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건수와 동일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누락되고 빠진 데이터 없음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en-US" altLang="ko-KR" b="0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628800"/>
            <a:ext cx="9160203" cy="2232248"/>
          </a:xfrm>
          <a:prstGeom prst="rect">
            <a:avLst/>
          </a:prstGeom>
        </p:spPr>
      </p:pic>
      <p:sp>
        <p:nvSpPr>
          <p:cNvPr id="8" name="모서리가 둥근 직사각형 7"/>
          <p:cNvSpPr/>
          <p:nvPr/>
        </p:nvSpPr>
        <p:spPr>
          <a:xfrm>
            <a:off x="5529064" y="233809"/>
            <a:ext cx="4103886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S1 : </a:t>
            </a:r>
            <a:r>
              <a:rPr lang="ko-KR" altLang="en-US" sz="1200" dirty="0" smtClean="0"/>
              <a:t>총 </a:t>
            </a:r>
            <a:r>
              <a:rPr lang="ko-KR" altLang="en-US" sz="1200" dirty="0"/>
              <a:t>수면 시간</a:t>
            </a:r>
            <a:r>
              <a:rPr lang="en-US" altLang="ko-KR" sz="1200" dirty="0"/>
              <a:t>(TST) </a:t>
            </a:r>
            <a:r>
              <a:rPr lang="ko-KR" altLang="en-US" sz="1200" dirty="0"/>
              <a:t>가이드라인을 준수했는지 </a:t>
            </a:r>
            <a:r>
              <a:rPr lang="en-US" altLang="ko-KR" sz="1200" dirty="0"/>
              <a:t>3LEVELS</a:t>
            </a:r>
            <a:endParaRPr lang="ko-KR" altLang="en-US" sz="1200" kern="0" dirty="0"/>
          </a:p>
        </p:txBody>
      </p:sp>
    </p:spTree>
    <p:extLst>
      <p:ext uri="{BB962C8B-B14F-4D97-AF65-F5344CB8AC3E}">
        <p14:creationId xmlns:p14="http://schemas.microsoft.com/office/powerpoint/2010/main" val="4208634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개인별 </a:t>
            </a:r>
            <a:r>
              <a:rPr lang="en-US" altLang="ko-KR" dirty="0" smtClean="0"/>
              <a:t>S1 </a:t>
            </a:r>
            <a:r>
              <a:rPr lang="ko-KR" altLang="en-US" dirty="0" smtClean="0"/>
              <a:t>평균 점수 비교분석 </a:t>
            </a:r>
            <a:r>
              <a:rPr lang="en-US" altLang="ko-KR" dirty="0" smtClean="0"/>
              <a:t>(1/)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en-US" altLang="ko-KR" b="0" dirty="0"/>
              <a:t>0: </a:t>
            </a:r>
            <a:r>
              <a:rPr lang="ko-KR" altLang="en-US" b="0" dirty="0"/>
              <a:t>가이드라인 </a:t>
            </a:r>
            <a:r>
              <a:rPr lang="ko-KR" altLang="en-US" b="0" dirty="0" err="1" smtClean="0"/>
              <a:t>미준수</a:t>
            </a:r>
            <a:r>
              <a:rPr lang="ko-KR" altLang="en-US" b="0" dirty="0" smtClean="0"/>
              <a:t> </a:t>
            </a:r>
            <a:r>
              <a:rPr lang="en-US" altLang="ko-KR" b="0" dirty="0" smtClean="0"/>
              <a:t>1</a:t>
            </a:r>
            <a:r>
              <a:rPr lang="en-US" altLang="ko-KR" b="0" dirty="0"/>
              <a:t>: </a:t>
            </a:r>
            <a:r>
              <a:rPr lang="ko-KR" altLang="en-US" b="0" dirty="0"/>
              <a:t>가이드라인 부분적 </a:t>
            </a:r>
            <a:r>
              <a:rPr lang="ko-KR" altLang="en-US" b="0" dirty="0" smtClean="0"/>
              <a:t>준수 </a:t>
            </a:r>
            <a:r>
              <a:rPr lang="en-US" altLang="ko-KR" b="0" dirty="0" smtClean="0"/>
              <a:t>2</a:t>
            </a:r>
            <a:r>
              <a:rPr lang="en-US" altLang="ko-KR" b="0" dirty="0"/>
              <a:t>: </a:t>
            </a:r>
            <a:r>
              <a:rPr lang="ko-KR" altLang="en-US" b="0" dirty="0"/>
              <a:t>가이드라인 완전 준수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5529064" y="233809"/>
            <a:ext cx="4103886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S1 : </a:t>
            </a:r>
            <a:r>
              <a:rPr lang="ko-KR" altLang="en-US" sz="1200" dirty="0" smtClean="0"/>
              <a:t>총 </a:t>
            </a:r>
            <a:r>
              <a:rPr lang="ko-KR" altLang="en-US" sz="1200" dirty="0"/>
              <a:t>수면 시간</a:t>
            </a:r>
            <a:r>
              <a:rPr lang="en-US" altLang="ko-KR" sz="1200" dirty="0"/>
              <a:t>(TST) </a:t>
            </a:r>
            <a:r>
              <a:rPr lang="ko-KR" altLang="en-US" sz="1200" dirty="0"/>
              <a:t>가이드라인을 준수했는지 </a:t>
            </a:r>
            <a:r>
              <a:rPr lang="en-US" altLang="ko-KR" sz="1200" dirty="0"/>
              <a:t>3LEVELS</a:t>
            </a:r>
            <a:endParaRPr lang="ko-KR" altLang="en-US" sz="1200" kern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5" y="1173709"/>
            <a:ext cx="9200692" cy="2903363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377769" y="4221088"/>
            <a:ext cx="9188048" cy="220367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b="1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1100" b="1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1100" b="1" u="sng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1100" b="1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1100" b="1" u="sng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1100" b="1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예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) 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가이드 라인을 잘 준수했는지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..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가이드라인에서 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8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시간 자라고 해서 침대에 누웠는데 잠이 </a:t>
            </a:r>
            <a:r>
              <a:rPr lang="ko-KR" altLang="en-US" sz="1100" b="1" u="sng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안와서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3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시간 침대에 누워있다가 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5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시간만 잔 경우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가이드라인을 따르지 못함 </a:t>
            </a:r>
            <a:endParaRPr lang="en-US" altLang="ko-KR" sz="1100" b="1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[id06]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수면 가이드 라인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(S1-S3)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잘 지킴 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수면의 질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(Q1)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좋지 않다고 설문조사 함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수면의 질 개선을 위해서 계속해서 수면 가이드 라인을 꾸준하게 준수 하는 것으로 보임 </a:t>
            </a:r>
            <a:endParaRPr lang="en-US" altLang="ko-KR" sz="1100" b="1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설문 기간 동안 가이드 잘 준수하였고 신체적피로와 스트레스 감소하였지만 수면의 질은 여전히 좋아지지 못함  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100" dirty="0">
                <a:solidFill>
                  <a:schemeClr val="tx1"/>
                </a:solidFill>
                <a:sym typeface="Wingdings" panose="05000000000000000000" pitchFamily="2" charset="2"/>
              </a:rPr>
              <a:t>[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id05]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수면 가이드 라인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11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월에 준수하지 않음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11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월에 수면의 질이 좋다고 설문함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. 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수면의 질이 좋다고 생각하면 수면 가이드 라인을 준수 안 </a:t>
            </a:r>
            <a:r>
              <a:rPr lang="ko-KR" altLang="en-US" sz="1100" b="1" u="sng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할수도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있음 </a:t>
            </a:r>
            <a:endParaRPr lang="en-US" altLang="ko-KR" sz="1100" b="1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  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65124" y="2536730"/>
            <a:ext cx="9200693" cy="3882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043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478168" cy="274638"/>
          </a:xfrm>
        </p:spPr>
        <p:txBody>
          <a:bodyPr/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참고</a:t>
            </a:r>
            <a:r>
              <a:rPr lang="en-US" altLang="ko-KR" dirty="0" smtClean="0"/>
              <a:t>] Q1 </a:t>
            </a:r>
            <a:r>
              <a:rPr lang="ko-KR" altLang="en-US" dirty="0" smtClean="0"/>
              <a:t>평균점수 </a:t>
            </a:r>
            <a:r>
              <a:rPr lang="en-US" altLang="ko-KR" dirty="0" smtClean="0"/>
              <a:t>(</a:t>
            </a:r>
            <a:r>
              <a:rPr lang="ko-KR" altLang="en-US" dirty="0"/>
              <a:t>기상 직후 본인이 인지한 전반적인 수면의 </a:t>
            </a:r>
            <a:r>
              <a:rPr lang="ko-KR" altLang="en-US" dirty="0" smtClean="0"/>
              <a:t>질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22" y="836712"/>
            <a:ext cx="8449246" cy="5544616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529064" y="1700808"/>
            <a:ext cx="2952328" cy="36004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rgbClr val="FF0000"/>
                </a:solidFill>
              </a:rPr>
              <a:t>높을수록 수면의 질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좋은</a:t>
            </a:r>
            <a:r>
              <a:rPr lang="ko-KR" altLang="en-US" sz="1600" dirty="0" smtClean="0">
                <a:solidFill>
                  <a:srgbClr val="FF0000"/>
                </a:solidFill>
              </a:rPr>
              <a:t> 거임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pic>
        <p:nvPicPr>
          <p:cNvPr id="8" name="Picture 2" descr="별표 아이콘 PNG 이미지 | PNGEg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656" y="4797152"/>
            <a:ext cx="720080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별표 아이콘 PNG 이미지 | PNGEg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208" y="3429000"/>
            <a:ext cx="720080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005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129984" cy="274638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en-US" altLang="ko-KR" dirty="0" smtClean="0"/>
              <a:t>Q2 </a:t>
            </a:r>
            <a:r>
              <a:rPr lang="ko-KR" altLang="en-US" dirty="0" smtClean="0"/>
              <a:t>평균점수 </a:t>
            </a:r>
            <a:r>
              <a:rPr lang="en-US" altLang="ko-KR" dirty="0" smtClean="0"/>
              <a:t>(</a:t>
            </a:r>
            <a:r>
              <a:rPr lang="ko-KR" altLang="en-US" dirty="0"/>
              <a:t>취침 직전 본인이 느낀 신체적 피로 </a:t>
            </a:r>
            <a:r>
              <a:rPr lang="ko-KR" altLang="en-US" dirty="0" smtClean="0"/>
              <a:t>수준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836712"/>
            <a:ext cx="8487974" cy="5544616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5529064" y="1700808"/>
            <a:ext cx="2952328" cy="36004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rgbClr val="FF0000"/>
                </a:solidFill>
              </a:rPr>
              <a:t>높을수록 신체적 피로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낮은 </a:t>
            </a:r>
            <a:r>
              <a:rPr lang="ko-KR" altLang="en-US" sz="1600" dirty="0" smtClean="0">
                <a:solidFill>
                  <a:srgbClr val="FF0000"/>
                </a:solidFill>
              </a:rPr>
              <a:t>거임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pic>
        <p:nvPicPr>
          <p:cNvPr id="7" name="Picture 2" descr="별표 아이콘 PNG 이미지 | PNGEg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080" y="4365104"/>
            <a:ext cx="720080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별표 아이콘 PNG 이미지 | PNGEg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632" y="4221088"/>
            <a:ext cx="720080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4180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7121872" cy="274638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en-US" altLang="ko-KR" dirty="0" smtClean="0"/>
              <a:t>Q3 </a:t>
            </a:r>
            <a:r>
              <a:rPr lang="ko-KR" altLang="en-US" dirty="0" smtClean="0"/>
              <a:t>평균점수 </a:t>
            </a:r>
            <a:r>
              <a:rPr lang="en-US" altLang="ko-KR" dirty="0" smtClean="0"/>
              <a:t>(</a:t>
            </a:r>
            <a:r>
              <a:rPr lang="ko-KR" altLang="en-US" dirty="0"/>
              <a:t>취침 직전 본인이 느낀 스트레스 </a:t>
            </a:r>
            <a:r>
              <a:rPr lang="ko-KR" altLang="en-US" dirty="0" smtClean="0"/>
              <a:t>수준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836712"/>
            <a:ext cx="8449246" cy="5544616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5529064" y="1700808"/>
            <a:ext cx="2736304" cy="36004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rgbClr val="FF0000"/>
                </a:solidFill>
              </a:rPr>
              <a:t>높을수록 스트레스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낮은</a:t>
            </a:r>
            <a:r>
              <a:rPr lang="ko-KR" altLang="en-US" sz="1600" dirty="0" smtClean="0">
                <a:solidFill>
                  <a:srgbClr val="FF0000"/>
                </a:solidFill>
              </a:rPr>
              <a:t> 거임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pic>
        <p:nvPicPr>
          <p:cNvPr id="10242" name="Picture 2" descr="별표 아이콘 PNG 이미지 | PNGEg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600" y="4293096"/>
            <a:ext cx="720080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별표 아이콘 PNG 이미지 | PNGEg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080" y="3248980"/>
            <a:ext cx="720080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723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en-US" altLang="ko-KR" dirty="0" smtClean="0"/>
              <a:t>S1 </a:t>
            </a:r>
            <a:r>
              <a:rPr lang="ko-KR" altLang="en-US" dirty="0" smtClean="0"/>
              <a:t>평균점수 </a:t>
            </a:r>
            <a:r>
              <a:rPr lang="en-US" altLang="ko-KR" dirty="0" smtClean="0"/>
              <a:t>(</a:t>
            </a:r>
            <a:r>
              <a:rPr lang="ko-KR" altLang="en-US" dirty="0"/>
              <a:t>총 수면 시간</a:t>
            </a:r>
            <a:r>
              <a:rPr lang="en-US" altLang="ko-KR" dirty="0"/>
              <a:t>(TST) </a:t>
            </a:r>
            <a:r>
              <a:rPr lang="ko-KR" altLang="en-US" dirty="0"/>
              <a:t>가이드라인을 준수했는지 </a:t>
            </a:r>
            <a:r>
              <a:rPr lang="en-US" altLang="ko-KR" dirty="0" smtClean="0"/>
              <a:t>3LEVELS)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908720"/>
            <a:ext cx="8568868" cy="547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003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346008" cy="274638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en-US" altLang="ko-KR" dirty="0" smtClean="0"/>
              <a:t>S2 </a:t>
            </a:r>
            <a:r>
              <a:rPr lang="ko-KR" altLang="en-US" dirty="0" smtClean="0"/>
              <a:t>평균점수 </a:t>
            </a:r>
            <a:r>
              <a:rPr lang="en-US" altLang="ko-KR" dirty="0" smtClean="0"/>
              <a:t>(</a:t>
            </a:r>
            <a:r>
              <a:rPr lang="ko-KR" altLang="en-US" dirty="0"/>
              <a:t>수면 효율</a:t>
            </a:r>
            <a:r>
              <a:rPr lang="en-US" altLang="ko-KR" dirty="0"/>
              <a:t>(SE) </a:t>
            </a:r>
            <a:r>
              <a:rPr lang="ko-KR" altLang="en-US" dirty="0"/>
              <a:t>가이드라인을 준수했는지 </a:t>
            </a:r>
            <a:r>
              <a:rPr lang="ko-KR" altLang="en-US" dirty="0" smtClean="0"/>
              <a:t>여부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836712"/>
            <a:ext cx="8487974" cy="554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693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en-US" altLang="ko-KR" dirty="0" smtClean="0"/>
              <a:t>S3 </a:t>
            </a:r>
            <a:r>
              <a:rPr lang="ko-KR" altLang="en-US" dirty="0" smtClean="0"/>
              <a:t>평균점수 </a:t>
            </a:r>
            <a:r>
              <a:rPr lang="en-US" altLang="ko-KR" dirty="0" smtClean="0"/>
              <a:t>(</a:t>
            </a:r>
            <a:r>
              <a:rPr lang="ko-KR" altLang="en-US" dirty="0"/>
              <a:t>수면 잠들기 지연 </a:t>
            </a:r>
            <a:r>
              <a:rPr lang="ko-KR" altLang="en-US" dirty="0" smtClean="0"/>
              <a:t>시간</a:t>
            </a:r>
            <a:r>
              <a:rPr lang="en-US" altLang="ko-KR" dirty="0"/>
              <a:t> </a:t>
            </a:r>
            <a:r>
              <a:rPr lang="ko-KR" altLang="en-US" dirty="0" smtClean="0"/>
              <a:t>가이드라인을 </a:t>
            </a:r>
            <a:r>
              <a:rPr lang="ko-KR" altLang="en-US" dirty="0"/>
              <a:t>준수했는지 </a:t>
            </a:r>
            <a:r>
              <a:rPr lang="ko-KR" altLang="en-US" dirty="0" smtClean="0"/>
              <a:t>여부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836712"/>
            <a:ext cx="8487974" cy="554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553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4"/>
          <p:cNvSpPr>
            <a:spLocks noGrp="1"/>
          </p:cNvSpPr>
          <p:nvPr>
            <p:ph idx="1"/>
          </p:nvPr>
        </p:nvSpPr>
        <p:spPr>
          <a:xfrm>
            <a:off x="560512" y="1373857"/>
            <a:ext cx="9145016" cy="522349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예측 타겟 중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F1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점수가 낮은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Q1, S1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탐색</a:t>
            </a:r>
            <a:endParaRPr lang="en-US" altLang="ko-KR" sz="14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타겟 데이터 탐색 </a:t>
            </a:r>
            <a:r>
              <a:rPr lang="en-US" altLang="ko-KR" sz="1600" dirty="0" smtClean="0"/>
              <a:t>- Q1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/>
              <a:t>타겟 데이터 탐색 </a:t>
            </a:r>
            <a:r>
              <a:rPr lang="en-US" altLang="ko-KR" sz="1600" dirty="0" smtClean="0"/>
              <a:t>- S1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블루투스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wifi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같은 </a:t>
            </a:r>
            <a:r>
              <a:rPr lang="ko-KR" altLang="en-US" sz="1600" dirty="0" err="1" smtClean="0"/>
              <a:t>기기신호와</a:t>
            </a:r>
            <a:r>
              <a:rPr lang="ko-KR" altLang="en-US" sz="1600" dirty="0" smtClean="0"/>
              <a:t> 타겟과의 상관관계 분석</a:t>
            </a:r>
            <a:endParaRPr lang="en-US" altLang="ko-KR" sz="1600" dirty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과도한 기기 사용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en-US" altLang="ko-KR" sz="1600" dirty="0" err="1" smtClean="0"/>
              <a:t>Sleeptime</a:t>
            </a:r>
            <a:r>
              <a:rPr lang="en-US" altLang="ko-KR" sz="1600" dirty="0" smtClean="0"/>
              <a:t>(00-05)</a:t>
            </a:r>
            <a:r>
              <a:rPr lang="ko-KR" altLang="en-US" sz="1600" dirty="0" smtClean="0"/>
              <a:t>에 행동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주변소음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코골이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뒤척임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새벽화장실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운동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걸음수</a:t>
            </a:r>
            <a:r>
              <a:rPr lang="ko-KR" altLang="en-US" sz="1600" dirty="0" smtClean="0"/>
              <a:t> 등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err="1" smtClean="0"/>
              <a:t>심박동수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계절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월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주말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공휴일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휴가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타겟과의 상관관계 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/>
              <a:t>이미지 분석 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err="1"/>
              <a:t>Sleeptime</a:t>
            </a:r>
            <a:r>
              <a:rPr lang="ko-KR" altLang="en-US" sz="1600" dirty="0"/>
              <a:t>에 일어난 건수 </a:t>
            </a:r>
            <a:r>
              <a:rPr lang="en-US" altLang="ko-KR" sz="1600" dirty="0"/>
              <a:t>(</a:t>
            </a:r>
            <a:r>
              <a:rPr lang="en-US" altLang="ko-KR" sz="1600" dirty="0" err="1"/>
              <a:t>wakeupcount</a:t>
            </a:r>
            <a:r>
              <a:rPr lang="en-US" altLang="ko-KR" sz="1600" dirty="0"/>
              <a:t>)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endParaRPr lang="ko-KR" altLang="en-US" sz="1600" dirty="0"/>
          </a:p>
          <a:p>
            <a:pPr marL="400050" indent="-400050">
              <a:lnSpc>
                <a:spcPct val="150000"/>
              </a:lnSpc>
              <a:buAutoNum type="romanUcPeriod"/>
            </a:pPr>
            <a:endParaRPr lang="ko-KR" altLang="en-US" sz="1600" dirty="0" smtClean="0"/>
          </a:p>
        </p:txBody>
      </p:sp>
      <p:sp>
        <p:nvSpPr>
          <p:cNvPr id="8" name="제목 5"/>
          <p:cNvSpPr>
            <a:spLocks noGrp="1"/>
          </p:cNvSpPr>
          <p:nvPr>
            <p:ph type="title"/>
          </p:nvPr>
        </p:nvSpPr>
        <p:spPr>
          <a:xfrm>
            <a:off x="488504" y="836712"/>
            <a:ext cx="4032448" cy="360040"/>
          </a:xfrm>
        </p:spPr>
        <p:txBody>
          <a:bodyPr/>
          <a:lstStyle/>
          <a:p>
            <a:r>
              <a:rPr lang="ko-KR" altLang="en-US" sz="2400" dirty="0" smtClean="0"/>
              <a:t>목차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60512" y="2617862"/>
            <a:ext cx="5976664" cy="432048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309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참고</a:t>
            </a:r>
            <a:r>
              <a:rPr lang="en-US" altLang="ko-KR" dirty="0" smtClean="0"/>
              <a:t>] AB </a:t>
            </a:r>
            <a:r>
              <a:rPr lang="ko-KR" altLang="en-US" dirty="0" smtClean="0"/>
              <a:t>테스트를 위한 그룹 분류 </a:t>
            </a:r>
            <a:endParaRPr lang="ko-KR" altLang="en-US" dirty="0"/>
          </a:p>
        </p:txBody>
      </p:sp>
      <p:pic>
        <p:nvPicPr>
          <p:cNvPr id="2050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96" y="3140968"/>
            <a:ext cx="9311179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모서리가 둥근 직사각형 1"/>
          <p:cNvSpPr/>
          <p:nvPr/>
        </p:nvSpPr>
        <p:spPr>
          <a:xfrm>
            <a:off x="416496" y="1196752"/>
            <a:ext cx="2954453" cy="17281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id03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3500300" y="1196752"/>
            <a:ext cx="2954453" cy="17281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6584103" y="1196752"/>
            <a:ext cx="2954453" cy="17281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3497269" y="1196752"/>
            <a:ext cx="2954453" cy="17281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Id06, id01, id09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6581072" y="1196752"/>
            <a:ext cx="2954453" cy="17281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Id02, id07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8397" y="868487"/>
            <a:ext cx="1814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+mn-ea"/>
                <a:ea typeface="+mn-ea"/>
              </a:rPr>
              <a:t>A</a:t>
            </a:r>
            <a:r>
              <a:rPr lang="ko-KR" altLang="en-US" sz="1200" dirty="0" smtClean="0">
                <a:latin typeface="+mn-ea"/>
                <a:ea typeface="+mn-ea"/>
              </a:rPr>
              <a:t>그룹 </a:t>
            </a:r>
            <a:r>
              <a:rPr lang="en-US" altLang="ko-KR" sz="1200" dirty="0" smtClean="0">
                <a:latin typeface="+mn-ea"/>
                <a:ea typeface="+mn-ea"/>
              </a:rPr>
              <a:t>: </a:t>
            </a:r>
            <a:r>
              <a:rPr lang="ko-KR" altLang="en-US" sz="1200" dirty="0" smtClean="0">
                <a:latin typeface="+mn-ea"/>
                <a:ea typeface="+mn-ea"/>
              </a:rPr>
              <a:t>누우면 자는 사람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39170" y="868487"/>
            <a:ext cx="1507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+mn-ea"/>
                <a:ea typeface="+mn-ea"/>
              </a:rPr>
              <a:t>B</a:t>
            </a:r>
            <a:r>
              <a:rPr lang="ko-KR" altLang="en-US" sz="1200" dirty="0" smtClean="0">
                <a:latin typeface="+mn-ea"/>
                <a:ea typeface="+mn-ea"/>
              </a:rPr>
              <a:t>그룹 </a:t>
            </a:r>
            <a:r>
              <a:rPr lang="en-US" altLang="ko-KR" sz="1200" dirty="0" smtClean="0">
                <a:latin typeface="+mn-ea"/>
                <a:ea typeface="+mn-ea"/>
              </a:rPr>
              <a:t>: </a:t>
            </a:r>
            <a:r>
              <a:rPr lang="ko-KR" altLang="en-US" sz="1200" dirty="0" smtClean="0">
                <a:latin typeface="+mn-ea"/>
                <a:ea typeface="+mn-ea"/>
              </a:rPr>
              <a:t>불면증 환자 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04726" y="868487"/>
            <a:ext cx="15616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+mn-ea"/>
                <a:ea typeface="+mn-ea"/>
              </a:rPr>
              <a:t>C</a:t>
            </a:r>
            <a:r>
              <a:rPr lang="ko-KR" altLang="en-US" sz="1200" dirty="0" smtClean="0">
                <a:latin typeface="+mn-ea"/>
                <a:ea typeface="+mn-ea"/>
              </a:rPr>
              <a:t>그룹 </a:t>
            </a:r>
            <a:r>
              <a:rPr lang="en-US" altLang="ko-KR" sz="1200" dirty="0" smtClean="0">
                <a:latin typeface="+mn-ea"/>
                <a:ea typeface="+mn-ea"/>
              </a:rPr>
              <a:t>: </a:t>
            </a:r>
            <a:r>
              <a:rPr lang="ko-KR" altLang="en-US" sz="1200" dirty="0" smtClean="0">
                <a:latin typeface="+mn-ea"/>
                <a:ea typeface="+mn-ea"/>
              </a:rPr>
              <a:t>평범한 사람</a:t>
            </a:r>
            <a:r>
              <a:rPr lang="en-US" altLang="ko-KR" sz="1200" dirty="0" smtClean="0">
                <a:latin typeface="+mn-ea"/>
                <a:ea typeface="+mn-ea"/>
              </a:rPr>
              <a:t> </a:t>
            </a:r>
            <a:r>
              <a:rPr lang="ko-KR" altLang="en-US" sz="1200" dirty="0" smtClean="0">
                <a:latin typeface="+mn-ea"/>
                <a:ea typeface="+mn-ea"/>
              </a:rPr>
              <a:t> </a:t>
            </a:r>
            <a:endParaRPr lang="ko-KR" altLang="en-US" sz="12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0332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ko-KR" altLang="en-US" dirty="0" smtClean="0"/>
              <a:t>블루투스 신호</a:t>
            </a:r>
            <a:r>
              <a:rPr lang="en-US" altLang="ko-KR" dirty="0" smtClean="0"/>
              <a:t>, </a:t>
            </a:r>
            <a:r>
              <a:rPr lang="ko-KR" altLang="en-US" dirty="0" smtClean="0"/>
              <a:t>건수 비교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ko-KR" altLang="en-US" b="0" dirty="0" err="1" smtClean="0"/>
              <a:t>누우면자는사람</a:t>
            </a:r>
            <a:r>
              <a:rPr lang="ko-KR" altLang="en-US" b="0" dirty="0" smtClean="0"/>
              <a:t> 그룹이 불면증 환자 그룹보다 </a:t>
            </a:r>
            <a:r>
              <a:rPr lang="ko-KR" altLang="en-US" b="0" dirty="0" err="1" smtClean="0"/>
              <a:t>불루투스</a:t>
            </a:r>
            <a:r>
              <a:rPr lang="ko-KR" altLang="en-US" b="0" dirty="0" smtClean="0"/>
              <a:t> 신호가 작은 환경에 있음</a:t>
            </a:r>
            <a:endParaRPr lang="en-US" altLang="ko-KR" b="0" dirty="0" smtClean="0"/>
          </a:p>
          <a:p>
            <a:r>
              <a:rPr lang="ko-KR" altLang="en-US" b="0" dirty="0" smtClean="0"/>
              <a:t>특히 </a:t>
            </a:r>
            <a:r>
              <a:rPr lang="ko-KR" altLang="en-US" b="0" dirty="0" err="1" smtClean="0"/>
              <a:t>잠잘때</a:t>
            </a:r>
            <a:r>
              <a:rPr lang="ko-KR" altLang="en-US" b="0" dirty="0" smtClean="0"/>
              <a:t> 불면증 환자가 </a:t>
            </a:r>
            <a:r>
              <a:rPr lang="ko-KR" altLang="en-US" b="0" dirty="0" err="1" smtClean="0"/>
              <a:t>불루투스</a:t>
            </a:r>
            <a:r>
              <a:rPr lang="ko-KR" altLang="en-US" b="0" dirty="0" smtClean="0"/>
              <a:t> 개수 </a:t>
            </a:r>
            <a:r>
              <a:rPr lang="en-US" altLang="ko-KR" b="0" dirty="0" smtClean="0"/>
              <a:t>5</a:t>
            </a:r>
            <a:r>
              <a:rPr lang="ko-KR" altLang="en-US" b="0" dirty="0" smtClean="0"/>
              <a:t>배 많음</a:t>
            </a:r>
            <a:endParaRPr lang="en-US" altLang="ko-KR" b="0" dirty="0"/>
          </a:p>
          <a:p>
            <a:r>
              <a:rPr lang="ko-KR" altLang="en-US" b="0" dirty="0" smtClean="0"/>
              <a:t>실제 신호가 수면에 영향을 주는 것인지 아니면 </a:t>
            </a:r>
            <a:r>
              <a:rPr lang="ko-KR" altLang="en-US" b="0" dirty="0" err="1" smtClean="0"/>
              <a:t>주면에</a:t>
            </a:r>
            <a:r>
              <a:rPr lang="ko-KR" altLang="en-US" b="0" dirty="0" smtClean="0"/>
              <a:t> 이런 기기가 많아서 기기 </a:t>
            </a:r>
            <a:r>
              <a:rPr lang="ko-KR" altLang="en-US" b="0" dirty="0" err="1" smtClean="0"/>
              <a:t>과다이용이</a:t>
            </a:r>
            <a:r>
              <a:rPr lang="ko-KR" altLang="en-US" b="0" dirty="0" smtClean="0"/>
              <a:t> 수면에 방해요소가 되는 것인지 확인은 불가능 </a:t>
            </a:r>
            <a:r>
              <a:rPr lang="en-US" altLang="ko-KR" b="0" dirty="0" smtClean="0">
                <a:sym typeface="Wingdings" panose="05000000000000000000" pitchFamily="2" charset="2"/>
              </a:rPr>
              <a:t> </a:t>
            </a:r>
            <a:r>
              <a:rPr lang="ko-KR" altLang="en-US" b="0" dirty="0" smtClean="0">
                <a:sym typeface="Wingdings" panose="05000000000000000000" pitchFamily="2" charset="2"/>
              </a:rPr>
              <a:t>그러나 영향은 있다</a:t>
            </a:r>
            <a:r>
              <a:rPr lang="en-US" altLang="ko-KR" b="0" dirty="0" smtClean="0">
                <a:sym typeface="Wingdings" panose="05000000000000000000" pitchFamily="2" charset="2"/>
              </a:rPr>
              <a:t>. </a:t>
            </a:r>
            <a:endParaRPr lang="ko-KR" altLang="en-US" b="0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923792"/>
              </p:ext>
            </p:extLst>
          </p:nvPr>
        </p:nvGraphicFramePr>
        <p:xfrm>
          <a:off x="416496" y="1988840"/>
          <a:ext cx="7632848" cy="4175289"/>
        </p:xfrm>
        <a:graphic>
          <a:graphicData uri="http://schemas.openxmlformats.org/drawingml/2006/table">
            <a:tbl>
              <a:tblPr/>
              <a:tblGrid>
                <a:gridCol w="2939676">
                  <a:extLst>
                    <a:ext uri="{9D8B030D-6E8A-4147-A177-3AD203B41FA5}">
                      <a16:colId xmlns:a16="http://schemas.microsoft.com/office/drawing/2014/main" val="796310474"/>
                    </a:ext>
                  </a:extLst>
                </a:gridCol>
                <a:gridCol w="1173293">
                  <a:extLst>
                    <a:ext uri="{9D8B030D-6E8A-4147-A177-3AD203B41FA5}">
                      <a16:colId xmlns:a16="http://schemas.microsoft.com/office/drawing/2014/main" val="3938095190"/>
                    </a:ext>
                  </a:extLst>
                </a:gridCol>
                <a:gridCol w="1173293">
                  <a:extLst>
                    <a:ext uri="{9D8B030D-6E8A-4147-A177-3AD203B41FA5}">
                      <a16:colId xmlns:a16="http://schemas.microsoft.com/office/drawing/2014/main" val="3769906505"/>
                    </a:ext>
                  </a:extLst>
                </a:gridCol>
                <a:gridCol w="1173293">
                  <a:extLst>
                    <a:ext uri="{9D8B030D-6E8A-4147-A177-3AD203B41FA5}">
                      <a16:colId xmlns:a16="http://schemas.microsoft.com/office/drawing/2014/main" val="1649647850"/>
                    </a:ext>
                  </a:extLst>
                </a:gridCol>
                <a:gridCol w="1173293">
                  <a:extLst>
                    <a:ext uri="{9D8B030D-6E8A-4147-A177-3AD203B41FA5}">
                      <a16:colId xmlns:a16="http://schemas.microsoft.com/office/drawing/2014/main" val="4275355829"/>
                    </a:ext>
                  </a:extLst>
                </a:gridCol>
              </a:tblGrid>
              <a:tr h="4230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subject_group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누우면자는사람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불면증환자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일반사람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052710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신호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rssi,mean)_afterwork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-81.1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-73.7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-73.2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-79.2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0292611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신호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rssi,mean)_worktime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-80.9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-74.2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-75.6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-77.5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7673993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신호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rssi,mean)_sleeptime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-81.3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-72.8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-76.2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-80.3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4182101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신호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,rssi,max)_afterwork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-36.0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-10.0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-15.0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-8.0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210810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신호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,rssi,max)_worktime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-27.0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-14.0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454223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신호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rssi,max)_sleeptime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-33.0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-16.0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-22.0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-22.0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2324152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device_count)_afterwork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116.4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128.8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186.7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100.6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798114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device_count)_worktime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62.5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24.4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37.2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53.3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987489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device_count)_sleeptime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151.9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572.2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865.2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378.1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853598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device_count,0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제외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)_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afterwork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43.1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18.4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40.3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19.9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797271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device_count,0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제외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)_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worktime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34.6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5.3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14.8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11.9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997181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device_count,0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제외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)_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sleeptime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50.5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40.8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60.4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35.9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00151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3341929" y="1988839"/>
            <a:ext cx="2376264" cy="41752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341929" y="6237312"/>
            <a:ext cx="34126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</a:rPr>
              <a:t>※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</a:rPr>
              <a:t>숫자가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</a:rPr>
              <a:t>작을수록 신호가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</a:rPr>
              <a:t>약함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</a:rPr>
              <a:t>, -30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</a:rPr>
              <a:t>이면 매우 강한 신호</a:t>
            </a:r>
          </a:p>
        </p:txBody>
      </p:sp>
    </p:spTree>
    <p:extLst>
      <p:ext uri="{BB962C8B-B14F-4D97-AF65-F5344CB8AC3E}">
        <p14:creationId xmlns:p14="http://schemas.microsoft.com/office/powerpoint/2010/main" val="1483045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en-US" altLang="ko-KR" dirty="0" smtClean="0"/>
              <a:t>WIFI</a:t>
            </a:r>
            <a:r>
              <a:rPr lang="ko-KR" altLang="en-US" dirty="0" smtClean="0"/>
              <a:t> </a:t>
            </a:r>
            <a:r>
              <a:rPr lang="ko-KR" altLang="en-US" dirty="0"/>
              <a:t>신호</a:t>
            </a:r>
            <a:r>
              <a:rPr lang="en-US" altLang="ko-KR" dirty="0"/>
              <a:t>, </a:t>
            </a:r>
            <a:r>
              <a:rPr lang="ko-KR" altLang="en-US" dirty="0"/>
              <a:t>건수 비교 </a:t>
            </a:r>
          </a:p>
        </p:txBody>
      </p:sp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156791"/>
              </p:ext>
            </p:extLst>
          </p:nvPr>
        </p:nvGraphicFramePr>
        <p:xfrm>
          <a:off x="344488" y="1268760"/>
          <a:ext cx="7515225" cy="503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1" name="워크시트" r:id="rId3" imgW="7515206" imgH="5038793" progId="Excel.Sheet.12">
                  <p:embed/>
                </p:oleObj>
              </mc:Choice>
              <mc:Fallback>
                <p:oleObj name="워크시트" r:id="rId3" imgW="7515206" imgH="503879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4488" y="1268760"/>
                        <a:ext cx="7515225" cy="5038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WIFI </a:t>
            </a:r>
            <a:r>
              <a:rPr lang="ko-KR" altLang="en-US" b="0" dirty="0" smtClean="0"/>
              <a:t>이용 강도 </a:t>
            </a:r>
            <a:r>
              <a:rPr lang="en-US" altLang="ko-KR" b="0" dirty="0" smtClean="0"/>
              <a:t>: </a:t>
            </a:r>
            <a:r>
              <a:rPr lang="ko-KR" altLang="en-US" b="0" dirty="0" err="1" smtClean="0"/>
              <a:t>불면증환자</a:t>
            </a:r>
            <a:r>
              <a:rPr lang="ko-KR" altLang="en-US" b="0" dirty="0" smtClean="0"/>
              <a:t> </a:t>
            </a:r>
            <a:r>
              <a:rPr lang="en-US" altLang="ko-KR" b="0" dirty="0" smtClean="0"/>
              <a:t>&gt; </a:t>
            </a:r>
            <a:r>
              <a:rPr lang="ko-KR" altLang="en-US" b="0" dirty="0" err="1" smtClean="0"/>
              <a:t>일반사람</a:t>
            </a:r>
            <a:r>
              <a:rPr lang="ko-KR" altLang="en-US" b="0" dirty="0" smtClean="0"/>
              <a:t> </a:t>
            </a:r>
            <a:r>
              <a:rPr lang="en-US" altLang="ko-KR" b="0" dirty="0" smtClean="0"/>
              <a:t>&gt; </a:t>
            </a:r>
            <a:r>
              <a:rPr lang="ko-KR" altLang="en-US" b="0" dirty="0" err="1" smtClean="0"/>
              <a:t>누우면자는사람</a:t>
            </a:r>
            <a:r>
              <a:rPr lang="ko-KR" altLang="en-US" b="0" dirty="0" smtClean="0"/>
              <a:t> 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2406382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/>
              <a:t>과도한 기기 사용</a:t>
            </a:r>
            <a:r>
              <a:rPr lang="en-US" altLang="ko-KR" dirty="0"/>
              <a:t>}</a:t>
            </a:r>
            <a:r>
              <a:rPr lang="ko-KR" altLang="en-US" dirty="0"/>
              <a:t>과 타겟과의 상관관계 분석</a:t>
            </a:r>
            <a:endParaRPr lang="en-US" altLang="ko-KR" dirty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488504" y="1124744"/>
            <a:ext cx="8889528" cy="1800200"/>
          </a:xfrm>
          <a:prstGeom prst="roundRect">
            <a:avLst>
              <a:gd name="adj" fmla="val 46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{</a:t>
            </a:r>
            <a:r>
              <a:rPr lang="ko-KR" altLang="en-US" dirty="0" smtClean="0"/>
              <a:t>과도한 기기 사용</a:t>
            </a:r>
            <a:r>
              <a:rPr lang="en-US" altLang="ko-KR" dirty="0" smtClean="0"/>
              <a:t>}</a:t>
            </a:r>
            <a:r>
              <a:rPr lang="ko-KR" altLang="en-US" dirty="0" smtClean="0"/>
              <a:t>은 블루투스</a:t>
            </a:r>
            <a:r>
              <a:rPr lang="en-US" altLang="ko-KR" dirty="0" smtClean="0"/>
              <a:t>, </a:t>
            </a:r>
            <a:r>
              <a:rPr lang="ko-KR" altLang="en-US" dirty="0" smtClean="0"/>
              <a:t>와이파이 결과를 종합하면 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 smtClean="0"/>
              <a:t>잠자는 시간에 블루투스와 와이파이를 이용하는 등의 </a:t>
            </a:r>
            <a:r>
              <a:rPr lang="ko-KR" altLang="en-US" dirty="0" err="1" smtClean="0"/>
              <a:t>기기사용은</a:t>
            </a:r>
            <a:r>
              <a:rPr lang="ko-KR" altLang="en-US" dirty="0" smtClean="0"/>
              <a:t> 수면의 질의 방해를 주는 것으로 추정해 볼 수 있음 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560512" y="3212976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자기 전 스마트폰 사용과 불면증</a:t>
            </a:r>
            <a:r>
              <a:rPr lang="en-US" altLang="ko-KR" sz="1200" dirty="0">
                <a:latin typeface="+mn-ea"/>
                <a:ea typeface="+mn-ea"/>
              </a:rPr>
              <a:t>: </a:t>
            </a:r>
            <a:r>
              <a:rPr lang="ko-KR" altLang="en-US" sz="1200" dirty="0">
                <a:latin typeface="+mn-ea"/>
                <a:ea typeface="+mn-ea"/>
              </a:rPr>
              <a:t>노르웨이의 한 연구에서는 자기 전 스마트폰이나 </a:t>
            </a:r>
            <a:r>
              <a:rPr lang="en-US" altLang="ko-KR" sz="1200" dirty="0">
                <a:latin typeface="+mn-ea"/>
                <a:ea typeface="+mn-ea"/>
              </a:rPr>
              <a:t>TV</a:t>
            </a:r>
            <a:r>
              <a:rPr lang="ko-KR" altLang="en-US" sz="1200" dirty="0">
                <a:latin typeface="+mn-ea"/>
                <a:ea typeface="+mn-ea"/>
              </a:rPr>
              <a:t>를 사용하는 것이 불면증 위험을 </a:t>
            </a:r>
            <a:r>
              <a:rPr lang="en-US" altLang="ko-KR" sz="1200" dirty="0">
                <a:latin typeface="+mn-ea"/>
                <a:ea typeface="+mn-ea"/>
              </a:rPr>
              <a:t>59% </a:t>
            </a:r>
            <a:r>
              <a:rPr lang="ko-KR" altLang="en-US" sz="1200" dirty="0">
                <a:latin typeface="+mn-ea"/>
                <a:ea typeface="+mn-ea"/>
              </a:rPr>
              <a:t>증가시키고</a:t>
            </a:r>
            <a:r>
              <a:rPr lang="en-US" altLang="ko-KR" sz="1200" dirty="0">
                <a:latin typeface="+mn-ea"/>
                <a:ea typeface="+mn-ea"/>
              </a:rPr>
              <a:t>, </a:t>
            </a:r>
            <a:r>
              <a:rPr lang="ko-KR" altLang="en-US" sz="1200" dirty="0">
                <a:latin typeface="+mn-ea"/>
                <a:ea typeface="+mn-ea"/>
              </a:rPr>
              <a:t>수면 시간을 평균 </a:t>
            </a:r>
            <a:r>
              <a:rPr lang="en-US" altLang="ko-KR" sz="1200" dirty="0">
                <a:latin typeface="+mn-ea"/>
                <a:ea typeface="+mn-ea"/>
              </a:rPr>
              <a:t>24</a:t>
            </a:r>
            <a:r>
              <a:rPr lang="ko-KR" altLang="en-US" sz="1200" dirty="0">
                <a:latin typeface="+mn-ea"/>
                <a:ea typeface="+mn-ea"/>
              </a:rPr>
              <a:t>분 단축시킨다고 </a:t>
            </a:r>
            <a:r>
              <a:rPr lang="ko-KR" altLang="en-US" sz="1200" dirty="0" smtClean="0">
                <a:latin typeface="+mn-ea"/>
                <a:ea typeface="+mn-ea"/>
              </a:rPr>
              <a:t>보고하였습니다</a:t>
            </a:r>
            <a:r>
              <a:rPr lang="en-US" altLang="ko-KR" sz="1200" dirty="0" smtClean="0">
                <a:latin typeface="+mn-ea"/>
                <a:ea typeface="+mn-ea"/>
              </a:rPr>
              <a:t>.</a:t>
            </a:r>
          </a:p>
          <a:p>
            <a:r>
              <a:rPr lang="ko-KR" altLang="en-US" sz="1200" dirty="0" smtClean="0">
                <a:latin typeface="+mn-ea"/>
                <a:ea typeface="+mn-ea"/>
              </a:rPr>
              <a:t>https</a:t>
            </a:r>
            <a:r>
              <a:rPr lang="ko-KR" altLang="en-US" sz="1200" dirty="0">
                <a:latin typeface="+mn-ea"/>
                <a:ea typeface="+mn-ea"/>
              </a:rPr>
              <a:t>://www.health.com/study-screen-use-in-bed-insomnia-11701831?utm_source=chatgpt.com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57" y="4168626"/>
            <a:ext cx="8664545" cy="168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23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en-US" altLang="ko-KR" dirty="0" err="1" smtClean="0"/>
              <a:t>Sleeptime</a:t>
            </a:r>
            <a:r>
              <a:rPr lang="ko-KR" altLang="en-US" dirty="0" smtClean="0"/>
              <a:t>에 </a:t>
            </a:r>
            <a:r>
              <a:rPr lang="ko-KR" altLang="en-US" dirty="0"/>
              <a:t>행동</a:t>
            </a:r>
            <a:r>
              <a:rPr lang="en-US" altLang="ko-KR" dirty="0"/>
              <a:t>(</a:t>
            </a:r>
            <a:r>
              <a:rPr lang="ko-KR" altLang="en-US" dirty="0" err="1"/>
              <a:t>주변소음</a:t>
            </a:r>
            <a:r>
              <a:rPr lang="en-US" altLang="ko-KR" dirty="0"/>
              <a:t>, </a:t>
            </a:r>
            <a:r>
              <a:rPr lang="ko-KR" altLang="en-US" dirty="0" err="1" smtClean="0"/>
              <a:t>코골이</a:t>
            </a:r>
            <a:r>
              <a:rPr lang="en-US" altLang="ko-KR" dirty="0" smtClean="0"/>
              <a:t>)}</a:t>
            </a:r>
            <a:r>
              <a:rPr lang="ko-KR" altLang="en-US" dirty="0"/>
              <a:t>과 타겟과의 상관관계 분석</a:t>
            </a:r>
            <a:endParaRPr lang="en-US" altLang="ko-KR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06" y="1438607"/>
            <a:ext cx="2664296" cy="5014729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356806" y="3238807"/>
            <a:ext cx="2664296" cy="15841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118" y="1438608"/>
            <a:ext cx="2171401" cy="5014728"/>
          </a:xfrm>
          <a:prstGeom prst="rect">
            <a:avLst/>
          </a:prstGeom>
        </p:spPr>
      </p:pic>
      <p:sp>
        <p:nvSpPr>
          <p:cNvPr id="15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ko-KR" altLang="en-US" b="0" dirty="0" smtClean="0"/>
              <a:t>특이사항 없음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22725071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en-US" altLang="ko-KR" dirty="0" err="1" smtClean="0"/>
              <a:t>Sleeptime</a:t>
            </a:r>
            <a:r>
              <a:rPr lang="ko-KR" altLang="en-US" dirty="0" smtClean="0"/>
              <a:t>에 </a:t>
            </a:r>
            <a:r>
              <a:rPr lang="ko-KR" altLang="en-US" dirty="0"/>
              <a:t>행동</a:t>
            </a:r>
            <a:r>
              <a:rPr lang="en-US" altLang="ko-KR" dirty="0"/>
              <a:t>(</a:t>
            </a:r>
            <a:r>
              <a:rPr lang="ko-KR" altLang="en-US" dirty="0" err="1"/>
              <a:t>주변소음</a:t>
            </a:r>
            <a:r>
              <a:rPr lang="en-US" altLang="ko-KR" dirty="0"/>
              <a:t>, </a:t>
            </a:r>
            <a:r>
              <a:rPr lang="ko-KR" altLang="en-US" dirty="0" err="1" smtClean="0"/>
              <a:t>코골이</a:t>
            </a:r>
            <a:r>
              <a:rPr lang="en-US" altLang="ko-KR" dirty="0" smtClean="0"/>
              <a:t>)}</a:t>
            </a:r>
            <a:r>
              <a:rPr lang="ko-KR" altLang="en-US" dirty="0"/>
              <a:t>과 타겟과의 상관관계 분석</a:t>
            </a:r>
            <a:endParaRPr lang="en-US" altLang="ko-KR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80" y="1438607"/>
            <a:ext cx="4164146" cy="5014729"/>
          </a:xfrm>
          <a:prstGeom prst="rect">
            <a:avLst/>
          </a:prstGeom>
        </p:spPr>
      </p:pic>
      <p:sp>
        <p:nvSpPr>
          <p:cNvPr id="15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ko-KR" altLang="en-US" b="0" dirty="0" smtClean="0"/>
              <a:t>불면증 환자 그룹 잠자는 시간에 다양한 소리하는 것으로 추정 됨</a:t>
            </a:r>
            <a:r>
              <a:rPr lang="en-US" altLang="ko-KR" b="0" dirty="0" smtClean="0"/>
              <a:t>. </a:t>
            </a:r>
            <a:endParaRPr lang="ko-KR" altLang="en-US" b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056" y="2653810"/>
            <a:ext cx="3377360" cy="2647398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 flipV="1">
            <a:off x="4436626" y="2636912"/>
            <a:ext cx="1020430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4436626" y="4725144"/>
            <a:ext cx="1020430" cy="559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446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en-US" altLang="ko-KR" dirty="0" err="1" smtClean="0"/>
              <a:t>Sleeptime</a:t>
            </a:r>
            <a:r>
              <a:rPr lang="ko-KR" altLang="en-US" dirty="0" smtClean="0"/>
              <a:t>에 </a:t>
            </a:r>
            <a:r>
              <a:rPr lang="ko-KR" altLang="en-US" dirty="0"/>
              <a:t>행동</a:t>
            </a:r>
            <a:r>
              <a:rPr lang="en-US" altLang="ko-KR" dirty="0"/>
              <a:t>(</a:t>
            </a:r>
            <a:r>
              <a:rPr lang="ko-KR" altLang="en-US" dirty="0" err="1"/>
              <a:t>주변소음</a:t>
            </a:r>
            <a:r>
              <a:rPr lang="en-US" altLang="ko-KR" dirty="0"/>
              <a:t>, </a:t>
            </a:r>
            <a:r>
              <a:rPr lang="ko-KR" altLang="en-US" dirty="0" err="1" smtClean="0"/>
              <a:t>코골이</a:t>
            </a:r>
            <a:r>
              <a:rPr lang="en-US" altLang="ko-KR" dirty="0" smtClean="0"/>
              <a:t>)}</a:t>
            </a:r>
            <a:r>
              <a:rPr lang="ko-KR" altLang="en-US" dirty="0"/>
              <a:t>과 타겟과의 상관관계 분석</a:t>
            </a:r>
            <a:endParaRPr lang="en-US" altLang="ko-KR" dirty="0"/>
          </a:p>
        </p:txBody>
      </p:sp>
      <p:sp>
        <p:nvSpPr>
          <p:cNvPr id="15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ko-KR" altLang="en-US" b="0" dirty="0" err="1" smtClean="0"/>
              <a:t>코골이</a:t>
            </a:r>
            <a:r>
              <a:rPr lang="en-US" altLang="ko-KR" b="0" dirty="0" smtClean="0"/>
              <a:t>(snoring)</a:t>
            </a:r>
            <a:r>
              <a:rPr lang="ko-KR" altLang="en-US" b="0" dirty="0" smtClean="0"/>
              <a:t> 수면에 방해</a:t>
            </a:r>
            <a:endParaRPr lang="en-US" altLang="ko-KR" b="0" dirty="0" smtClean="0"/>
          </a:p>
          <a:p>
            <a:r>
              <a:rPr lang="en-US" altLang="ko-KR" b="0" dirty="0" smtClean="0">
                <a:sym typeface="Wingdings" panose="05000000000000000000" pitchFamily="2" charset="2"/>
              </a:rPr>
              <a:t> Label </a:t>
            </a:r>
            <a:r>
              <a:rPr lang="ko-KR" altLang="en-US" b="0" dirty="0" smtClean="0">
                <a:sym typeface="Wingdings" panose="05000000000000000000" pitchFamily="2" charset="2"/>
              </a:rPr>
              <a:t>중 </a:t>
            </a:r>
            <a:r>
              <a:rPr lang="en-US" altLang="ko-KR" b="0" dirty="0" err="1" smtClean="0">
                <a:sym typeface="Wingdings" panose="05000000000000000000" pitchFamily="2" charset="2"/>
              </a:rPr>
              <a:t>snor</a:t>
            </a:r>
            <a:r>
              <a:rPr lang="ko-KR" altLang="en-US" b="0" dirty="0" smtClean="0">
                <a:sym typeface="Wingdings" panose="05000000000000000000" pitchFamily="2" charset="2"/>
              </a:rPr>
              <a:t>이 포함되어 있는 </a:t>
            </a:r>
            <a:r>
              <a:rPr lang="en-US" altLang="ko-KR" b="0" dirty="0" smtClean="0">
                <a:sym typeface="Wingdings" panose="05000000000000000000" pitchFamily="2" charset="2"/>
              </a:rPr>
              <a:t>label unique count </a:t>
            </a:r>
            <a:r>
              <a:rPr lang="ko-KR" altLang="en-US" b="0" dirty="0" smtClean="0">
                <a:sym typeface="Wingdings" panose="05000000000000000000" pitchFamily="2" charset="2"/>
              </a:rPr>
              <a:t>와 비율 </a:t>
            </a:r>
            <a:r>
              <a:rPr lang="ko-KR" altLang="en-US" b="0" dirty="0" smtClean="0"/>
              <a:t> </a:t>
            </a:r>
            <a:endParaRPr lang="ko-KR" altLang="en-US" b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703276"/>
            <a:ext cx="4204688" cy="32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406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/>
              <a:t>운동</a:t>
            </a:r>
            <a:r>
              <a:rPr lang="en-US" altLang="ko-KR" dirty="0"/>
              <a:t>(</a:t>
            </a:r>
            <a:r>
              <a:rPr lang="ko-KR" altLang="en-US" dirty="0" err="1"/>
              <a:t>걸음수</a:t>
            </a:r>
            <a:r>
              <a:rPr lang="ko-KR" altLang="en-US" dirty="0"/>
              <a:t> 등</a:t>
            </a:r>
            <a:r>
              <a:rPr lang="en-US" altLang="ko-KR" dirty="0"/>
              <a:t>)}</a:t>
            </a:r>
            <a:r>
              <a:rPr lang="ko-KR" altLang="en-US" dirty="0"/>
              <a:t>과 타겟과의 상관관계 분석 </a:t>
            </a:r>
            <a:endParaRPr lang="en-US" altLang="ko-KR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488504" y="1439961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/>
              <a:t>mActivity</a:t>
            </a:r>
            <a:r>
              <a:rPr lang="en-US" altLang="ko-KR" sz="1200" dirty="0"/>
              <a:t> </a:t>
            </a:r>
            <a:r>
              <a:rPr lang="ko-KR" altLang="en-US" sz="1200" dirty="0" err="1"/>
              <a:t>추정행동</a:t>
            </a:r>
            <a:endParaRPr lang="ko-KR" altLang="en-US" sz="1200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488504" y="2956500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/>
              <a:t> </a:t>
            </a:r>
            <a:r>
              <a:rPr lang="en-US" altLang="ko-KR" sz="1200" dirty="0" err="1"/>
              <a:t>mGps</a:t>
            </a:r>
            <a:r>
              <a:rPr lang="en-US" altLang="ko-KR" sz="1200" dirty="0"/>
              <a:t>, </a:t>
            </a:r>
            <a:r>
              <a:rPr lang="ko-KR" altLang="en-US" sz="1200" dirty="0" smtClean="0"/>
              <a:t>핸드폰 </a:t>
            </a:r>
            <a:r>
              <a:rPr lang="ko-KR" altLang="en-US" sz="1200" dirty="0"/>
              <a:t>위치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488504" y="4356427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/>
              <a:t>wHr</a:t>
            </a:r>
            <a:r>
              <a:rPr lang="en-US" altLang="ko-KR" sz="1200" dirty="0"/>
              <a:t> </a:t>
            </a:r>
            <a:r>
              <a:rPr lang="ko-KR" altLang="en-US" sz="1200" dirty="0" err="1"/>
              <a:t>심박동수</a:t>
            </a:r>
            <a:endParaRPr lang="ko-KR" altLang="en-US" sz="1200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488504" y="5625388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/>
              <a:t>wPedo</a:t>
            </a:r>
            <a:r>
              <a:rPr lang="en-US" altLang="ko-KR" sz="1200" dirty="0"/>
              <a:t> </a:t>
            </a:r>
            <a:r>
              <a:rPr lang="ko-KR" altLang="en-US" sz="1200" dirty="0" err="1"/>
              <a:t>걸음수</a:t>
            </a:r>
            <a:endParaRPr lang="ko-KR" altLang="en-US" sz="1200" dirty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594513"/>
              </p:ext>
            </p:extLst>
          </p:nvPr>
        </p:nvGraphicFramePr>
        <p:xfrm>
          <a:off x="2936776" y="3976815"/>
          <a:ext cx="4247685" cy="1189342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1151341">
                  <a:extLst>
                    <a:ext uri="{9D8B030D-6E8A-4147-A177-3AD203B41FA5}">
                      <a16:colId xmlns:a16="http://schemas.microsoft.com/office/drawing/2014/main" val="3431902498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73075353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195286782"/>
                    </a:ext>
                  </a:extLst>
                </a:gridCol>
              </a:tblGrid>
              <a:tr h="111251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강도 구간</a:t>
                      </a: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실제 </a:t>
                      </a:r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심박수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17505" marR="17505" marT="8753" marB="8753" anchor="ctr"/>
                </a:tc>
                <a:extLst>
                  <a:ext uri="{0D108BD9-81ED-4DB2-BD59-A6C34878D82A}">
                    <a16:rowId xmlns:a16="http://schemas.microsoft.com/office/drawing/2014/main" val="264381124"/>
                  </a:ext>
                </a:extLst>
              </a:tr>
              <a:tr h="84777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휴식</a:t>
                      </a: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ea"/>
                          <a:ea typeface="+mn-ea"/>
                        </a:rPr>
                        <a:t>~95 bpm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이하</a:t>
                      </a: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안정 상태</a:t>
                      </a:r>
                    </a:p>
                  </a:txBody>
                  <a:tcPr marL="17505" marR="17505" marT="8753" marB="8753" anchor="ctr"/>
                </a:tc>
                <a:extLst>
                  <a:ext uri="{0D108BD9-81ED-4DB2-BD59-A6C34878D82A}">
                    <a16:rowId xmlns:a16="http://schemas.microsoft.com/office/drawing/2014/main" val="400496521"/>
                  </a:ext>
                </a:extLst>
              </a:tr>
              <a:tr h="84777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가벼운 활동</a:t>
                      </a: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ea"/>
                          <a:ea typeface="+mn-ea"/>
                        </a:rPr>
                        <a:t>95 ~ 114 bpm</a:t>
                      </a: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걷기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가벼운 움직임</a:t>
                      </a:r>
                    </a:p>
                  </a:txBody>
                  <a:tcPr marL="17505" marR="17505" marT="8753" marB="8753" anchor="ctr"/>
                </a:tc>
                <a:extLst>
                  <a:ext uri="{0D108BD9-81ED-4DB2-BD59-A6C34878D82A}">
                    <a16:rowId xmlns:a16="http://schemas.microsoft.com/office/drawing/2014/main" val="1560457923"/>
                  </a:ext>
                </a:extLst>
              </a:tr>
              <a:tr h="84777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지방 연소 구간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ea"/>
                          <a:ea typeface="+mn-ea"/>
                        </a:rPr>
                        <a:t>114 ~ 133 bpm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유산소 운동 시작 구간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111236"/>
                  </a:ext>
                </a:extLst>
              </a:tr>
              <a:tr h="160818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심폐 강화 구간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ea"/>
                          <a:ea typeface="+mn-ea"/>
                        </a:rPr>
                        <a:t>133 ~ 152 bpm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러닝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고강도 유산소 운동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257414"/>
                  </a:ext>
                </a:extLst>
              </a:tr>
              <a:tr h="160818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무산소 구간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ea"/>
                          <a:ea typeface="+mn-ea"/>
                        </a:rPr>
                        <a:t>152 ~ 171 bpm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격렬한 운동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인터벌 트레이닝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052407"/>
                  </a:ext>
                </a:extLst>
              </a:tr>
              <a:tr h="84777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최대 부하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+mn-ea"/>
                          <a:ea typeface="+mn-ea"/>
                        </a:rPr>
                        <a:t>171 ~ 190 bpm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전력 질주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경기 상황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942172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603771"/>
              </p:ext>
            </p:extLst>
          </p:nvPr>
        </p:nvGraphicFramePr>
        <p:xfrm>
          <a:off x="2936776" y="5301208"/>
          <a:ext cx="2767156" cy="1076328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1383578">
                  <a:extLst>
                    <a:ext uri="{9D8B030D-6E8A-4147-A177-3AD203B41FA5}">
                      <a16:colId xmlns:a16="http://schemas.microsoft.com/office/drawing/2014/main" val="3513849489"/>
                    </a:ext>
                  </a:extLst>
                </a:gridCol>
                <a:gridCol w="1383578">
                  <a:extLst>
                    <a:ext uri="{9D8B030D-6E8A-4147-A177-3AD203B41FA5}">
                      <a16:colId xmlns:a16="http://schemas.microsoft.com/office/drawing/2014/main" val="2703682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하루 걸음수</a:t>
                      </a:r>
                    </a:p>
                  </a:txBody>
                  <a:tcPr marL="26987" marR="26987" marT="13494" marB="13494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활동 수준</a:t>
                      </a:r>
                    </a:p>
                  </a:txBody>
                  <a:tcPr marL="26987" marR="26987" marT="13494" marB="13494" anchor="ctr"/>
                </a:tc>
                <a:extLst>
                  <a:ext uri="{0D108BD9-81ED-4DB2-BD59-A6C34878D82A}">
                    <a16:rowId xmlns:a16="http://schemas.microsoft.com/office/drawing/2014/main" val="3589682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&lt; 5,000</a:t>
                      </a:r>
                    </a:p>
                  </a:txBody>
                  <a:tcPr marL="26987" marR="26987" marT="13494" marB="13494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활동 부족</a:t>
                      </a:r>
                    </a:p>
                  </a:txBody>
                  <a:tcPr marL="26987" marR="26987" marT="13494" marB="13494" anchor="ctr"/>
                </a:tc>
                <a:extLst>
                  <a:ext uri="{0D108BD9-81ED-4DB2-BD59-A6C34878D82A}">
                    <a16:rowId xmlns:a16="http://schemas.microsoft.com/office/drawing/2014/main" val="304495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5,000 ~ 7,499</a:t>
                      </a:r>
                    </a:p>
                  </a:txBody>
                  <a:tcPr marL="26987" marR="26987" marT="13494" marB="13494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낮은 활동 수준</a:t>
                      </a:r>
                    </a:p>
                  </a:txBody>
                  <a:tcPr marL="26987" marR="26987" marT="13494" marB="13494" anchor="ctr"/>
                </a:tc>
                <a:extLst>
                  <a:ext uri="{0D108BD9-81ED-4DB2-BD59-A6C34878D82A}">
                    <a16:rowId xmlns:a16="http://schemas.microsoft.com/office/drawing/2014/main" val="59522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7,500 ~ 9,999</a:t>
                      </a:r>
                    </a:p>
                  </a:txBody>
                  <a:tcPr marL="26987" marR="26987" marT="13494" marB="13494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약간 활동적인 수준</a:t>
                      </a:r>
                    </a:p>
                  </a:txBody>
                  <a:tcPr marL="26987" marR="26987" marT="13494" marB="13494" anchor="ctr"/>
                </a:tc>
                <a:extLst>
                  <a:ext uri="{0D108BD9-81ED-4DB2-BD59-A6C34878D82A}">
                    <a16:rowId xmlns:a16="http://schemas.microsoft.com/office/drawing/2014/main" val="3750583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10,000 ~ 12,499</a:t>
                      </a:r>
                    </a:p>
                  </a:txBody>
                  <a:tcPr marL="26987" marR="26987" marT="13494" marB="13494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활동적</a:t>
                      </a:r>
                    </a:p>
                  </a:txBody>
                  <a:tcPr marL="26987" marR="26987" marT="13494" marB="13494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267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12,500 </a:t>
                      </a:r>
                      <a:r>
                        <a:rPr lang="ko-KR" altLang="en-US" sz="1000"/>
                        <a:t>이상</a:t>
                      </a:r>
                    </a:p>
                  </a:txBody>
                  <a:tcPr marL="26987" marR="26987" marT="13494" marB="13494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매우 활동적</a:t>
                      </a:r>
                    </a:p>
                  </a:txBody>
                  <a:tcPr marL="26987" marR="26987" marT="13494" marB="13494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671770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493845"/>
              </p:ext>
            </p:extLst>
          </p:nvPr>
        </p:nvGraphicFramePr>
        <p:xfrm>
          <a:off x="2936776" y="908720"/>
          <a:ext cx="4047878" cy="1493046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580588">
                  <a:extLst>
                    <a:ext uri="{9D8B030D-6E8A-4147-A177-3AD203B41FA5}">
                      <a16:colId xmlns:a16="http://schemas.microsoft.com/office/drawing/2014/main" val="3522511900"/>
                    </a:ext>
                  </a:extLst>
                </a:gridCol>
                <a:gridCol w="1451065">
                  <a:extLst>
                    <a:ext uri="{9D8B030D-6E8A-4147-A177-3AD203B41FA5}">
                      <a16:colId xmlns:a16="http://schemas.microsoft.com/office/drawing/2014/main" val="928189005"/>
                    </a:ext>
                  </a:extLst>
                </a:gridCol>
                <a:gridCol w="2016225">
                  <a:extLst>
                    <a:ext uri="{9D8B030D-6E8A-4147-A177-3AD203B41FA5}">
                      <a16:colId xmlns:a16="http://schemas.microsoft.com/office/drawing/2014/main" val="104775065"/>
                    </a:ext>
                  </a:extLst>
                </a:gridCol>
              </a:tblGrid>
              <a:tr h="6475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코드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활동 유형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설명</a:t>
                      </a:r>
                    </a:p>
                  </a:txBody>
                  <a:tcPr marL="13494" marR="13494" marT="6747" marB="6747" anchor="ctr"/>
                </a:tc>
                <a:extLst>
                  <a:ext uri="{0D108BD9-81ED-4DB2-BD59-A6C34878D82A}">
                    <a16:rowId xmlns:a16="http://schemas.microsoft.com/office/drawing/2014/main" val="4094254255"/>
                  </a:ext>
                </a:extLst>
              </a:tr>
              <a:tr h="6475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0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IN_VEHICLE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차량 탑승 중</a:t>
                      </a:r>
                    </a:p>
                  </a:txBody>
                  <a:tcPr marL="13494" marR="13494" marT="6747" marB="6747" anchor="ctr"/>
                </a:tc>
                <a:extLst>
                  <a:ext uri="{0D108BD9-81ED-4DB2-BD59-A6C34878D82A}">
                    <a16:rowId xmlns:a16="http://schemas.microsoft.com/office/drawing/2014/main" val="319802942"/>
                  </a:ext>
                </a:extLst>
              </a:tr>
              <a:tr h="6475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ON_BICYCLE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자전거를 타는 중</a:t>
                      </a:r>
                    </a:p>
                  </a:txBody>
                  <a:tcPr marL="13494" marR="13494" marT="6747" marB="6747" anchor="ctr"/>
                </a:tc>
                <a:extLst>
                  <a:ext uri="{0D108BD9-81ED-4DB2-BD59-A6C34878D82A}">
                    <a16:rowId xmlns:a16="http://schemas.microsoft.com/office/drawing/2014/main" val="2761082644"/>
                  </a:ext>
                </a:extLst>
              </a:tr>
              <a:tr h="11536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2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ON_FOOT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도보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걷기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달리기 </a:t>
                      </a:r>
                      <a:r>
                        <a:rPr lang="ko-KR" altLang="en-US" sz="1000" dirty="0" smtClean="0"/>
                        <a:t>포함</a:t>
                      </a:r>
                      <a:r>
                        <a:rPr lang="en-US" altLang="ko-KR" sz="1000" dirty="0" smtClean="0"/>
                        <a:t>)</a:t>
                      </a:r>
                      <a:endParaRPr lang="ko-KR" altLang="en-US" sz="1000" dirty="0"/>
                    </a:p>
                  </a:txBody>
                  <a:tcPr marL="13494" marR="13494" marT="6747" marB="6747" anchor="ctr"/>
                </a:tc>
                <a:extLst>
                  <a:ext uri="{0D108BD9-81ED-4DB2-BD59-A6C34878D82A}">
                    <a16:rowId xmlns:a16="http://schemas.microsoft.com/office/drawing/2014/main" val="3337183273"/>
                  </a:ext>
                </a:extLst>
              </a:tr>
              <a:tr h="6475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STILL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정지 상태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움직이지 않음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marL="13494" marR="13494" marT="6747" marB="6747" anchor="ctr"/>
                </a:tc>
                <a:extLst>
                  <a:ext uri="{0D108BD9-81ED-4DB2-BD59-A6C34878D82A}">
                    <a16:rowId xmlns:a16="http://schemas.microsoft.com/office/drawing/2014/main" val="583226944"/>
                  </a:ext>
                </a:extLst>
              </a:tr>
              <a:tr h="11536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TILTING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기울어짐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예</a:t>
                      </a:r>
                      <a:r>
                        <a:rPr lang="en-US" altLang="ko-KR" sz="1000" dirty="0"/>
                        <a:t>: </a:t>
                      </a:r>
                      <a:r>
                        <a:rPr lang="ko-KR" altLang="en-US" sz="1000" dirty="0"/>
                        <a:t>기기를 들어 올릴 때</a:t>
                      </a:r>
                      <a:r>
                        <a:rPr lang="en-US" altLang="ko-KR" sz="1000" dirty="0"/>
                        <a:t>) </a:t>
                      </a:r>
                      <a:endParaRPr lang="ko-KR" altLang="en-US" sz="1000" dirty="0"/>
                    </a:p>
                  </a:txBody>
                  <a:tcPr marL="13494" marR="13494" marT="6747" marB="6747" anchor="ctr"/>
                </a:tc>
                <a:extLst>
                  <a:ext uri="{0D108BD9-81ED-4DB2-BD59-A6C34878D82A}">
                    <a16:rowId xmlns:a16="http://schemas.microsoft.com/office/drawing/2014/main" val="761083441"/>
                  </a:ext>
                </a:extLst>
              </a:tr>
              <a:tr h="6475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4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UNKNOWN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알 수 없음</a:t>
                      </a:r>
                    </a:p>
                  </a:txBody>
                  <a:tcPr marL="13494" marR="13494" marT="6747" marB="6747" anchor="ctr"/>
                </a:tc>
                <a:extLst>
                  <a:ext uri="{0D108BD9-81ED-4DB2-BD59-A6C34878D82A}">
                    <a16:rowId xmlns:a16="http://schemas.microsoft.com/office/drawing/2014/main" val="982726793"/>
                  </a:ext>
                </a:extLst>
              </a:tr>
              <a:tr h="6475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7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WALKING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걷는 중</a:t>
                      </a:r>
                    </a:p>
                  </a:txBody>
                  <a:tcPr marL="13494" marR="13494" marT="6747" marB="6747" anchor="ctr"/>
                </a:tc>
                <a:extLst>
                  <a:ext uri="{0D108BD9-81ED-4DB2-BD59-A6C34878D82A}">
                    <a16:rowId xmlns:a16="http://schemas.microsoft.com/office/drawing/2014/main" val="1703663426"/>
                  </a:ext>
                </a:extLst>
              </a:tr>
              <a:tr h="6475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8</a:t>
                      </a:r>
                    </a:p>
                  </a:txBody>
                  <a:tcPr marL="13494" marR="13494" marT="6747" marB="6747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RUNNING</a:t>
                      </a:r>
                    </a:p>
                  </a:txBody>
                  <a:tcPr marL="13494" marR="13494" marT="6747" marB="6747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달리는 중</a:t>
                      </a:r>
                    </a:p>
                  </a:txBody>
                  <a:tcPr marL="13494" marR="13494" marT="6747" marB="6747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32115"/>
                  </a:ext>
                </a:extLst>
              </a:tr>
            </a:tbl>
          </a:graphicData>
        </a:graphic>
      </p:graphicFrame>
      <p:cxnSp>
        <p:nvCxnSpPr>
          <p:cNvPr id="18" name="직선 화살표 연결선 17"/>
          <p:cNvCxnSpPr>
            <a:stCxn id="4" idx="3"/>
            <a:endCxn id="15" idx="1"/>
          </p:cNvCxnSpPr>
          <p:nvPr/>
        </p:nvCxnSpPr>
        <p:spPr>
          <a:xfrm flipV="1">
            <a:off x="2360712" y="1655243"/>
            <a:ext cx="576064" cy="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stCxn id="6" idx="3"/>
          </p:cNvCxnSpPr>
          <p:nvPr/>
        </p:nvCxnSpPr>
        <p:spPr>
          <a:xfrm>
            <a:off x="2360712" y="3172524"/>
            <a:ext cx="580038" cy="3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8" idx="3"/>
            <a:endCxn id="12" idx="1"/>
          </p:cNvCxnSpPr>
          <p:nvPr/>
        </p:nvCxnSpPr>
        <p:spPr>
          <a:xfrm flipV="1">
            <a:off x="2360712" y="4571486"/>
            <a:ext cx="576064" cy="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9" idx="3"/>
            <a:endCxn id="13" idx="1"/>
          </p:cNvCxnSpPr>
          <p:nvPr/>
        </p:nvCxnSpPr>
        <p:spPr>
          <a:xfrm flipV="1">
            <a:off x="2360712" y="5839372"/>
            <a:ext cx="576064" cy="2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표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25742"/>
              </p:ext>
            </p:extLst>
          </p:nvPr>
        </p:nvGraphicFramePr>
        <p:xfrm>
          <a:off x="2940247" y="2505496"/>
          <a:ext cx="5634303" cy="1355552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1878101">
                  <a:extLst>
                    <a:ext uri="{9D8B030D-6E8A-4147-A177-3AD203B41FA5}">
                      <a16:colId xmlns:a16="http://schemas.microsoft.com/office/drawing/2014/main" val="194289968"/>
                    </a:ext>
                  </a:extLst>
                </a:gridCol>
                <a:gridCol w="1878101">
                  <a:extLst>
                    <a:ext uri="{9D8B030D-6E8A-4147-A177-3AD203B41FA5}">
                      <a16:colId xmlns:a16="http://schemas.microsoft.com/office/drawing/2014/main" val="1588312495"/>
                    </a:ext>
                  </a:extLst>
                </a:gridCol>
                <a:gridCol w="1878101">
                  <a:extLst>
                    <a:ext uri="{9D8B030D-6E8A-4147-A177-3AD203B41FA5}">
                      <a16:colId xmlns:a16="http://schemas.microsoft.com/office/drawing/2014/main" val="688774514"/>
                    </a:ext>
                  </a:extLst>
                </a:gridCol>
              </a:tblGrid>
              <a:tr h="68179">
                <a:tc>
                  <a:txBody>
                    <a:bodyPr/>
                    <a:lstStyle/>
                    <a:p>
                      <a:r>
                        <a:rPr lang="ko-KR" altLang="en-US" sz="1000"/>
                        <a:t>속도 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m/s) </a:t>
                      </a:r>
                      <a:r>
                        <a:rPr lang="ko-KR" altLang="en-US" sz="1000"/>
                        <a:t>구간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활동 수준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해석 예시</a:t>
                      </a:r>
                    </a:p>
                  </a:txBody>
                  <a:tcPr marL="17045" marR="17045" marT="8522" marB="8522" anchor="ctr"/>
                </a:tc>
                <a:extLst>
                  <a:ext uri="{0D108BD9-81ED-4DB2-BD59-A6C34878D82A}">
                    <a16:rowId xmlns:a16="http://schemas.microsoft.com/office/drawing/2014/main" val="2135378465"/>
                  </a:ext>
                </a:extLst>
              </a:tr>
              <a:tr h="119313">
                <a:tc>
                  <a:txBody>
                    <a:bodyPr/>
                    <a:lstStyle/>
                    <a:p>
                      <a:r>
                        <a:rPr lang="en-US" altLang="ko-KR" sz="1000"/>
                        <a:t>0.0 ~ 0.3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정지 또는 미세 이동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제자리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실내 활동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잠자기 상태 등</a:t>
                      </a:r>
                    </a:p>
                  </a:txBody>
                  <a:tcPr marL="17045" marR="17045" marT="8522" marB="8522" anchor="ctr"/>
                </a:tc>
                <a:extLst>
                  <a:ext uri="{0D108BD9-81ED-4DB2-BD59-A6C34878D82A}">
                    <a16:rowId xmlns:a16="http://schemas.microsoft.com/office/drawing/2014/main" val="928950008"/>
                  </a:ext>
                </a:extLst>
              </a:tr>
              <a:tr h="68179">
                <a:tc>
                  <a:txBody>
                    <a:bodyPr/>
                    <a:lstStyle/>
                    <a:p>
                      <a:r>
                        <a:rPr lang="en-US" altLang="ko-KR" sz="1000"/>
                        <a:t>0.3 ~ 0.8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느린 걷기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산책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실내 걷기</a:t>
                      </a:r>
                    </a:p>
                  </a:txBody>
                  <a:tcPr marL="17045" marR="17045" marT="8522" marB="8522" anchor="ctr"/>
                </a:tc>
                <a:extLst>
                  <a:ext uri="{0D108BD9-81ED-4DB2-BD59-A6C34878D82A}">
                    <a16:rowId xmlns:a16="http://schemas.microsoft.com/office/drawing/2014/main" val="3198757940"/>
                  </a:ext>
                </a:extLst>
              </a:tr>
              <a:tr h="68179">
                <a:tc>
                  <a:txBody>
                    <a:bodyPr/>
                    <a:lstStyle/>
                    <a:p>
                      <a:r>
                        <a:rPr lang="en-US" altLang="ko-KR" sz="1000"/>
                        <a:t>0.8 ~ 1.5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 걷기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일상적인 외부 걷기</a:t>
                      </a:r>
                    </a:p>
                  </a:txBody>
                  <a:tcPr marL="17045" marR="17045" marT="8522" marB="8522" anchor="ctr"/>
                </a:tc>
                <a:extLst>
                  <a:ext uri="{0D108BD9-81ED-4DB2-BD59-A6C34878D82A}">
                    <a16:rowId xmlns:a16="http://schemas.microsoft.com/office/drawing/2014/main" val="834616689"/>
                  </a:ext>
                </a:extLst>
              </a:tr>
              <a:tr h="68179">
                <a:tc>
                  <a:txBody>
                    <a:bodyPr/>
                    <a:lstStyle/>
                    <a:p>
                      <a:r>
                        <a:rPr lang="en-US" altLang="ko-KR" sz="1000"/>
                        <a:t>1.5 ~ 2.5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빠른 걷기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운동 목적의 걷기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파워 워킹</a:t>
                      </a:r>
                    </a:p>
                  </a:txBody>
                  <a:tcPr marL="17045" marR="17045" marT="8522" marB="8522" anchor="ctr"/>
                </a:tc>
                <a:extLst>
                  <a:ext uri="{0D108BD9-81ED-4DB2-BD59-A6C34878D82A}">
                    <a16:rowId xmlns:a16="http://schemas.microsoft.com/office/drawing/2014/main" val="2759237654"/>
                  </a:ext>
                </a:extLst>
              </a:tr>
              <a:tr h="68179">
                <a:tc>
                  <a:txBody>
                    <a:bodyPr/>
                    <a:lstStyle/>
                    <a:p>
                      <a:r>
                        <a:rPr lang="en-US" altLang="ko-KR" sz="1000"/>
                        <a:t>2.5 ~ 3.3</a:t>
                      </a:r>
                    </a:p>
                  </a:txBody>
                  <a:tcPr marL="17045" marR="17045" marT="8522" marB="8522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조깅</a:t>
                      </a:r>
                    </a:p>
                  </a:txBody>
                  <a:tcPr marL="17045" marR="17045" marT="8522" marB="8522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매우 가벼운 러닝 시작</a:t>
                      </a:r>
                    </a:p>
                  </a:txBody>
                  <a:tcPr marL="17045" marR="17045" marT="8522" marB="8522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071345"/>
                  </a:ext>
                </a:extLst>
              </a:tr>
              <a:tr h="68179">
                <a:tc>
                  <a:txBody>
                    <a:bodyPr/>
                    <a:lstStyle/>
                    <a:p>
                      <a:r>
                        <a:rPr lang="en-US" altLang="ko-KR" sz="1000"/>
                        <a:t>3.3 ~ 5.0</a:t>
                      </a:r>
                    </a:p>
                  </a:txBody>
                  <a:tcPr marL="17045" marR="17045" marT="8522" marB="8522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러닝</a:t>
                      </a:r>
                    </a:p>
                  </a:txBody>
                  <a:tcPr marL="17045" marR="17045" marT="8522" marB="8522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일반적인 유산소 운동</a:t>
                      </a:r>
                    </a:p>
                  </a:txBody>
                  <a:tcPr marL="17045" marR="17045" marT="8522" marB="8522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279702"/>
                  </a:ext>
                </a:extLst>
              </a:tr>
              <a:tr h="119313">
                <a:tc>
                  <a:txBody>
                    <a:bodyPr/>
                    <a:lstStyle/>
                    <a:p>
                      <a:r>
                        <a:rPr lang="en-US" altLang="ko-KR" sz="1000"/>
                        <a:t>5.0 ~ 6.5 </a:t>
                      </a:r>
                      <a:r>
                        <a:rPr lang="ko-KR" altLang="en-US" sz="1000"/>
                        <a:t>이상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격렬한 러닝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자전거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고강도 인터벌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스포츠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사이클링</a:t>
                      </a:r>
                    </a:p>
                  </a:txBody>
                  <a:tcPr marL="17045" marR="17045" marT="8522" marB="8522" anchor="ctr"/>
                </a:tc>
                <a:extLst>
                  <a:ext uri="{0D108BD9-81ED-4DB2-BD59-A6C34878D82A}">
                    <a16:rowId xmlns:a16="http://schemas.microsoft.com/office/drawing/2014/main" val="500115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664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/>
              <a:t>운동</a:t>
            </a:r>
            <a:r>
              <a:rPr lang="en-US" altLang="ko-KR" dirty="0"/>
              <a:t>(</a:t>
            </a:r>
            <a:r>
              <a:rPr lang="ko-KR" altLang="en-US" dirty="0" err="1"/>
              <a:t>걸음수</a:t>
            </a:r>
            <a:r>
              <a:rPr lang="ko-KR" altLang="en-US" dirty="0"/>
              <a:t> 등</a:t>
            </a:r>
            <a:r>
              <a:rPr lang="en-US" altLang="ko-KR" dirty="0"/>
              <a:t>)}</a:t>
            </a:r>
            <a:r>
              <a:rPr lang="ko-KR" altLang="en-US" dirty="0"/>
              <a:t>과 타겟과의 상관관계 분석 </a:t>
            </a:r>
            <a:endParaRPr lang="en-US" altLang="ko-KR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992856"/>
              </p:ext>
            </p:extLst>
          </p:nvPr>
        </p:nvGraphicFramePr>
        <p:xfrm>
          <a:off x="416496" y="1772817"/>
          <a:ext cx="3888432" cy="1512169"/>
        </p:xfrm>
        <a:graphic>
          <a:graphicData uri="http://schemas.openxmlformats.org/drawingml/2006/table">
            <a:tbl>
              <a:tblPr firstRow="1">
                <a:tableStyleId>{17292A2E-F333-43FB-9621-5CBBE7FDCDCB}</a:tableStyleId>
              </a:tblPr>
              <a:tblGrid>
                <a:gridCol w="910059">
                  <a:extLst>
                    <a:ext uri="{9D8B030D-6E8A-4147-A177-3AD203B41FA5}">
                      <a16:colId xmlns:a16="http://schemas.microsoft.com/office/drawing/2014/main" val="884287712"/>
                    </a:ext>
                  </a:extLst>
                </a:gridCol>
                <a:gridCol w="2978373">
                  <a:extLst>
                    <a:ext uri="{9D8B030D-6E8A-4147-A177-3AD203B41FA5}">
                      <a16:colId xmlns:a16="http://schemas.microsoft.com/office/drawing/2014/main" val="399742247"/>
                    </a:ext>
                  </a:extLst>
                </a:gridCol>
              </a:tblGrid>
              <a:tr h="25134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구분</a:t>
                      </a:r>
                    </a:p>
                  </a:txBody>
                  <a:tcPr marL="22334" marR="22334" marT="11167" marB="111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조건</a:t>
                      </a:r>
                    </a:p>
                  </a:txBody>
                  <a:tcPr marL="22334" marR="22334" marT="11167" marB="11167" anchor="ctr"/>
                </a:tc>
                <a:extLst>
                  <a:ext uri="{0D108BD9-81ED-4DB2-BD59-A6C34878D82A}">
                    <a16:rowId xmlns:a16="http://schemas.microsoft.com/office/drawing/2014/main" val="987601963"/>
                  </a:ext>
                </a:extLst>
              </a:tr>
              <a:tr h="251345">
                <a:tc>
                  <a:txBody>
                    <a:bodyPr/>
                    <a:lstStyle/>
                    <a:p>
                      <a:r>
                        <a:rPr lang="en-US" sz="1000"/>
                        <a:t>mActivity</a:t>
                      </a:r>
                    </a:p>
                  </a:txBody>
                  <a:tcPr marL="22334" marR="22334" marT="11167" marB="11167"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 err="1"/>
                        <a:t>m_activity</a:t>
                      </a:r>
                      <a:r>
                        <a:rPr lang="en-US" altLang="ko-KR" sz="1000" dirty="0"/>
                        <a:t> == 7</a:t>
                      </a:r>
                      <a:r>
                        <a:rPr lang="ko-KR" altLang="en-US" sz="1000" dirty="0"/>
                        <a:t>인 상태가 </a:t>
                      </a:r>
                      <a:r>
                        <a:rPr lang="en-US" altLang="ko-KR" sz="1000" b="1" dirty="0" smtClean="0">
                          <a:solidFill>
                            <a:srgbClr val="FF0000"/>
                          </a:solidFill>
                        </a:rPr>
                        <a:t>30</a:t>
                      </a:r>
                      <a:r>
                        <a:rPr lang="ko-KR" altLang="en-US" sz="1000" dirty="0" smtClean="0"/>
                        <a:t>분 </a:t>
                      </a:r>
                      <a:r>
                        <a:rPr lang="ko-KR" altLang="en-US" sz="1000" dirty="0"/>
                        <a:t>이상 연속 지속</a:t>
                      </a:r>
                    </a:p>
                  </a:txBody>
                  <a:tcPr marL="22334" marR="22334" marT="11167" marB="11167" anchor="ctr"/>
                </a:tc>
                <a:extLst>
                  <a:ext uri="{0D108BD9-81ED-4DB2-BD59-A6C34878D82A}">
                    <a16:rowId xmlns:a16="http://schemas.microsoft.com/office/drawing/2014/main" val="4226101214"/>
                  </a:ext>
                </a:extLst>
              </a:tr>
              <a:tr h="379067">
                <a:tc>
                  <a:txBody>
                    <a:bodyPr/>
                    <a:lstStyle/>
                    <a:p>
                      <a:r>
                        <a:rPr lang="en-US" sz="1000"/>
                        <a:t>mGps</a:t>
                      </a:r>
                    </a:p>
                  </a:txBody>
                  <a:tcPr marL="22334" marR="22334" marT="11167" marB="11167"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/>
                        <a:t>avg_speed ∈ [2.5, 5.5] </a:t>
                      </a:r>
                      <a:r>
                        <a:rPr lang="ko-KR" altLang="en-US" sz="1000"/>
                        <a:t>상태가 </a:t>
                      </a:r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분 이상 연속 지속</a:t>
                      </a:r>
                    </a:p>
                  </a:txBody>
                  <a:tcPr marL="22334" marR="22334" marT="11167" marB="11167" anchor="ctr"/>
                </a:tc>
                <a:extLst>
                  <a:ext uri="{0D108BD9-81ED-4DB2-BD59-A6C34878D82A}">
                    <a16:rowId xmlns:a16="http://schemas.microsoft.com/office/drawing/2014/main" val="2952588187"/>
                  </a:ext>
                </a:extLst>
              </a:tr>
              <a:tr h="251345">
                <a:tc>
                  <a:txBody>
                    <a:bodyPr/>
                    <a:lstStyle/>
                    <a:p>
                      <a:r>
                        <a:rPr lang="en-US" sz="1000"/>
                        <a:t>wHr</a:t>
                      </a:r>
                    </a:p>
                  </a:txBody>
                  <a:tcPr marL="22334" marR="22334" marT="11167" marB="11167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평균 </a:t>
                      </a:r>
                      <a:r>
                        <a:rPr lang="en-US" altLang="ko-KR" sz="1000"/>
                        <a:t>heart_rate ≥ 133</a:t>
                      </a:r>
                      <a:r>
                        <a:rPr lang="ko-KR" altLang="en-US" sz="1000"/>
                        <a:t>인 상태가 </a:t>
                      </a:r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분 이상 유지</a:t>
                      </a:r>
                    </a:p>
                  </a:txBody>
                  <a:tcPr marL="22334" marR="22334" marT="11167" marB="11167" anchor="ctr"/>
                </a:tc>
                <a:extLst>
                  <a:ext uri="{0D108BD9-81ED-4DB2-BD59-A6C34878D82A}">
                    <a16:rowId xmlns:a16="http://schemas.microsoft.com/office/drawing/2014/main" val="4094468590"/>
                  </a:ext>
                </a:extLst>
              </a:tr>
              <a:tr h="379067">
                <a:tc>
                  <a:txBody>
                    <a:bodyPr/>
                    <a:lstStyle/>
                    <a:p>
                      <a:r>
                        <a:rPr lang="en-US" sz="1000"/>
                        <a:t>wPedo</a:t>
                      </a:r>
                    </a:p>
                  </a:txBody>
                  <a:tcPr marL="22334" marR="22334" marT="11167" marB="11167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총 </a:t>
                      </a:r>
                      <a:r>
                        <a:rPr lang="en-US" sz="1000" dirty="0"/>
                        <a:t>step ≥ 10000 </a:t>
                      </a:r>
                      <a:endParaRPr lang="en-US" sz="1000" dirty="0" smtClean="0"/>
                    </a:p>
                    <a:p>
                      <a:r>
                        <a:rPr lang="en-US" sz="1000" dirty="0" err="1" smtClean="0"/>
                        <a:t>running_step</a:t>
                      </a:r>
                      <a:r>
                        <a:rPr lang="en-US" sz="1000" dirty="0" smtClean="0"/>
                        <a:t> </a:t>
                      </a:r>
                      <a:r>
                        <a:rPr lang="en-US" sz="1000" dirty="0"/>
                        <a:t>≥ 1</a:t>
                      </a:r>
                      <a:r>
                        <a:rPr lang="ko-KR" altLang="en-US" sz="1000" dirty="0"/>
                        <a:t>이 </a:t>
                      </a:r>
                      <a:r>
                        <a:rPr lang="en-US" altLang="ko-KR" sz="1000" dirty="0"/>
                        <a:t>5</a:t>
                      </a:r>
                      <a:r>
                        <a:rPr lang="ko-KR" altLang="en-US" sz="1000" dirty="0"/>
                        <a:t>분 지속</a:t>
                      </a:r>
                    </a:p>
                  </a:txBody>
                  <a:tcPr marL="22334" marR="22334" marT="11167" marB="11167" anchor="ctr"/>
                </a:tc>
                <a:extLst>
                  <a:ext uri="{0D108BD9-81ED-4DB2-BD59-A6C34878D82A}">
                    <a16:rowId xmlns:a16="http://schemas.microsoft.com/office/drawing/2014/main" val="2513429246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963228"/>
              </p:ext>
            </p:extLst>
          </p:nvPr>
        </p:nvGraphicFramePr>
        <p:xfrm>
          <a:off x="5025008" y="1772816"/>
          <a:ext cx="2304255" cy="1512168"/>
        </p:xfrm>
        <a:graphic>
          <a:graphicData uri="http://schemas.openxmlformats.org/drawingml/2006/table">
            <a:tbl>
              <a:tblPr/>
              <a:tblGrid>
                <a:gridCol w="1003029">
                  <a:extLst>
                    <a:ext uri="{9D8B030D-6E8A-4147-A177-3AD203B41FA5}">
                      <a16:colId xmlns:a16="http://schemas.microsoft.com/office/drawing/2014/main" val="1829949075"/>
                    </a:ext>
                  </a:extLst>
                </a:gridCol>
                <a:gridCol w="650613">
                  <a:extLst>
                    <a:ext uri="{9D8B030D-6E8A-4147-A177-3AD203B41FA5}">
                      <a16:colId xmlns:a16="http://schemas.microsoft.com/office/drawing/2014/main" val="766709826"/>
                    </a:ext>
                  </a:extLst>
                </a:gridCol>
                <a:gridCol w="650613">
                  <a:extLst>
                    <a:ext uri="{9D8B030D-6E8A-4147-A177-3AD203B41FA5}">
                      <a16:colId xmlns:a16="http://schemas.microsoft.com/office/drawing/2014/main" val="2212591354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건수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비율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010893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추정운동여부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145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21%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7837522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act_exe_flag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9%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325336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gps_exe_flag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6%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442074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hr_exe_flag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7%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8883922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pedo_exe_flag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3%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5226274"/>
                  </a:ext>
                </a:extLst>
              </a:tr>
            </a:tbl>
          </a:graphicData>
        </a:graphic>
      </p:graphicFrame>
      <p:cxnSp>
        <p:nvCxnSpPr>
          <p:cNvPr id="10" name="직선 화살표 연결선 9"/>
          <p:cNvCxnSpPr>
            <a:stCxn id="16" idx="3"/>
          </p:cNvCxnSpPr>
          <p:nvPr/>
        </p:nvCxnSpPr>
        <p:spPr>
          <a:xfrm flipV="1">
            <a:off x="4304928" y="2527866"/>
            <a:ext cx="720080" cy="1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329" y="4149082"/>
            <a:ext cx="5438063" cy="1500800"/>
          </a:xfrm>
          <a:prstGeom prst="rect">
            <a:avLst/>
          </a:prstGeom>
        </p:spPr>
      </p:pic>
      <p:cxnSp>
        <p:nvCxnSpPr>
          <p:cNvPr id="21" name="직선 화살표 연결선 20"/>
          <p:cNvCxnSpPr/>
          <p:nvPr/>
        </p:nvCxnSpPr>
        <p:spPr>
          <a:xfrm>
            <a:off x="6321152" y="3284984"/>
            <a:ext cx="0" cy="864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ko-KR" altLang="en-US" b="0" dirty="0" smtClean="0"/>
              <a:t>불면증 환자 상대적으로 운동 부족 </a:t>
            </a:r>
            <a:endParaRPr lang="ko-KR" altLang="en-US" b="0" dirty="0"/>
          </a:p>
        </p:txBody>
      </p:sp>
      <p:sp>
        <p:nvSpPr>
          <p:cNvPr id="23" name="직사각형 22"/>
          <p:cNvSpPr/>
          <p:nvPr/>
        </p:nvSpPr>
        <p:spPr>
          <a:xfrm>
            <a:off x="5851641" y="4149082"/>
            <a:ext cx="1008111" cy="1500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388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 err="1"/>
              <a:t>심박동수</a:t>
            </a:r>
            <a:r>
              <a:rPr lang="en-US" altLang="ko-KR" dirty="0"/>
              <a:t>}</a:t>
            </a:r>
            <a:r>
              <a:rPr lang="ko-KR" altLang="en-US" dirty="0"/>
              <a:t>와 타겟과의 상관관계 분석 </a:t>
            </a:r>
            <a:endParaRPr lang="en-US" altLang="ko-KR" dirty="0"/>
          </a:p>
        </p:txBody>
      </p:sp>
      <p:sp>
        <p:nvSpPr>
          <p:cNvPr id="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ko-KR" altLang="en-US" b="0" dirty="0" smtClean="0"/>
              <a:t>누우면 자는 사람은 평소에도 </a:t>
            </a:r>
            <a:r>
              <a:rPr lang="ko-KR" altLang="en-US" b="0" dirty="0" err="1" smtClean="0"/>
              <a:t>심박동수가</a:t>
            </a:r>
            <a:r>
              <a:rPr lang="ko-KR" altLang="en-US" b="0" dirty="0" smtClean="0"/>
              <a:t> 높음 수면시간에도 높음 </a:t>
            </a:r>
            <a:endParaRPr lang="en-US" altLang="ko-KR" b="0" dirty="0" smtClean="0"/>
          </a:p>
          <a:p>
            <a:r>
              <a:rPr lang="ko-KR" altLang="en-US" b="0" dirty="0" err="1" smtClean="0"/>
              <a:t>불면증환자</a:t>
            </a:r>
            <a:r>
              <a:rPr lang="ko-KR" altLang="en-US" b="0" dirty="0" smtClean="0"/>
              <a:t> </a:t>
            </a:r>
            <a:r>
              <a:rPr lang="ko-KR" altLang="en-US" b="0" dirty="0" err="1" smtClean="0"/>
              <a:t>일반환자를</a:t>
            </a:r>
            <a:r>
              <a:rPr lang="ko-KR" altLang="en-US" b="0" dirty="0" smtClean="0"/>
              <a:t> 비교하면 </a:t>
            </a:r>
            <a:r>
              <a:rPr lang="ko-KR" altLang="en-US" b="0" dirty="0" err="1" smtClean="0"/>
              <a:t>일할때는</a:t>
            </a:r>
            <a:r>
              <a:rPr lang="ko-KR" altLang="en-US" b="0" dirty="0" smtClean="0"/>
              <a:t> </a:t>
            </a:r>
            <a:r>
              <a:rPr lang="ko-KR" altLang="en-US" b="0" dirty="0" err="1" smtClean="0"/>
              <a:t>심박동수는</a:t>
            </a:r>
            <a:r>
              <a:rPr lang="ko-KR" altLang="en-US" b="0" dirty="0" smtClean="0"/>
              <a:t> 별로 차이가 없음 </a:t>
            </a:r>
            <a:endParaRPr lang="en-US" altLang="ko-KR" b="0" dirty="0" smtClean="0"/>
          </a:p>
          <a:p>
            <a:r>
              <a:rPr lang="ko-KR" altLang="en-US" b="0" dirty="0" smtClean="0"/>
              <a:t>하지만 </a:t>
            </a:r>
            <a:r>
              <a:rPr lang="ko-KR" altLang="en-US" b="0" dirty="0" err="1" smtClean="0"/>
              <a:t>수면시간에</a:t>
            </a:r>
            <a:r>
              <a:rPr lang="ko-KR" altLang="en-US" b="0" dirty="0" smtClean="0"/>
              <a:t> 불면증 환자가 </a:t>
            </a:r>
            <a:r>
              <a:rPr lang="ko-KR" altLang="en-US" b="0" dirty="0" err="1" smtClean="0"/>
              <a:t>일반사람에</a:t>
            </a:r>
            <a:r>
              <a:rPr lang="ko-KR" altLang="en-US" b="0" dirty="0" smtClean="0"/>
              <a:t> 비해서 최대 </a:t>
            </a:r>
            <a:r>
              <a:rPr lang="ko-KR" altLang="en-US" b="0" dirty="0" err="1" smtClean="0"/>
              <a:t>심박동수가</a:t>
            </a:r>
            <a:r>
              <a:rPr lang="ko-KR" altLang="en-US" b="0" dirty="0" smtClean="0"/>
              <a:t> 상대적으로 높은 경향을 보임 </a:t>
            </a:r>
            <a:endParaRPr lang="ko-KR" altLang="en-US" b="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965937"/>
              </p:ext>
            </p:extLst>
          </p:nvPr>
        </p:nvGraphicFramePr>
        <p:xfrm>
          <a:off x="435501" y="2053096"/>
          <a:ext cx="4247685" cy="1189342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1151341">
                  <a:extLst>
                    <a:ext uri="{9D8B030D-6E8A-4147-A177-3AD203B41FA5}">
                      <a16:colId xmlns:a16="http://schemas.microsoft.com/office/drawing/2014/main" val="3431902498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73075353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195286782"/>
                    </a:ext>
                  </a:extLst>
                </a:gridCol>
              </a:tblGrid>
              <a:tr h="111251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강도 구간</a:t>
                      </a: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실제 </a:t>
                      </a:r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심박수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17505" marR="17505" marT="8753" marB="8753" anchor="ctr"/>
                </a:tc>
                <a:extLst>
                  <a:ext uri="{0D108BD9-81ED-4DB2-BD59-A6C34878D82A}">
                    <a16:rowId xmlns:a16="http://schemas.microsoft.com/office/drawing/2014/main" val="264381124"/>
                  </a:ext>
                </a:extLst>
              </a:tr>
              <a:tr h="84777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휴식</a:t>
                      </a: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ea"/>
                          <a:ea typeface="+mn-ea"/>
                        </a:rPr>
                        <a:t>~95 bpm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이하</a:t>
                      </a: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안정 상태</a:t>
                      </a:r>
                    </a:p>
                  </a:txBody>
                  <a:tcPr marL="17505" marR="17505" marT="8753" marB="8753" anchor="ctr"/>
                </a:tc>
                <a:extLst>
                  <a:ext uri="{0D108BD9-81ED-4DB2-BD59-A6C34878D82A}">
                    <a16:rowId xmlns:a16="http://schemas.microsoft.com/office/drawing/2014/main" val="400496521"/>
                  </a:ext>
                </a:extLst>
              </a:tr>
              <a:tr h="84777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가벼운 활동</a:t>
                      </a: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ea"/>
                          <a:ea typeface="+mn-ea"/>
                        </a:rPr>
                        <a:t>95 ~ 114 bpm</a:t>
                      </a: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걷기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가벼운 움직임</a:t>
                      </a:r>
                    </a:p>
                  </a:txBody>
                  <a:tcPr marL="17505" marR="17505" marT="8753" marB="8753" anchor="ctr"/>
                </a:tc>
                <a:extLst>
                  <a:ext uri="{0D108BD9-81ED-4DB2-BD59-A6C34878D82A}">
                    <a16:rowId xmlns:a16="http://schemas.microsoft.com/office/drawing/2014/main" val="1560457923"/>
                  </a:ext>
                </a:extLst>
              </a:tr>
              <a:tr h="84777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지방 연소 구간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ea"/>
                          <a:ea typeface="+mn-ea"/>
                        </a:rPr>
                        <a:t>114 ~ 133 bpm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유산소 운동 시작 구간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111236"/>
                  </a:ext>
                </a:extLst>
              </a:tr>
              <a:tr h="160818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심폐 강화 구간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ea"/>
                          <a:ea typeface="+mn-ea"/>
                        </a:rPr>
                        <a:t>133 ~ 152 bpm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러닝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고강도 유산소 운동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257414"/>
                  </a:ext>
                </a:extLst>
              </a:tr>
              <a:tr h="160818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무산소 구간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ea"/>
                          <a:ea typeface="+mn-ea"/>
                        </a:rPr>
                        <a:t>152 ~ 171 bpm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격렬한 운동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인터벌 트레이닝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052407"/>
                  </a:ext>
                </a:extLst>
              </a:tr>
              <a:tr h="84777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최대 부하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+mn-ea"/>
                          <a:ea typeface="+mn-ea"/>
                        </a:rPr>
                        <a:t>171 ~ 190 bpm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전력 질주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경기 상황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942172"/>
                  </a:ext>
                </a:extLst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01" y="3501008"/>
            <a:ext cx="6592950" cy="2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789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/>
              <a:t>주말</a:t>
            </a:r>
            <a:r>
              <a:rPr lang="en-US" altLang="ko-KR" dirty="0"/>
              <a:t>, </a:t>
            </a:r>
            <a:r>
              <a:rPr lang="ko-KR" altLang="en-US" dirty="0"/>
              <a:t>공휴일</a:t>
            </a:r>
            <a:r>
              <a:rPr lang="en-US" altLang="ko-KR" dirty="0"/>
              <a:t>, </a:t>
            </a:r>
            <a:r>
              <a:rPr lang="ko-KR" altLang="en-US" dirty="0"/>
              <a:t>휴가</a:t>
            </a:r>
            <a:r>
              <a:rPr lang="en-US" altLang="ko-KR" dirty="0"/>
              <a:t>}</a:t>
            </a:r>
            <a:r>
              <a:rPr lang="ko-KR" altLang="en-US" dirty="0"/>
              <a:t>와 타겟과의 상관관계 </a:t>
            </a:r>
            <a:r>
              <a:rPr lang="ko-KR" altLang="en-US" dirty="0" smtClean="0"/>
              <a:t>분석 </a:t>
            </a:r>
            <a:r>
              <a:rPr lang="en-US" altLang="ko-KR" dirty="0" smtClean="0"/>
              <a:t>(1/)</a:t>
            </a:r>
            <a:endParaRPr lang="en-US" altLang="ko-KR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87657"/>
              </p:ext>
            </p:extLst>
          </p:nvPr>
        </p:nvGraphicFramePr>
        <p:xfrm>
          <a:off x="416496" y="1700808"/>
          <a:ext cx="4752528" cy="2304253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1188132">
                  <a:extLst>
                    <a:ext uri="{9D8B030D-6E8A-4147-A177-3AD203B41FA5}">
                      <a16:colId xmlns:a16="http://schemas.microsoft.com/office/drawing/2014/main" val="160751959"/>
                    </a:ext>
                  </a:extLst>
                </a:gridCol>
                <a:gridCol w="1188132">
                  <a:extLst>
                    <a:ext uri="{9D8B030D-6E8A-4147-A177-3AD203B41FA5}">
                      <a16:colId xmlns:a16="http://schemas.microsoft.com/office/drawing/2014/main" val="4055819354"/>
                    </a:ext>
                  </a:extLst>
                </a:gridCol>
                <a:gridCol w="1188132">
                  <a:extLst>
                    <a:ext uri="{9D8B030D-6E8A-4147-A177-3AD203B41FA5}">
                      <a16:colId xmlns:a16="http://schemas.microsoft.com/office/drawing/2014/main" val="1286797883"/>
                    </a:ext>
                  </a:extLst>
                </a:gridCol>
                <a:gridCol w="1188132">
                  <a:extLst>
                    <a:ext uri="{9D8B030D-6E8A-4147-A177-3AD203B41FA5}">
                      <a16:colId xmlns:a16="http://schemas.microsoft.com/office/drawing/2014/main" val="1836075145"/>
                    </a:ext>
                  </a:extLst>
                </a:gridCol>
              </a:tblGrid>
              <a:tr h="329179">
                <a:tc>
                  <a:txBody>
                    <a:bodyPr/>
                    <a:lstStyle/>
                    <a:p>
                      <a:r>
                        <a:rPr lang="ko-KR" altLang="en-US" sz="1000"/>
                        <a:t>날짜</a:t>
                      </a:r>
                    </a:p>
                  </a:txBody>
                  <a:tcPr marL="23132" marR="23132" marT="11566" marB="1156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요일</a:t>
                      </a:r>
                    </a:p>
                  </a:txBody>
                  <a:tcPr marL="23132" marR="23132" marT="11566" marB="1156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공휴일 종류</a:t>
                      </a:r>
                    </a:p>
                  </a:txBody>
                  <a:tcPr marL="23132" marR="23132" marT="11566" marB="1156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공휴일 명칭</a:t>
                      </a:r>
                    </a:p>
                  </a:txBody>
                  <a:tcPr marL="23132" marR="23132" marT="11566" marB="1156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642869"/>
                  </a:ext>
                </a:extLst>
              </a:tr>
              <a:tr h="329179">
                <a:tc>
                  <a:txBody>
                    <a:bodyPr/>
                    <a:lstStyle/>
                    <a:p>
                      <a:r>
                        <a:rPr lang="en-US" altLang="ko-KR" sz="1000"/>
                        <a:t>8</a:t>
                      </a:r>
                      <a:r>
                        <a:rPr lang="ko-KR" altLang="en-US" sz="1000"/>
                        <a:t>월 </a:t>
                      </a:r>
                      <a:r>
                        <a:rPr lang="en-US" altLang="ko-KR" sz="1000"/>
                        <a:t>15</a:t>
                      </a:r>
                      <a:r>
                        <a:rPr lang="ko-KR" altLang="en-US" sz="1000"/>
                        <a:t>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목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법정 공휴일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광복절</a:t>
                      </a:r>
                    </a:p>
                  </a:txBody>
                  <a:tcPr marL="23132" marR="23132" marT="11566" marB="11566" anchor="ctr"/>
                </a:tc>
                <a:extLst>
                  <a:ext uri="{0D108BD9-81ED-4DB2-BD59-A6C34878D82A}">
                    <a16:rowId xmlns:a16="http://schemas.microsoft.com/office/drawing/2014/main" val="1544629817"/>
                  </a:ext>
                </a:extLst>
              </a:tr>
              <a:tr h="329179">
                <a:tc>
                  <a:txBody>
                    <a:bodyPr/>
                    <a:lstStyle/>
                    <a:p>
                      <a:r>
                        <a:rPr lang="en-US" altLang="ko-KR" sz="1000"/>
                        <a:t>9</a:t>
                      </a:r>
                      <a:r>
                        <a:rPr lang="ko-KR" altLang="en-US" sz="1000"/>
                        <a:t>월 </a:t>
                      </a:r>
                      <a:r>
                        <a:rPr lang="en-US" altLang="ko-KR" sz="1000"/>
                        <a:t>16</a:t>
                      </a:r>
                      <a:r>
                        <a:rPr lang="ko-KR" altLang="en-US" sz="1000"/>
                        <a:t>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월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법정 공휴일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추석 연휴</a:t>
                      </a:r>
                    </a:p>
                  </a:txBody>
                  <a:tcPr marL="23132" marR="23132" marT="11566" marB="11566" anchor="ctr"/>
                </a:tc>
                <a:extLst>
                  <a:ext uri="{0D108BD9-81ED-4DB2-BD59-A6C34878D82A}">
                    <a16:rowId xmlns:a16="http://schemas.microsoft.com/office/drawing/2014/main" val="1055219333"/>
                  </a:ext>
                </a:extLst>
              </a:tr>
              <a:tr h="329179">
                <a:tc>
                  <a:txBody>
                    <a:bodyPr/>
                    <a:lstStyle/>
                    <a:p>
                      <a:r>
                        <a:rPr lang="en-US" altLang="ko-KR" sz="1000"/>
                        <a:t>9</a:t>
                      </a:r>
                      <a:r>
                        <a:rPr lang="ko-KR" altLang="en-US" sz="1000"/>
                        <a:t>월 </a:t>
                      </a:r>
                      <a:r>
                        <a:rPr lang="en-US" altLang="ko-KR" sz="1000"/>
                        <a:t>17</a:t>
                      </a:r>
                      <a:r>
                        <a:rPr lang="ko-KR" altLang="en-US" sz="1000"/>
                        <a:t>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화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법정 공휴일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추석</a:t>
                      </a:r>
                    </a:p>
                  </a:txBody>
                  <a:tcPr marL="23132" marR="23132" marT="11566" marB="11566" anchor="ctr"/>
                </a:tc>
                <a:extLst>
                  <a:ext uri="{0D108BD9-81ED-4DB2-BD59-A6C34878D82A}">
                    <a16:rowId xmlns:a16="http://schemas.microsoft.com/office/drawing/2014/main" val="2123843639"/>
                  </a:ext>
                </a:extLst>
              </a:tr>
              <a:tr h="329179">
                <a:tc>
                  <a:txBody>
                    <a:bodyPr/>
                    <a:lstStyle/>
                    <a:p>
                      <a:r>
                        <a:rPr lang="en-US" altLang="ko-KR" sz="1000"/>
                        <a:t>9</a:t>
                      </a:r>
                      <a:r>
                        <a:rPr lang="ko-KR" altLang="en-US" sz="1000"/>
                        <a:t>월 </a:t>
                      </a:r>
                      <a:r>
                        <a:rPr lang="en-US" altLang="ko-KR" sz="1000"/>
                        <a:t>18</a:t>
                      </a:r>
                      <a:r>
                        <a:rPr lang="ko-KR" altLang="en-US" sz="1000"/>
                        <a:t>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수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법정 공휴일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추석 연휴</a:t>
                      </a:r>
                    </a:p>
                  </a:txBody>
                  <a:tcPr marL="23132" marR="23132" marT="11566" marB="11566" anchor="ctr"/>
                </a:tc>
                <a:extLst>
                  <a:ext uri="{0D108BD9-81ED-4DB2-BD59-A6C34878D82A}">
                    <a16:rowId xmlns:a16="http://schemas.microsoft.com/office/drawing/2014/main" val="2802258436"/>
                  </a:ext>
                </a:extLst>
              </a:tr>
              <a:tr h="329179">
                <a:tc>
                  <a:txBody>
                    <a:bodyPr/>
                    <a:lstStyle/>
                    <a:p>
                      <a:r>
                        <a:rPr lang="en-US" altLang="ko-KR" sz="1000"/>
                        <a:t>10</a:t>
                      </a:r>
                      <a:r>
                        <a:rPr lang="ko-KR" altLang="en-US" sz="1000"/>
                        <a:t>월 </a:t>
                      </a:r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목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법정 공휴일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개천절</a:t>
                      </a:r>
                    </a:p>
                  </a:txBody>
                  <a:tcPr marL="23132" marR="23132" marT="11566" marB="11566" anchor="ctr"/>
                </a:tc>
                <a:extLst>
                  <a:ext uri="{0D108BD9-81ED-4DB2-BD59-A6C34878D82A}">
                    <a16:rowId xmlns:a16="http://schemas.microsoft.com/office/drawing/2014/main" val="837542959"/>
                  </a:ext>
                </a:extLst>
              </a:tr>
              <a:tr h="329179">
                <a:tc>
                  <a:txBody>
                    <a:bodyPr/>
                    <a:lstStyle/>
                    <a:p>
                      <a:r>
                        <a:rPr lang="en-US" altLang="ko-KR" sz="1000"/>
                        <a:t>10</a:t>
                      </a:r>
                      <a:r>
                        <a:rPr lang="ko-KR" altLang="en-US" sz="1000"/>
                        <a:t>월 </a:t>
                      </a:r>
                      <a:r>
                        <a:rPr lang="en-US" altLang="ko-KR" sz="1000"/>
                        <a:t>9</a:t>
                      </a:r>
                      <a:r>
                        <a:rPr lang="ko-KR" altLang="en-US" sz="1000"/>
                        <a:t>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수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법정 공휴일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한글날</a:t>
                      </a:r>
                    </a:p>
                  </a:txBody>
                  <a:tcPr marL="23132" marR="23132" marT="11566" marB="11566" anchor="ctr"/>
                </a:tc>
                <a:extLst>
                  <a:ext uri="{0D108BD9-81ED-4DB2-BD59-A6C34878D82A}">
                    <a16:rowId xmlns:a16="http://schemas.microsoft.com/office/drawing/2014/main" val="3228480694"/>
                  </a:ext>
                </a:extLst>
              </a:tr>
            </a:tbl>
          </a:graphicData>
        </a:graphic>
      </p:graphicFrame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Train : </a:t>
            </a:r>
            <a:r>
              <a:rPr lang="en-US" altLang="ko-KR" dirty="0" smtClean="0">
                <a:solidFill>
                  <a:schemeClr val="accent4"/>
                </a:solidFill>
              </a:rPr>
              <a:t>14</a:t>
            </a:r>
            <a:r>
              <a:rPr lang="ko-KR" altLang="en-US" b="0" dirty="0" smtClean="0"/>
              <a:t>건</a:t>
            </a:r>
            <a:r>
              <a:rPr lang="en-US" altLang="ko-KR" b="0" dirty="0" smtClean="0"/>
              <a:t>, Test  : </a:t>
            </a:r>
            <a:r>
              <a:rPr lang="en-US" altLang="ko-KR" dirty="0" smtClean="0">
                <a:solidFill>
                  <a:schemeClr val="accent4"/>
                </a:solidFill>
              </a:rPr>
              <a:t>15</a:t>
            </a:r>
            <a:r>
              <a:rPr lang="ko-KR" altLang="en-US" b="0" dirty="0" smtClean="0"/>
              <a:t>건 </a:t>
            </a:r>
            <a:endParaRPr lang="en-US" altLang="ko-KR" b="0" dirty="0" smtClean="0"/>
          </a:p>
          <a:p>
            <a:r>
              <a:rPr lang="en-US" altLang="ko-KR" b="0" dirty="0" smtClean="0"/>
              <a:t>※ 2024</a:t>
            </a:r>
            <a:r>
              <a:rPr lang="ko-KR" altLang="en-US" b="0" dirty="0"/>
              <a:t>년 </a:t>
            </a:r>
            <a:r>
              <a:rPr lang="en-US" altLang="ko-KR" b="0" dirty="0"/>
              <a:t>6</a:t>
            </a:r>
            <a:r>
              <a:rPr lang="ko-KR" altLang="en-US" b="0" dirty="0"/>
              <a:t>월 </a:t>
            </a:r>
            <a:r>
              <a:rPr lang="en-US" altLang="ko-KR" b="0" dirty="0"/>
              <a:t>26</a:t>
            </a:r>
            <a:r>
              <a:rPr lang="ko-KR" altLang="en-US" b="0" dirty="0"/>
              <a:t>일부터 </a:t>
            </a:r>
            <a:r>
              <a:rPr lang="en-US" altLang="ko-KR" b="0" dirty="0"/>
              <a:t>2024</a:t>
            </a:r>
            <a:r>
              <a:rPr lang="ko-KR" altLang="en-US" b="0" dirty="0"/>
              <a:t>년 </a:t>
            </a:r>
            <a:r>
              <a:rPr lang="en-US" altLang="ko-KR" b="0" dirty="0"/>
              <a:t>11</a:t>
            </a:r>
            <a:r>
              <a:rPr lang="ko-KR" altLang="en-US" b="0" dirty="0"/>
              <a:t>월 </a:t>
            </a:r>
            <a:r>
              <a:rPr lang="en-US" altLang="ko-KR" b="0" dirty="0"/>
              <a:t>19</a:t>
            </a:r>
            <a:r>
              <a:rPr lang="ko-KR" altLang="en-US" b="0" dirty="0"/>
              <a:t>일까지 모든 공휴일</a:t>
            </a:r>
          </a:p>
        </p:txBody>
      </p:sp>
    </p:spTree>
    <p:extLst>
      <p:ext uri="{BB962C8B-B14F-4D97-AF65-F5344CB8AC3E}">
        <p14:creationId xmlns:p14="http://schemas.microsoft.com/office/powerpoint/2010/main" val="239748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/>
              <a:t>주말</a:t>
            </a:r>
            <a:r>
              <a:rPr lang="en-US" altLang="ko-KR" dirty="0"/>
              <a:t>, </a:t>
            </a:r>
            <a:r>
              <a:rPr lang="ko-KR" altLang="en-US" dirty="0"/>
              <a:t>공휴일</a:t>
            </a:r>
            <a:r>
              <a:rPr lang="en-US" altLang="ko-KR" dirty="0"/>
              <a:t>, </a:t>
            </a:r>
            <a:r>
              <a:rPr lang="ko-KR" altLang="en-US" dirty="0"/>
              <a:t>휴가</a:t>
            </a:r>
            <a:r>
              <a:rPr lang="en-US" altLang="ko-KR" dirty="0"/>
              <a:t>}</a:t>
            </a:r>
            <a:r>
              <a:rPr lang="ko-KR" altLang="en-US" dirty="0"/>
              <a:t>와 타겟과의 상관관계 </a:t>
            </a:r>
            <a:r>
              <a:rPr lang="ko-KR" altLang="en-US" dirty="0" smtClean="0"/>
              <a:t>분석 </a:t>
            </a:r>
            <a:r>
              <a:rPr lang="en-US" altLang="ko-KR" dirty="0" smtClean="0"/>
              <a:t>(2/)</a:t>
            </a:r>
            <a:endParaRPr lang="en-US" altLang="ko-KR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Q1(</a:t>
            </a:r>
            <a:r>
              <a:rPr lang="ko-KR" altLang="en-US" b="0" dirty="0" smtClean="0"/>
              <a:t>수면의 질</a:t>
            </a:r>
            <a:r>
              <a:rPr lang="en-US" altLang="ko-KR" b="0" dirty="0" smtClean="0"/>
              <a:t>) : 1 </a:t>
            </a:r>
            <a:r>
              <a:rPr lang="ko-KR" altLang="en-US" b="0" dirty="0" smtClean="0"/>
              <a:t>개인 평균 이상 </a:t>
            </a:r>
            <a:endParaRPr lang="ko-KR" altLang="en-US" b="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63" y="1196752"/>
            <a:ext cx="9223449" cy="288032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338063" y="4221088"/>
            <a:ext cx="9223449" cy="20882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 smtClean="0">
                <a:solidFill>
                  <a:schemeClr val="accent4"/>
                </a:solidFill>
              </a:rPr>
              <a:t>※ </a:t>
            </a:r>
            <a:r>
              <a:rPr lang="ko-KR" altLang="en-US" sz="1050" b="1" u="sng" dirty="0" smtClean="0">
                <a:solidFill>
                  <a:schemeClr val="accent4"/>
                </a:solidFill>
              </a:rPr>
              <a:t>공휴일 효과 존재 </a:t>
            </a:r>
            <a:endParaRPr lang="en-US" altLang="ko-KR" sz="1050" b="1" u="sng" dirty="0" smtClean="0">
              <a:solidFill>
                <a:schemeClr val="accent4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ko-KR" altLang="en-US" sz="1050" dirty="0" smtClean="0">
                <a:solidFill>
                  <a:schemeClr val="tx1"/>
                </a:solidFill>
              </a:rPr>
              <a:t>대부분의 </a:t>
            </a:r>
            <a:r>
              <a:rPr lang="ko-KR" altLang="en-US" sz="1050" dirty="0" err="1" smtClean="0">
                <a:solidFill>
                  <a:schemeClr val="tx1"/>
                </a:solidFill>
              </a:rPr>
              <a:t>설문자</a:t>
            </a:r>
            <a:r>
              <a:rPr lang="ko-KR" altLang="en-US" sz="1050" dirty="0" smtClean="0">
                <a:solidFill>
                  <a:schemeClr val="tx1"/>
                </a:solidFill>
              </a:rPr>
              <a:t> 들이 </a:t>
            </a:r>
            <a:r>
              <a:rPr lang="ko-KR" altLang="en-US" sz="1050" dirty="0" err="1" smtClean="0">
                <a:solidFill>
                  <a:schemeClr val="tx1"/>
                </a:solidFill>
              </a:rPr>
              <a:t>공휴일날</a:t>
            </a:r>
            <a:r>
              <a:rPr lang="ko-KR" altLang="en-US" sz="1050" dirty="0" smtClean="0">
                <a:solidFill>
                  <a:schemeClr val="tx1"/>
                </a:solidFill>
              </a:rPr>
              <a:t> 기상 직후 설문 시 </a:t>
            </a:r>
            <a:r>
              <a:rPr lang="en-US" altLang="ko-KR" sz="1050" dirty="0" smtClean="0">
                <a:solidFill>
                  <a:schemeClr val="tx1"/>
                </a:solidFill>
              </a:rPr>
              <a:t>Q1 </a:t>
            </a:r>
            <a:r>
              <a:rPr lang="ko-KR" altLang="en-US" sz="1050" dirty="0" smtClean="0">
                <a:solidFill>
                  <a:schemeClr val="tx1"/>
                </a:solidFill>
              </a:rPr>
              <a:t>설문에 대해서 </a:t>
            </a:r>
            <a:r>
              <a:rPr lang="en-US" altLang="ko-KR" sz="1050" dirty="0" smtClean="0">
                <a:solidFill>
                  <a:schemeClr val="tx1"/>
                </a:solidFill>
              </a:rPr>
              <a:t>1</a:t>
            </a:r>
            <a:r>
              <a:rPr lang="ko-KR" altLang="en-US" sz="1050" dirty="0" smtClean="0">
                <a:solidFill>
                  <a:schemeClr val="tx1"/>
                </a:solidFill>
              </a:rPr>
              <a:t>점 점수 부여 </a:t>
            </a:r>
            <a:endParaRPr lang="en-US" altLang="ko-KR" sz="1050" dirty="0" smtClean="0">
              <a:solidFill>
                <a:schemeClr val="tx1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endParaRPr lang="en-US" altLang="ko-KR" sz="1050" dirty="0" smtClean="0">
              <a:solidFill>
                <a:schemeClr val="tx1"/>
              </a:solidFill>
            </a:endParaRPr>
          </a:p>
          <a:p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720752" y="1412776"/>
            <a:ext cx="720080" cy="26642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/>
          <p:cNvGrpSpPr/>
          <p:nvPr/>
        </p:nvGrpSpPr>
        <p:grpSpPr>
          <a:xfrm>
            <a:off x="10065568" y="837175"/>
            <a:ext cx="7272808" cy="3668547"/>
            <a:chOff x="10281592" y="4725143"/>
            <a:chExt cx="7272808" cy="3668547"/>
          </a:xfrm>
        </p:grpSpPr>
        <p:sp>
          <p:nvSpPr>
            <p:cNvPr id="12" name="직사각형 11"/>
            <p:cNvSpPr/>
            <p:nvPr/>
          </p:nvSpPr>
          <p:spPr>
            <a:xfrm>
              <a:off x="10281592" y="4725143"/>
              <a:ext cx="7272808" cy="36685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25608" y="5378321"/>
              <a:ext cx="6924885" cy="2796832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10425608" y="4859868"/>
              <a:ext cx="1330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latin typeface="+mn-ea"/>
                  <a:ea typeface="+mn-ea"/>
                </a:rPr>
                <a:t>관측치 개수</a:t>
              </a:r>
              <a:endParaRPr lang="ko-KR" altLang="en-US" b="1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87124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/>
              <a:t>주말</a:t>
            </a:r>
            <a:r>
              <a:rPr lang="en-US" altLang="ko-KR" dirty="0"/>
              <a:t>, </a:t>
            </a:r>
            <a:r>
              <a:rPr lang="ko-KR" altLang="en-US" dirty="0"/>
              <a:t>공휴일</a:t>
            </a:r>
            <a:r>
              <a:rPr lang="en-US" altLang="ko-KR" dirty="0"/>
              <a:t>, </a:t>
            </a:r>
            <a:r>
              <a:rPr lang="ko-KR" altLang="en-US" dirty="0"/>
              <a:t>휴가</a:t>
            </a:r>
            <a:r>
              <a:rPr lang="en-US" altLang="ko-KR" dirty="0"/>
              <a:t>}</a:t>
            </a:r>
            <a:r>
              <a:rPr lang="ko-KR" altLang="en-US" dirty="0"/>
              <a:t>와 타겟과의 상관관계 </a:t>
            </a:r>
            <a:r>
              <a:rPr lang="ko-KR" altLang="en-US" dirty="0" smtClean="0"/>
              <a:t>분석 </a:t>
            </a:r>
            <a:r>
              <a:rPr lang="en-US" altLang="ko-KR" dirty="0" smtClean="0"/>
              <a:t>(3/)</a:t>
            </a:r>
            <a:endParaRPr lang="en-US" altLang="ko-KR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Q2(</a:t>
            </a:r>
            <a:r>
              <a:rPr lang="ko-KR" altLang="en-US" b="0" dirty="0" smtClean="0"/>
              <a:t>신체적 피로</a:t>
            </a:r>
            <a:r>
              <a:rPr lang="en-US" altLang="ko-KR" b="0" dirty="0" smtClean="0"/>
              <a:t>) : 1 </a:t>
            </a:r>
            <a:r>
              <a:rPr lang="ko-KR" altLang="en-US" b="0" dirty="0" smtClean="0"/>
              <a:t>낮은 피로  </a:t>
            </a:r>
            <a:endParaRPr lang="ko-KR" altLang="en-US" b="0" dirty="0"/>
          </a:p>
        </p:txBody>
      </p:sp>
      <p:sp>
        <p:nvSpPr>
          <p:cNvPr id="9" name="직사각형 8"/>
          <p:cNvSpPr/>
          <p:nvPr/>
        </p:nvSpPr>
        <p:spPr>
          <a:xfrm>
            <a:off x="338063" y="4509120"/>
            <a:ext cx="9223449" cy="1800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 smtClean="0">
                <a:solidFill>
                  <a:schemeClr val="accent4"/>
                </a:solidFill>
              </a:rPr>
              <a:t>※ </a:t>
            </a:r>
            <a:r>
              <a:rPr lang="ko-KR" altLang="en-US" sz="1050" b="1" u="sng" dirty="0" smtClean="0">
                <a:solidFill>
                  <a:schemeClr val="accent4"/>
                </a:solidFill>
              </a:rPr>
              <a:t>공휴일 효과 존재 </a:t>
            </a:r>
            <a:endParaRPr lang="en-US" altLang="ko-KR" sz="1050" b="1" u="sng" dirty="0" smtClean="0">
              <a:solidFill>
                <a:schemeClr val="accent4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ko-KR" altLang="en-US" sz="1050" dirty="0" smtClean="0">
                <a:solidFill>
                  <a:schemeClr val="tx1"/>
                </a:solidFill>
              </a:rPr>
              <a:t>대부분의 </a:t>
            </a:r>
            <a:r>
              <a:rPr lang="ko-KR" altLang="en-US" sz="1050" dirty="0" err="1" smtClean="0">
                <a:solidFill>
                  <a:schemeClr val="tx1"/>
                </a:solidFill>
              </a:rPr>
              <a:t>설문자</a:t>
            </a:r>
            <a:r>
              <a:rPr lang="ko-KR" altLang="en-US" sz="1050" dirty="0" smtClean="0">
                <a:solidFill>
                  <a:schemeClr val="tx1"/>
                </a:solidFill>
              </a:rPr>
              <a:t> 들이 </a:t>
            </a:r>
            <a:r>
              <a:rPr lang="ko-KR" altLang="en-US" sz="1050" dirty="0" err="1" smtClean="0">
                <a:solidFill>
                  <a:schemeClr val="tx1"/>
                </a:solidFill>
              </a:rPr>
              <a:t>공휴일날</a:t>
            </a:r>
            <a:r>
              <a:rPr lang="ko-KR" altLang="en-US" sz="1050" dirty="0" smtClean="0">
                <a:solidFill>
                  <a:schemeClr val="tx1"/>
                </a:solidFill>
              </a:rPr>
              <a:t> 기상 직후 설문 시 </a:t>
            </a:r>
            <a:r>
              <a:rPr lang="en-US" altLang="ko-KR" sz="1050" dirty="0" smtClean="0">
                <a:solidFill>
                  <a:schemeClr val="tx1"/>
                </a:solidFill>
              </a:rPr>
              <a:t>Q2 </a:t>
            </a:r>
            <a:r>
              <a:rPr lang="ko-KR" altLang="en-US" sz="1050" dirty="0" smtClean="0">
                <a:solidFill>
                  <a:schemeClr val="tx1"/>
                </a:solidFill>
              </a:rPr>
              <a:t>설문에 대해서 </a:t>
            </a:r>
            <a:r>
              <a:rPr lang="en-US" altLang="ko-KR" sz="1050" dirty="0" smtClean="0">
                <a:solidFill>
                  <a:schemeClr val="tx1"/>
                </a:solidFill>
              </a:rPr>
              <a:t>1</a:t>
            </a:r>
            <a:r>
              <a:rPr lang="ko-KR" altLang="en-US" sz="1050" dirty="0" smtClean="0">
                <a:solidFill>
                  <a:schemeClr val="tx1"/>
                </a:solidFill>
              </a:rPr>
              <a:t>점 점수 부여 </a:t>
            </a:r>
            <a:endParaRPr lang="en-US" altLang="ko-KR" sz="1050" dirty="0" smtClean="0">
              <a:solidFill>
                <a:schemeClr val="tx1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endParaRPr lang="en-US" altLang="ko-KR" sz="1050" dirty="0" smtClean="0">
              <a:solidFill>
                <a:schemeClr val="tx1"/>
              </a:solidFill>
            </a:endParaRPr>
          </a:p>
          <a:p>
            <a:endParaRPr lang="ko-KR" altLang="en-US" sz="1050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63" y="1186214"/>
            <a:ext cx="9223449" cy="3162834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2720752" y="1916832"/>
            <a:ext cx="648072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/>
          <p:cNvGrpSpPr/>
          <p:nvPr/>
        </p:nvGrpSpPr>
        <p:grpSpPr>
          <a:xfrm>
            <a:off x="10065568" y="837175"/>
            <a:ext cx="7272808" cy="3668547"/>
            <a:chOff x="10281592" y="4725143"/>
            <a:chExt cx="7272808" cy="3668547"/>
          </a:xfrm>
        </p:grpSpPr>
        <p:sp>
          <p:nvSpPr>
            <p:cNvPr id="12" name="직사각형 11"/>
            <p:cNvSpPr/>
            <p:nvPr/>
          </p:nvSpPr>
          <p:spPr>
            <a:xfrm>
              <a:off x="10281592" y="4725143"/>
              <a:ext cx="7272808" cy="36685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25608" y="5378321"/>
              <a:ext cx="6924885" cy="2796832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10425608" y="4859868"/>
              <a:ext cx="1330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latin typeface="+mn-ea"/>
                  <a:ea typeface="+mn-ea"/>
                </a:rPr>
                <a:t>관측치 개수</a:t>
              </a:r>
              <a:endParaRPr lang="ko-KR" altLang="en-US" b="1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59319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/>
              <a:t>주말</a:t>
            </a:r>
            <a:r>
              <a:rPr lang="en-US" altLang="ko-KR" dirty="0"/>
              <a:t>, </a:t>
            </a:r>
            <a:r>
              <a:rPr lang="ko-KR" altLang="en-US" dirty="0"/>
              <a:t>공휴일</a:t>
            </a:r>
            <a:r>
              <a:rPr lang="en-US" altLang="ko-KR" dirty="0"/>
              <a:t>, </a:t>
            </a:r>
            <a:r>
              <a:rPr lang="ko-KR" altLang="en-US" dirty="0"/>
              <a:t>휴가</a:t>
            </a:r>
            <a:r>
              <a:rPr lang="en-US" altLang="ko-KR" dirty="0"/>
              <a:t>}</a:t>
            </a:r>
            <a:r>
              <a:rPr lang="ko-KR" altLang="en-US" dirty="0"/>
              <a:t>와 타겟과의 상관관계 </a:t>
            </a:r>
            <a:r>
              <a:rPr lang="ko-KR" altLang="en-US" dirty="0" smtClean="0"/>
              <a:t>분석 </a:t>
            </a:r>
            <a:r>
              <a:rPr lang="en-US" altLang="ko-KR" dirty="0" smtClean="0"/>
              <a:t>(4/)</a:t>
            </a:r>
            <a:endParaRPr lang="en-US" altLang="ko-KR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Q3(</a:t>
            </a:r>
            <a:r>
              <a:rPr lang="ko-KR" altLang="en-US" b="0" dirty="0" smtClean="0"/>
              <a:t>스트레스</a:t>
            </a:r>
            <a:r>
              <a:rPr lang="en-US" altLang="ko-KR" b="0" dirty="0" smtClean="0"/>
              <a:t>) : 1 </a:t>
            </a:r>
            <a:r>
              <a:rPr lang="ko-KR" altLang="en-US" b="0" dirty="0" smtClean="0"/>
              <a:t>낮은 스트레스 </a:t>
            </a:r>
            <a:endParaRPr lang="ko-KR" altLang="en-US" b="0" dirty="0"/>
          </a:p>
        </p:txBody>
      </p:sp>
      <p:sp>
        <p:nvSpPr>
          <p:cNvPr id="9" name="직사각형 8"/>
          <p:cNvSpPr/>
          <p:nvPr/>
        </p:nvSpPr>
        <p:spPr>
          <a:xfrm>
            <a:off x="338063" y="4509120"/>
            <a:ext cx="9223449" cy="1800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 smtClean="0">
                <a:solidFill>
                  <a:schemeClr val="accent4"/>
                </a:solidFill>
              </a:rPr>
              <a:t>※ </a:t>
            </a:r>
            <a:r>
              <a:rPr lang="ko-KR" altLang="en-US" sz="1050" b="1" u="sng" dirty="0" smtClean="0">
                <a:solidFill>
                  <a:schemeClr val="accent4"/>
                </a:solidFill>
              </a:rPr>
              <a:t>공휴일</a:t>
            </a:r>
            <a:r>
              <a:rPr lang="en-US" altLang="ko-KR" sz="1050" b="1" u="sng" dirty="0" smtClean="0">
                <a:solidFill>
                  <a:schemeClr val="accent4"/>
                </a:solidFill>
              </a:rPr>
              <a:t>, </a:t>
            </a:r>
            <a:r>
              <a:rPr lang="ko-KR" altLang="en-US" sz="1050" b="1" u="sng" dirty="0" smtClean="0">
                <a:solidFill>
                  <a:schemeClr val="accent4"/>
                </a:solidFill>
              </a:rPr>
              <a:t>주말 효과 존재 </a:t>
            </a:r>
            <a:endParaRPr lang="en-US" altLang="ko-KR" sz="1050" b="1" u="sng" dirty="0" smtClean="0">
              <a:solidFill>
                <a:schemeClr val="accent4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ko-KR" altLang="en-US" sz="1050" dirty="0" smtClean="0">
                <a:solidFill>
                  <a:schemeClr val="tx1"/>
                </a:solidFill>
              </a:rPr>
              <a:t>대부분의 </a:t>
            </a:r>
            <a:r>
              <a:rPr lang="ko-KR" altLang="en-US" sz="1050" dirty="0" err="1" smtClean="0">
                <a:solidFill>
                  <a:schemeClr val="tx1"/>
                </a:solidFill>
              </a:rPr>
              <a:t>설문자</a:t>
            </a:r>
            <a:r>
              <a:rPr lang="ko-KR" altLang="en-US" sz="1050" dirty="0" smtClean="0">
                <a:solidFill>
                  <a:schemeClr val="tx1"/>
                </a:solidFill>
              </a:rPr>
              <a:t> 들이 </a:t>
            </a:r>
            <a:r>
              <a:rPr lang="en-US" altLang="ko-KR" sz="1050" b="1" u="sng" dirty="0" smtClean="0">
                <a:solidFill>
                  <a:srgbClr val="FF0000"/>
                </a:solidFill>
              </a:rPr>
              <a:t>(</a:t>
            </a:r>
            <a:r>
              <a:rPr lang="ko-KR" altLang="en-US" sz="1050" b="1" u="sng" dirty="0" smtClean="0">
                <a:solidFill>
                  <a:srgbClr val="FF0000"/>
                </a:solidFill>
              </a:rPr>
              <a:t>공휴일</a:t>
            </a:r>
            <a:r>
              <a:rPr lang="en-US" altLang="ko-KR" sz="1050" b="1" u="sng" dirty="0" smtClean="0">
                <a:solidFill>
                  <a:srgbClr val="FF0000"/>
                </a:solidFill>
              </a:rPr>
              <a:t>) &amp; (</a:t>
            </a:r>
            <a:r>
              <a:rPr lang="ko-KR" altLang="en-US" sz="1050" b="1" u="sng" dirty="0" smtClean="0">
                <a:solidFill>
                  <a:srgbClr val="FF0000"/>
                </a:solidFill>
              </a:rPr>
              <a:t>주말</a:t>
            </a:r>
            <a:r>
              <a:rPr lang="en-US" altLang="ko-KR" sz="1050" b="1" u="sng" dirty="0" smtClean="0">
                <a:solidFill>
                  <a:srgbClr val="FF0000"/>
                </a:solidFill>
              </a:rPr>
              <a:t>)</a:t>
            </a:r>
            <a:r>
              <a:rPr lang="ko-KR" altLang="en-US" sz="1050" b="1" u="sng" dirty="0" smtClean="0">
                <a:solidFill>
                  <a:srgbClr val="FF0000"/>
                </a:solidFill>
              </a:rPr>
              <a:t>에 </a:t>
            </a:r>
            <a:r>
              <a:rPr lang="ko-KR" altLang="en-US" sz="1050" dirty="0" smtClean="0">
                <a:solidFill>
                  <a:schemeClr val="tx1"/>
                </a:solidFill>
              </a:rPr>
              <a:t>기상 직후 설문 시 </a:t>
            </a:r>
            <a:r>
              <a:rPr lang="en-US" altLang="ko-KR" sz="1050" dirty="0" smtClean="0">
                <a:solidFill>
                  <a:schemeClr val="tx1"/>
                </a:solidFill>
              </a:rPr>
              <a:t>Q3 </a:t>
            </a:r>
            <a:r>
              <a:rPr lang="ko-KR" altLang="en-US" sz="1050" dirty="0" smtClean="0">
                <a:solidFill>
                  <a:schemeClr val="tx1"/>
                </a:solidFill>
              </a:rPr>
              <a:t>설문에 대해서 </a:t>
            </a:r>
            <a:r>
              <a:rPr lang="ko-KR" altLang="en-US" sz="1050" b="1" u="sng" dirty="0" smtClean="0">
                <a:solidFill>
                  <a:srgbClr val="FF0000"/>
                </a:solidFill>
              </a:rPr>
              <a:t>상대적으로 높은 점수</a:t>
            </a:r>
            <a:r>
              <a:rPr lang="ko-KR" altLang="en-US" sz="1050" dirty="0" smtClean="0">
                <a:solidFill>
                  <a:schemeClr val="tx1"/>
                </a:solidFill>
              </a:rPr>
              <a:t> 부여 </a:t>
            </a:r>
            <a:endParaRPr lang="en-US" altLang="ko-KR" sz="1050" dirty="0" smtClean="0">
              <a:solidFill>
                <a:schemeClr val="tx1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endParaRPr lang="en-US" altLang="ko-KR" sz="1050" dirty="0" smtClean="0">
              <a:solidFill>
                <a:schemeClr val="tx1"/>
              </a:solidFill>
            </a:endParaRPr>
          </a:p>
          <a:p>
            <a:endParaRPr lang="ko-KR" altLang="en-US" sz="1050" dirty="0">
              <a:solidFill>
                <a:schemeClr val="tx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62" y="1201526"/>
            <a:ext cx="9225619" cy="3163578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2720752" y="1412776"/>
            <a:ext cx="648072" cy="26642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601072" y="1412776"/>
            <a:ext cx="648072" cy="26642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/>
          <p:cNvGrpSpPr/>
          <p:nvPr/>
        </p:nvGrpSpPr>
        <p:grpSpPr>
          <a:xfrm>
            <a:off x="10065568" y="837175"/>
            <a:ext cx="7272808" cy="3668547"/>
            <a:chOff x="10281592" y="4725143"/>
            <a:chExt cx="7272808" cy="3668547"/>
          </a:xfrm>
        </p:grpSpPr>
        <p:sp>
          <p:nvSpPr>
            <p:cNvPr id="13" name="직사각형 12"/>
            <p:cNvSpPr/>
            <p:nvPr/>
          </p:nvSpPr>
          <p:spPr>
            <a:xfrm>
              <a:off x="10281592" y="4725143"/>
              <a:ext cx="7272808" cy="36685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25608" y="5378321"/>
              <a:ext cx="6924885" cy="2796832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0425608" y="4859868"/>
              <a:ext cx="1330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latin typeface="+mn-ea"/>
                  <a:ea typeface="+mn-ea"/>
                </a:rPr>
                <a:t>관측치 개수</a:t>
              </a:r>
              <a:endParaRPr lang="ko-KR" altLang="en-US" b="1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88416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/>
              <a:t>주말</a:t>
            </a:r>
            <a:r>
              <a:rPr lang="en-US" altLang="ko-KR" dirty="0"/>
              <a:t>, </a:t>
            </a:r>
            <a:r>
              <a:rPr lang="ko-KR" altLang="en-US" dirty="0"/>
              <a:t>공휴일</a:t>
            </a:r>
            <a:r>
              <a:rPr lang="en-US" altLang="ko-KR" dirty="0"/>
              <a:t>, </a:t>
            </a:r>
            <a:r>
              <a:rPr lang="ko-KR" altLang="en-US" dirty="0"/>
              <a:t>휴가</a:t>
            </a:r>
            <a:r>
              <a:rPr lang="en-US" altLang="ko-KR" dirty="0"/>
              <a:t>}</a:t>
            </a:r>
            <a:r>
              <a:rPr lang="ko-KR" altLang="en-US" dirty="0"/>
              <a:t>와 타겟과의 상관관계 </a:t>
            </a:r>
            <a:r>
              <a:rPr lang="ko-KR" altLang="en-US" dirty="0" smtClean="0"/>
              <a:t>분석 </a:t>
            </a:r>
            <a:r>
              <a:rPr lang="en-US" altLang="ko-KR" dirty="0" smtClean="0"/>
              <a:t>(5/)</a:t>
            </a:r>
            <a:endParaRPr lang="en-US" altLang="ko-KR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S1(</a:t>
            </a:r>
            <a:r>
              <a:rPr lang="ko-KR" altLang="en-US" b="0" dirty="0" smtClean="0"/>
              <a:t>총 수면시간</a:t>
            </a:r>
            <a:r>
              <a:rPr lang="en-US" altLang="ko-KR" b="0" dirty="0" smtClean="0"/>
              <a:t>) : 1,2 </a:t>
            </a:r>
            <a:r>
              <a:rPr lang="ko-KR" altLang="en-US" b="0" dirty="0" smtClean="0"/>
              <a:t>가이드라인 준수  </a:t>
            </a:r>
            <a:endParaRPr lang="ko-KR" altLang="en-US" b="0" dirty="0"/>
          </a:p>
        </p:txBody>
      </p:sp>
      <p:sp>
        <p:nvSpPr>
          <p:cNvPr id="9" name="직사각형 8"/>
          <p:cNvSpPr/>
          <p:nvPr/>
        </p:nvSpPr>
        <p:spPr>
          <a:xfrm>
            <a:off x="338063" y="4509120"/>
            <a:ext cx="9223449" cy="1800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>
                <a:solidFill>
                  <a:schemeClr val="accent4"/>
                </a:solidFill>
              </a:rPr>
              <a:t>※ </a:t>
            </a:r>
            <a:r>
              <a:rPr lang="ko-KR" altLang="en-US" sz="1050" b="1" u="sng" dirty="0">
                <a:solidFill>
                  <a:schemeClr val="accent4"/>
                </a:solidFill>
              </a:rPr>
              <a:t>주말 효과 존재 </a:t>
            </a:r>
            <a:endParaRPr lang="en-US" altLang="ko-KR" sz="1050" b="1" u="sng" dirty="0">
              <a:solidFill>
                <a:schemeClr val="accent4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en-US" altLang="ko-KR" sz="1050" dirty="0" smtClean="0">
                <a:solidFill>
                  <a:schemeClr val="tx1"/>
                </a:solidFill>
              </a:rPr>
              <a:t>S1 </a:t>
            </a:r>
            <a:r>
              <a:rPr lang="ko-KR" altLang="en-US" sz="1050" dirty="0" smtClean="0">
                <a:solidFill>
                  <a:schemeClr val="tx1"/>
                </a:solidFill>
              </a:rPr>
              <a:t>총 수면시간</a:t>
            </a:r>
            <a:r>
              <a:rPr lang="en-US" altLang="ko-KR" sz="1050" dirty="0" smtClean="0">
                <a:solidFill>
                  <a:schemeClr val="tx1"/>
                </a:solidFill>
              </a:rPr>
              <a:t>, </a:t>
            </a:r>
            <a:r>
              <a:rPr lang="ko-KR" altLang="en-US" sz="1050" dirty="0">
                <a:solidFill>
                  <a:schemeClr val="tx1"/>
                </a:solidFill>
              </a:rPr>
              <a:t>주말에 상대적으로 높음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204473"/>
            <a:ext cx="9217024" cy="3160631"/>
          </a:xfrm>
          <a:prstGeom prst="rect">
            <a:avLst/>
          </a:prstGeom>
        </p:spPr>
      </p:pic>
      <p:grpSp>
        <p:nvGrpSpPr>
          <p:cNvPr id="8" name="그룹 7"/>
          <p:cNvGrpSpPr/>
          <p:nvPr/>
        </p:nvGrpSpPr>
        <p:grpSpPr>
          <a:xfrm>
            <a:off x="10065568" y="837175"/>
            <a:ext cx="7272808" cy="3668547"/>
            <a:chOff x="10281592" y="4725143"/>
            <a:chExt cx="7272808" cy="3668547"/>
          </a:xfrm>
        </p:grpSpPr>
        <p:sp>
          <p:nvSpPr>
            <p:cNvPr id="10" name="직사각형 9"/>
            <p:cNvSpPr/>
            <p:nvPr/>
          </p:nvSpPr>
          <p:spPr>
            <a:xfrm>
              <a:off x="10281592" y="4725143"/>
              <a:ext cx="7272808" cy="36685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25608" y="5378321"/>
              <a:ext cx="6924885" cy="2796832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0425608" y="4859868"/>
              <a:ext cx="1330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latin typeface="+mn-ea"/>
                  <a:ea typeface="+mn-ea"/>
                </a:rPr>
                <a:t>관측치 개수</a:t>
              </a:r>
              <a:endParaRPr lang="ko-KR" altLang="en-US" b="1" dirty="0">
                <a:latin typeface="+mn-ea"/>
                <a:ea typeface="+mn-ea"/>
              </a:endParaRPr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3440832" y="4077072"/>
            <a:ext cx="1152128" cy="280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7851775" y="4077072"/>
            <a:ext cx="269577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6410995" y="4077072"/>
            <a:ext cx="1062285" cy="280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7622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/>
              <a:t>주말</a:t>
            </a:r>
            <a:r>
              <a:rPr lang="en-US" altLang="ko-KR" dirty="0"/>
              <a:t>, </a:t>
            </a:r>
            <a:r>
              <a:rPr lang="ko-KR" altLang="en-US" dirty="0"/>
              <a:t>공휴일</a:t>
            </a:r>
            <a:r>
              <a:rPr lang="en-US" altLang="ko-KR" dirty="0"/>
              <a:t>, </a:t>
            </a:r>
            <a:r>
              <a:rPr lang="ko-KR" altLang="en-US" dirty="0"/>
              <a:t>휴가</a:t>
            </a:r>
            <a:r>
              <a:rPr lang="en-US" altLang="ko-KR" dirty="0"/>
              <a:t>}</a:t>
            </a:r>
            <a:r>
              <a:rPr lang="ko-KR" altLang="en-US" dirty="0"/>
              <a:t>와 타겟과의 상관관계 </a:t>
            </a:r>
            <a:r>
              <a:rPr lang="ko-KR" altLang="en-US" dirty="0" smtClean="0"/>
              <a:t>분석 </a:t>
            </a:r>
            <a:r>
              <a:rPr lang="en-US" altLang="ko-KR" dirty="0" smtClean="0"/>
              <a:t>(6/)</a:t>
            </a:r>
            <a:endParaRPr lang="en-US" altLang="ko-KR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S2 (</a:t>
            </a:r>
            <a:r>
              <a:rPr lang="ko-KR" altLang="en-US" b="0" dirty="0" smtClean="0"/>
              <a:t>수면 효율</a:t>
            </a:r>
            <a:r>
              <a:rPr lang="en-US" altLang="ko-KR" b="0" dirty="0" smtClean="0"/>
              <a:t>) : 1 </a:t>
            </a:r>
            <a:r>
              <a:rPr lang="ko-KR" altLang="en-US" b="0" dirty="0" smtClean="0"/>
              <a:t>가이드라인 준수  </a:t>
            </a:r>
            <a:endParaRPr lang="ko-KR" altLang="en-US" b="0" dirty="0"/>
          </a:p>
        </p:txBody>
      </p:sp>
      <p:sp>
        <p:nvSpPr>
          <p:cNvPr id="9" name="직사각형 8"/>
          <p:cNvSpPr/>
          <p:nvPr/>
        </p:nvSpPr>
        <p:spPr>
          <a:xfrm>
            <a:off x="338063" y="4509120"/>
            <a:ext cx="9223449" cy="1800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 smtClean="0">
                <a:solidFill>
                  <a:schemeClr val="accent4"/>
                </a:solidFill>
              </a:rPr>
              <a:t>※ </a:t>
            </a:r>
            <a:r>
              <a:rPr lang="ko-KR" altLang="en-US" sz="1050" b="1" u="sng" dirty="0" smtClean="0">
                <a:solidFill>
                  <a:schemeClr val="accent4"/>
                </a:solidFill>
              </a:rPr>
              <a:t>주말 효과 존재 </a:t>
            </a:r>
            <a:endParaRPr lang="en-US" altLang="ko-KR" sz="1050" b="1" u="sng" dirty="0" smtClean="0">
              <a:solidFill>
                <a:schemeClr val="accent4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en-US" altLang="ko-KR" sz="1050" dirty="0" smtClean="0">
                <a:solidFill>
                  <a:schemeClr val="tx1"/>
                </a:solidFill>
              </a:rPr>
              <a:t>S2 </a:t>
            </a:r>
            <a:r>
              <a:rPr lang="ko-KR" altLang="en-US" sz="1050" dirty="0" smtClean="0">
                <a:solidFill>
                  <a:schemeClr val="tx1"/>
                </a:solidFill>
              </a:rPr>
              <a:t>수면 효율 관련 점수</a:t>
            </a:r>
            <a:r>
              <a:rPr lang="en-US" altLang="ko-KR" sz="1050" dirty="0" smtClean="0">
                <a:solidFill>
                  <a:schemeClr val="tx1"/>
                </a:solidFill>
              </a:rPr>
              <a:t>, </a:t>
            </a:r>
            <a:r>
              <a:rPr lang="ko-KR" altLang="en-US" sz="1050" dirty="0" smtClean="0">
                <a:solidFill>
                  <a:schemeClr val="tx1"/>
                </a:solidFill>
              </a:rPr>
              <a:t>주말에 상대적으로 높음 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196752"/>
            <a:ext cx="9217024" cy="3160631"/>
          </a:xfrm>
          <a:prstGeom prst="rect">
            <a:avLst/>
          </a:prstGeom>
        </p:spPr>
      </p:pic>
      <p:grpSp>
        <p:nvGrpSpPr>
          <p:cNvPr id="12" name="그룹 11"/>
          <p:cNvGrpSpPr/>
          <p:nvPr/>
        </p:nvGrpSpPr>
        <p:grpSpPr>
          <a:xfrm>
            <a:off x="10065568" y="837175"/>
            <a:ext cx="7272808" cy="3668547"/>
            <a:chOff x="10281592" y="4725143"/>
            <a:chExt cx="7272808" cy="3668547"/>
          </a:xfrm>
        </p:grpSpPr>
        <p:sp>
          <p:nvSpPr>
            <p:cNvPr id="8" name="직사각형 7"/>
            <p:cNvSpPr/>
            <p:nvPr/>
          </p:nvSpPr>
          <p:spPr>
            <a:xfrm>
              <a:off x="10281592" y="4725143"/>
              <a:ext cx="7272808" cy="36685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25608" y="5378321"/>
              <a:ext cx="6924885" cy="2796832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10425608" y="4859868"/>
              <a:ext cx="1330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latin typeface="+mn-ea"/>
                  <a:ea typeface="+mn-ea"/>
                </a:rPr>
                <a:t>관측치 개수</a:t>
              </a:r>
              <a:endParaRPr lang="ko-KR" altLang="en-US" b="1" dirty="0">
                <a:latin typeface="+mn-ea"/>
                <a:ea typeface="+mn-ea"/>
              </a:endParaRPr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3440832" y="4077072"/>
            <a:ext cx="1152128" cy="280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7027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/>
              <a:t>주말</a:t>
            </a:r>
            <a:r>
              <a:rPr lang="en-US" altLang="ko-KR" dirty="0"/>
              <a:t>, </a:t>
            </a:r>
            <a:r>
              <a:rPr lang="ko-KR" altLang="en-US" dirty="0"/>
              <a:t>공휴일</a:t>
            </a:r>
            <a:r>
              <a:rPr lang="en-US" altLang="ko-KR" dirty="0"/>
              <a:t>, </a:t>
            </a:r>
            <a:r>
              <a:rPr lang="ko-KR" altLang="en-US" dirty="0"/>
              <a:t>휴가</a:t>
            </a:r>
            <a:r>
              <a:rPr lang="en-US" altLang="ko-KR" dirty="0"/>
              <a:t>}</a:t>
            </a:r>
            <a:r>
              <a:rPr lang="ko-KR" altLang="en-US" dirty="0"/>
              <a:t>와 타겟과의 상관관계 </a:t>
            </a:r>
            <a:r>
              <a:rPr lang="ko-KR" altLang="en-US" dirty="0" smtClean="0"/>
              <a:t>분석 </a:t>
            </a:r>
            <a:r>
              <a:rPr lang="en-US" altLang="ko-KR" dirty="0" smtClean="0"/>
              <a:t>(7/)</a:t>
            </a:r>
            <a:endParaRPr lang="en-US" altLang="ko-KR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S3 (</a:t>
            </a:r>
            <a:r>
              <a:rPr lang="ko-KR" altLang="en-US" b="0" dirty="0" smtClean="0"/>
              <a:t>수면 지연 시간</a:t>
            </a:r>
            <a:r>
              <a:rPr lang="en-US" altLang="ko-KR" b="0" dirty="0" smtClean="0"/>
              <a:t>) : 1 </a:t>
            </a:r>
            <a:r>
              <a:rPr lang="ko-KR" altLang="en-US" b="0" dirty="0" smtClean="0"/>
              <a:t>가이드라인 준수  </a:t>
            </a:r>
            <a:endParaRPr lang="ko-KR" altLang="en-US" b="0" dirty="0"/>
          </a:p>
        </p:txBody>
      </p:sp>
      <p:sp>
        <p:nvSpPr>
          <p:cNvPr id="9" name="직사각형 8"/>
          <p:cNvSpPr/>
          <p:nvPr/>
        </p:nvSpPr>
        <p:spPr>
          <a:xfrm>
            <a:off x="338063" y="4509120"/>
            <a:ext cx="9223449" cy="1800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 smtClean="0">
                <a:solidFill>
                  <a:schemeClr val="accent4"/>
                </a:solidFill>
              </a:rPr>
              <a:t>※ </a:t>
            </a:r>
            <a:r>
              <a:rPr lang="ko-KR" altLang="en-US" sz="1050" b="1" u="sng" dirty="0" smtClean="0">
                <a:solidFill>
                  <a:schemeClr val="accent4"/>
                </a:solidFill>
              </a:rPr>
              <a:t>공휴일 </a:t>
            </a:r>
            <a:r>
              <a:rPr lang="ko-KR" altLang="en-US" sz="1050" b="1" u="sng" dirty="0">
                <a:solidFill>
                  <a:schemeClr val="accent4"/>
                </a:solidFill>
              </a:rPr>
              <a:t>효과</a:t>
            </a:r>
            <a:endParaRPr lang="en-US" altLang="ko-KR" sz="1050" b="1" u="sng" dirty="0" smtClean="0">
              <a:solidFill>
                <a:schemeClr val="accent4"/>
              </a:solidFill>
            </a:endParaRPr>
          </a:p>
          <a:p>
            <a:endParaRPr lang="en-US" altLang="ko-KR" sz="1050" b="1" u="sng" dirty="0" smtClean="0">
              <a:solidFill>
                <a:schemeClr val="accent4"/>
              </a:solidFill>
            </a:endParaRPr>
          </a:p>
          <a:p>
            <a:r>
              <a:rPr lang="ko-KR" altLang="en-US" sz="1050" b="1" u="sng" dirty="0" smtClean="0">
                <a:solidFill>
                  <a:schemeClr val="accent4"/>
                </a:solidFill>
              </a:rPr>
              <a:t>누우면 자는 사람</a:t>
            </a:r>
            <a:r>
              <a:rPr lang="en-US" altLang="ko-KR" sz="1050" b="1" u="sng" dirty="0" smtClean="0">
                <a:solidFill>
                  <a:schemeClr val="accent4"/>
                </a:solidFill>
              </a:rPr>
              <a:t>, </a:t>
            </a:r>
            <a:r>
              <a:rPr lang="ko-KR" altLang="en-US" sz="1050" b="1" u="sng" dirty="0" smtClean="0">
                <a:solidFill>
                  <a:schemeClr val="accent4"/>
                </a:solidFill>
              </a:rPr>
              <a:t>가이드 라인 준수 안하는데 공휴일에만 가이드 라인 준수 함 </a:t>
            </a:r>
            <a:r>
              <a:rPr lang="en-US" altLang="ko-KR" sz="1050" b="1" u="sng" dirty="0" smtClean="0">
                <a:solidFill>
                  <a:schemeClr val="accent4"/>
                </a:solidFill>
              </a:rPr>
              <a:t>(</a:t>
            </a:r>
            <a:r>
              <a:rPr lang="ko-KR" altLang="en-US" sz="1050" b="1" u="sng" dirty="0" smtClean="0">
                <a:solidFill>
                  <a:schemeClr val="accent4"/>
                </a:solidFill>
              </a:rPr>
              <a:t>특이 케이스</a:t>
            </a:r>
            <a:r>
              <a:rPr lang="en-US" altLang="ko-KR" sz="1050" b="1" u="sng" dirty="0" smtClean="0">
                <a:solidFill>
                  <a:schemeClr val="accent4"/>
                </a:solidFill>
              </a:rPr>
              <a:t>)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13" y="1195986"/>
            <a:ext cx="9213999" cy="3159593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10065568" y="837175"/>
            <a:ext cx="7272808" cy="3668547"/>
            <a:chOff x="10281592" y="4725143"/>
            <a:chExt cx="7272808" cy="3668547"/>
          </a:xfrm>
        </p:grpSpPr>
        <p:sp>
          <p:nvSpPr>
            <p:cNvPr id="8" name="직사각형 7"/>
            <p:cNvSpPr/>
            <p:nvPr/>
          </p:nvSpPr>
          <p:spPr>
            <a:xfrm>
              <a:off x="10281592" y="4725143"/>
              <a:ext cx="7272808" cy="36685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25608" y="5378321"/>
              <a:ext cx="6924885" cy="2796832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10425608" y="4859868"/>
              <a:ext cx="1330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latin typeface="+mn-ea"/>
                  <a:ea typeface="+mn-ea"/>
                </a:rPr>
                <a:t>관측치 개수</a:t>
              </a:r>
              <a:endParaRPr lang="ko-KR" altLang="en-US" b="1" dirty="0">
                <a:latin typeface="+mn-ea"/>
                <a:ea typeface="+mn-ea"/>
              </a:endParaRPr>
            </a:p>
          </p:txBody>
        </p:sp>
      </p:grpSp>
      <p:sp>
        <p:nvSpPr>
          <p:cNvPr id="12" name="직사각형 11"/>
          <p:cNvSpPr/>
          <p:nvPr/>
        </p:nvSpPr>
        <p:spPr>
          <a:xfrm>
            <a:off x="347513" y="2721620"/>
            <a:ext cx="9213999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3591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/>
              <a:t>계절</a:t>
            </a:r>
            <a:r>
              <a:rPr lang="en-US" altLang="ko-KR" dirty="0"/>
              <a:t>/</a:t>
            </a:r>
            <a:r>
              <a:rPr lang="ko-KR" altLang="en-US" dirty="0" smtClean="0"/>
              <a:t>월</a:t>
            </a:r>
            <a:r>
              <a:rPr lang="en-US" altLang="ko-KR" dirty="0" smtClean="0"/>
              <a:t>}</a:t>
            </a:r>
            <a:r>
              <a:rPr lang="ko-KR" altLang="en-US" dirty="0"/>
              <a:t>과 타겟과의 상관관계 분석 </a:t>
            </a:r>
            <a:endParaRPr lang="en-US" altLang="ko-KR" dirty="0"/>
          </a:p>
        </p:txBody>
      </p:sp>
      <p:sp>
        <p:nvSpPr>
          <p:cNvPr id="4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447272"/>
          </a:xfrm>
        </p:spPr>
        <p:txBody>
          <a:bodyPr/>
          <a:lstStyle/>
          <a:p>
            <a:r>
              <a:rPr lang="en-US" altLang="ko-KR" sz="1100" b="0" dirty="0" smtClean="0"/>
              <a:t>Q1(</a:t>
            </a:r>
            <a:r>
              <a:rPr lang="ko-KR" altLang="en-US" sz="1100" b="0" dirty="0" err="1" smtClean="0"/>
              <a:t>수면의질</a:t>
            </a:r>
            <a:r>
              <a:rPr lang="en-US" altLang="ko-KR" sz="1100" b="0" dirty="0" smtClean="0"/>
              <a:t>) </a:t>
            </a:r>
            <a:r>
              <a:rPr lang="en-US" altLang="ko-KR" sz="1100" b="0" dirty="0" smtClean="0">
                <a:solidFill>
                  <a:srgbClr val="FF0000"/>
                </a:solidFill>
              </a:rPr>
              <a:t>: 7-8</a:t>
            </a:r>
            <a:r>
              <a:rPr lang="ko-KR" altLang="en-US" sz="1100" b="0" dirty="0" smtClean="0">
                <a:solidFill>
                  <a:srgbClr val="FF0000"/>
                </a:solidFill>
              </a:rPr>
              <a:t>월 하락했다가 </a:t>
            </a:r>
            <a:r>
              <a:rPr lang="en-US" altLang="ko-KR" sz="1100" b="0" dirty="0" smtClean="0">
                <a:solidFill>
                  <a:srgbClr val="FF0000"/>
                </a:solidFill>
              </a:rPr>
              <a:t>9</a:t>
            </a:r>
            <a:r>
              <a:rPr lang="ko-KR" altLang="en-US" sz="1100" b="0" dirty="0" smtClean="0">
                <a:solidFill>
                  <a:srgbClr val="FF0000"/>
                </a:solidFill>
              </a:rPr>
              <a:t>월 이후 상승</a:t>
            </a:r>
            <a:endParaRPr lang="en-US" altLang="ko-KR" sz="1100" b="0" dirty="0" smtClean="0">
              <a:solidFill>
                <a:srgbClr val="FF0000"/>
              </a:solidFill>
            </a:endParaRPr>
          </a:p>
          <a:p>
            <a:r>
              <a:rPr lang="en-US" altLang="ko-KR" sz="1100" b="0" dirty="0" smtClean="0"/>
              <a:t>Q2(</a:t>
            </a:r>
            <a:r>
              <a:rPr lang="ko-KR" altLang="en-US" sz="1100" b="0" dirty="0" err="1" smtClean="0"/>
              <a:t>취짐</a:t>
            </a:r>
            <a:r>
              <a:rPr lang="ko-KR" altLang="en-US" sz="1100" b="0" dirty="0" smtClean="0"/>
              <a:t> 직전 신체적 피로</a:t>
            </a:r>
            <a:r>
              <a:rPr lang="en-US" altLang="ko-KR" sz="1100" b="0" dirty="0" smtClean="0"/>
              <a:t>) :</a:t>
            </a:r>
          </a:p>
          <a:p>
            <a:r>
              <a:rPr lang="en-US" altLang="ko-KR" sz="1100" b="0" dirty="0" smtClean="0"/>
              <a:t>Q3(</a:t>
            </a:r>
            <a:r>
              <a:rPr lang="ko-KR" altLang="en-US" sz="1100" b="0" dirty="0" err="1" smtClean="0"/>
              <a:t>취짐</a:t>
            </a:r>
            <a:r>
              <a:rPr lang="ko-KR" altLang="en-US" sz="1100" b="0" dirty="0" smtClean="0"/>
              <a:t> 직전 스트레스</a:t>
            </a:r>
            <a:r>
              <a:rPr lang="en-US" altLang="ko-KR" sz="1100" b="0" dirty="0" smtClean="0"/>
              <a:t>) :</a:t>
            </a:r>
          </a:p>
          <a:p>
            <a:r>
              <a:rPr lang="en-US" altLang="ko-KR" sz="1100" b="0" dirty="0" smtClean="0"/>
              <a:t>S1(</a:t>
            </a:r>
            <a:r>
              <a:rPr lang="ko-KR" altLang="en-US" sz="1100" b="0" dirty="0" smtClean="0"/>
              <a:t>수면 시간</a:t>
            </a:r>
            <a:r>
              <a:rPr lang="en-US" altLang="ko-KR" sz="1100" b="0" dirty="0" smtClean="0"/>
              <a:t>) : </a:t>
            </a:r>
            <a:r>
              <a:rPr lang="en-US" altLang="ko-KR" sz="1100" b="0" dirty="0" smtClean="0">
                <a:solidFill>
                  <a:srgbClr val="FF0000"/>
                </a:solidFill>
              </a:rPr>
              <a:t>7</a:t>
            </a:r>
            <a:r>
              <a:rPr lang="ko-KR" altLang="en-US" sz="1100" b="0" dirty="0" smtClean="0">
                <a:solidFill>
                  <a:srgbClr val="FF0000"/>
                </a:solidFill>
              </a:rPr>
              <a:t>월</a:t>
            </a:r>
            <a:r>
              <a:rPr lang="en-US" altLang="ko-KR" sz="1100" b="0" dirty="0" smtClean="0">
                <a:solidFill>
                  <a:srgbClr val="FF0000"/>
                </a:solidFill>
              </a:rPr>
              <a:t>-8</a:t>
            </a:r>
            <a:r>
              <a:rPr lang="ko-KR" altLang="en-US" sz="1100" b="0" dirty="0" smtClean="0">
                <a:solidFill>
                  <a:srgbClr val="FF0000"/>
                </a:solidFill>
              </a:rPr>
              <a:t>월에 하락했다가 </a:t>
            </a:r>
            <a:r>
              <a:rPr lang="en-US" altLang="ko-KR" sz="1100" b="0" dirty="0" smtClean="0">
                <a:solidFill>
                  <a:srgbClr val="FF0000"/>
                </a:solidFill>
              </a:rPr>
              <a:t>9</a:t>
            </a:r>
            <a:r>
              <a:rPr lang="ko-KR" altLang="en-US" sz="1100" b="0" dirty="0" smtClean="0">
                <a:solidFill>
                  <a:srgbClr val="FF0000"/>
                </a:solidFill>
              </a:rPr>
              <a:t>월 이후 상승 </a:t>
            </a:r>
            <a:endParaRPr lang="en-US" altLang="ko-KR" sz="1100" b="0" dirty="0" smtClean="0">
              <a:solidFill>
                <a:srgbClr val="FF0000"/>
              </a:solidFill>
            </a:endParaRPr>
          </a:p>
          <a:p>
            <a:r>
              <a:rPr lang="en-US" altLang="ko-KR" sz="1100" b="0" dirty="0" smtClean="0"/>
              <a:t>S2(</a:t>
            </a:r>
            <a:r>
              <a:rPr lang="ko-KR" altLang="en-US" sz="1100" b="0" dirty="0" smtClean="0"/>
              <a:t>수면 효율</a:t>
            </a:r>
            <a:r>
              <a:rPr lang="en-US" altLang="ko-KR" sz="1100" b="0" dirty="0" smtClean="0"/>
              <a:t>) :</a:t>
            </a:r>
          </a:p>
          <a:p>
            <a:r>
              <a:rPr lang="en-US" altLang="ko-KR" sz="1100" b="0" dirty="0" smtClean="0"/>
              <a:t>S3(</a:t>
            </a:r>
            <a:r>
              <a:rPr lang="ko-KR" altLang="en-US" sz="1100" b="0" dirty="0" smtClean="0"/>
              <a:t>수면 지연 시간</a:t>
            </a:r>
            <a:r>
              <a:rPr lang="en-US" altLang="ko-KR" sz="1100" b="0" dirty="0" smtClean="0"/>
              <a:t>) : 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452215" y="2340379"/>
            <a:ext cx="9001000" cy="3960440"/>
            <a:chOff x="-159568" y="1340768"/>
            <a:chExt cx="10460060" cy="4589337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59568" y="1340768"/>
              <a:ext cx="3368824" cy="2210710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89992" y="1342754"/>
              <a:ext cx="3368824" cy="2210710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46830" y="1340768"/>
              <a:ext cx="3384265" cy="2210710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159568" y="3695871"/>
              <a:ext cx="3382448" cy="2160240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46830" y="3695871"/>
              <a:ext cx="3417237" cy="2232248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89992" y="3702258"/>
              <a:ext cx="3410500" cy="2227847"/>
            </a:xfrm>
            <a:prstGeom prst="rect">
              <a:avLst/>
            </a:prstGeom>
          </p:spPr>
        </p:pic>
      </p:grpSp>
      <p:sp>
        <p:nvSpPr>
          <p:cNvPr id="14" name="직사각형 13"/>
          <p:cNvSpPr/>
          <p:nvPr/>
        </p:nvSpPr>
        <p:spPr>
          <a:xfrm>
            <a:off x="1023040" y="2351213"/>
            <a:ext cx="936104" cy="3885752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4052087" y="2351213"/>
            <a:ext cx="936104" cy="3885752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7127046" y="2351213"/>
            <a:ext cx="936104" cy="3885752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322408" y="2276872"/>
            <a:ext cx="396329" cy="1734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Q1</a:t>
            </a:r>
            <a:endParaRPr lang="ko-KR" altLang="en-US" sz="1000" dirty="0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3332535" y="2276872"/>
            <a:ext cx="396329" cy="1734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Q2</a:t>
            </a:r>
            <a:endParaRPr lang="ko-KR" altLang="en-US" sz="1000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6426414" y="2276872"/>
            <a:ext cx="396329" cy="1734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Q3</a:t>
            </a:r>
            <a:endParaRPr lang="ko-KR" altLang="en-US" sz="1000" dirty="0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322408" y="4327205"/>
            <a:ext cx="396329" cy="1734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S</a:t>
            </a:r>
            <a:r>
              <a:rPr lang="en-US" altLang="ko-KR" sz="1000" dirty="0" smtClean="0"/>
              <a:t>1</a:t>
            </a:r>
            <a:endParaRPr lang="ko-KR" altLang="en-US" sz="1000" dirty="0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3332535" y="4327205"/>
            <a:ext cx="396329" cy="1734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S</a:t>
            </a:r>
            <a:r>
              <a:rPr lang="en-US" altLang="ko-KR" sz="1000" dirty="0" smtClean="0"/>
              <a:t>2</a:t>
            </a:r>
            <a:endParaRPr lang="ko-KR" altLang="en-US" sz="1000" dirty="0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6426414" y="4327205"/>
            <a:ext cx="396329" cy="1734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S</a:t>
            </a:r>
            <a:r>
              <a:rPr lang="en-US" altLang="ko-KR" sz="1000" dirty="0" smtClean="0"/>
              <a:t>3</a:t>
            </a:r>
            <a:endParaRPr lang="ko-KR" altLang="en-US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1023040" y="62635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n-ea"/>
                <a:ea typeface="+mn-ea"/>
              </a:rPr>
              <a:t>7-8</a:t>
            </a:r>
            <a:r>
              <a:rPr lang="ko-KR" altLang="en-US" sz="1200" dirty="0" smtClean="0">
                <a:solidFill>
                  <a:srgbClr val="FF0000"/>
                </a:solidFill>
                <a:latin typeface="+mn-ea"/>
                <a:ea typeface="+mn-ea"/>
              </a:rPr>
              <a:t>월 여름</a:t>
            </a:r>
            <a:endParaRPr lang="ko-KR" altLang="en-US" sz="12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85380" y="62635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n-ea"/>
                <a:ea typeface="+mn-ea"/>
              </a:rPr>
              <a:t>7-8</a:t>
            </a:r>
            <a:r>
              <a:rPr lang="ko-KR" altLang="en-US" sz="1200" dirty="0" smtClean="0">
                <a:solidFill>
                  <a:srgbClr val="FF0000"/>
                </a:solidFill>
                <a:latin typeface="+mn-ea"/>
                <a:ea typeface="+mn-ea"/>
              </a:rPr>
              <a:t>월 여름</a:t>
            </a:r>
            <a:endParaRPr lang="ko-KR" altLang="en-US" sz="12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13240" y="62635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n-ea"/>
                <a:ea typeface="+mn-ea"/>
              </a:rPr>
              <a:t>7-8</a:t>
            </a:r>
            <a:r>
              <a:rPr lang="ko-KR" altLang="en-US" sz="1200" dirty="0" smtClean="0">
                <a:solidFill>
                  <a:srgbClr val="FF0000"/>
                </a:solidFill>
                <a:latin typeface="+mn-ea"/>
                <a:ea typeface="+mn-ea"/>
              </a:rPr>
              <a:t>월 여름</a:t>
            </a:r>
            <a:endParaRPr lang="ko-KR" altLang="en-US" sz="12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5187925" y="2180350"/>
            <a:ext cx="967798" cy="539871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solidFill>
                  <a:srgbClr val="FF0000"/>
                </a:solidFill>
              </a:rPr>
              <a:t>높을수록 </a:t>
            </a:r>
            <a:endParaRPr lang="en-US" altLang="ko-KR" sz="1050" dirty="0" smtClean="0">
              <a:solidFill>
                <a:srgbClr val="FF0000"/>
              </a:solidFill>
            </a:endParaRPr>
          </a:p>
          <a:p>
            <a:pPr algn="ctr"/>
            <a:r>
              <a:rPr lang="ko-KR" altLang="en-US" sz="1050" dirty="0" smtClean="0">
                <a:solidFill>
                  <a:srgbClr val="FF0000"/>
                </a:solidFill>
              </a:rPr>
              <a:t>신체적 피로 </a:t>
            </a:r>
            <a:r>
              <a:rPr lang="ko-KR" altLang="en-US" sz="1050" b="1" dirty="0" smtClean="0">
                <a:solidFill>
                  <a:srgbClr val="FF0000"/>
                </a:solidFill>
              </a:rPr>
              <a:t>낮은 </a:t>
            </a:r>
            <a:r>
              <a:rPr lang="ko-KR" altLang="en-US" sz="1050" dirty="0" smtClean="0">
                <a:solidFill>
                  <a:srgbClr val="FF0000"/>
                </a:solidFill>
              </a:rPr>
              <a:t>거임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8286642" y="2180350"/>
            <a:ext cx="967798" cy="539871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solidFill>
                  <a:srgbClr val="FF0000"/>
                </a:solidFill>
              </a:rPr>
              <a:t>높을수록 </a:t>
            </a:r>
            <a:endParaRPr lang="en-US" altLang="ko-KR" sz="1050" dirty="0" smtClean="0">
              <a:solidFill>
                <a:srgbClr val="FF0000"/>
              </a:solidFill>
            </a:endParaRPr>
          </a:p>
          <a:p>
            <a:pPr algn="ctr"/>
            <a:r>
              <a:rPr lang="ko-KR" altLang="en-US" sz="1050" dirty="0" smtClean="0">
                <a:solidFill>
                  <a:srgbClr val="FF0000"/>
                </a:solidFill>
              </a:rPr>
              <a:t>스트레스</a:t>
            </a:r>
            <a:endParaRPr lang="en-US" altLang="ko-KR" sz="1050" dirty="0" smtClean="0">
              <a:solidFill>
                <a:srgbClr val="FF0000"/>
              </a:solidFill>
            </a:endParaRPr>
          </a:p>
          <a:p>
            <a:pPr algn="ctr"/>
            <a:r>
              <a:rPr lang="ko-KR" altLang="en-US" sz="1050" dirty="0" smtClean="0">
                <a:solidFill>
                  <a:srgbClr val="FF0000"/>
                </a:solidFill>
              </a:rPr>
              <a:t>낮은 거임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2229392" y="2180350"/>
            <a:ext cx="967798" cy="539871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solidFill>
                  <a:srgbClr val="FF0000"/>
                </a:solidFill>
              </a:rPr>
              <a:t>높을수록 </a:t>
            </a:r>
            <a:endParaRPr lang="en-US" altLang="ko-KR" sz="1050" dirty="0" smtClean="0">
              <a:solidFill>
                <a:srgbClr val="FF0000"/>
              </a:solidFill>
            </a:endParaRPr>
          </a:p>
          <a:p>
            <a:pPr algn="ctr"/>
            <a:r>
              <a:rPr lang="ko-KR" altLang="en-US" sz="1050" dirty="0" smtClean="0">
                <a:solidFill>
                  <a:srgbClr val="FF0000"/>
                </a:solidFill>
              </a:rPr>
              <a:t>수면의 질</a:t>
            </a:r>
            <a:endParaRPr lang="en-US" altLang="ko-KR" sz="1050" dirty="0" smtClean="0">
              <a:solidFill>
                <a:srgbClr val="FF0000"/>
              </a:solidFill>
            </a:endParaRPr>
          </a:p>
          <a:p>
            <a:pPr algn="ctr"/>
            <a:r>
              <a:rPr lang="ko-KR" altLang="en-US" sz="1050" dirty="0" smtClean="0">
                <a:solidFill>
                  <a:srgbClr val="FF0000"/>
                </a:solidFill>
              </a:rPr>
              <a:t>좋은 거임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1488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-2679848" y="1412776"/>
            <a:ext cx="15121680" cy="50205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 err="1"/>
              <a:t>Sleeptime</a:t>
            </a:r>
            <a:r>
              <a:rPr lang="ko-KR" altLang="en-US" dirty="0"/>
              <a:t>에 일어난 </a:t>
            </a:r>
            <a:r>
              <a:rPr lang="ko-KR" altLang="en-US" dirty="0" smtClean="0"/>
              <a:t>시간 </a:t>
            </a:r>
            <a:r>
              <a:rPr lang="en-US" altLang="ko-KR" dirty="0" smtClean="0"/>
              <a:t>&amp; </a:t>
            </a:r>
            <a:r>
              <a:rPr lang="ko-KR" altLang="en-US" dirty="0" smtClean="0"/>
              <a:t>건수 비교</a:t>
            </a:r>
            <a:endParaRPr lang="en-US" altLang="ko-KR" dirty="0"/>
          </a:p>
        </p:txBody>
      </p:sp>
      <p:sp>
        <p:nvSpPr>
          <p:cNvPr id="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@@@@@</a:t>
            </a:r>
            <a:endParaRPr lang="ko-KR" altLang="en-US" b="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35832" y="1556792"/>
            <a:ext cx="8936363" cy="46368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192" y="1556792"/>
            <a:ext cx="5561400" cy="46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7892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-1383704" y="1412776"/>
            <a:ext cx="13825536" cy="50205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 err="1"/>
              <a:t>Sleeptime</a:t>
            </a:r>
            <a:r>
              <a:rPr lang="ko-KR" altLang="en-US" dirty="0"/>
              <a:t>에 </a:t>
            </a:r>
            <a:r>
              <a:rPr lang="ko-KR" altLang="en-US" dirty="0" smtClean="0"/>
              <a:t>일어나</a:t>
            </a:r>
            <a:r>
              <a:rPr lang="en-US" altLang="ko-KR" dirty="0" smtClean="0"/>
              <a:t> </a:t>
            </a:r>
            <a:r>
              <a:rPr lang="ko-KR" altLang="en-US" dirty="0" smtClean="0"/>
              <a:t>있는 시간 비교 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mlight</a:t>
            </a:r>
            <a:r>
              <a:rPr lang="en-US" altLang="ko-KR" dirty="0" smtClean="0"/>
              <a:t> vs </a:t>
            </a:r>
            <a:r>
              <a:rPr lang="en-US" altLang="ko-KR" dirty="0" err="1" smtClean="0"/>
              <a:t>wlight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  <p:sp>
        <p:nvSpPr>
          <p:cNvPr id="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/>
              <a:t>Id6,8,10,9</a:t>
            </a:r>
            <a:r>
              <a:rPr lang="ko-KR" altLang="en-US" b="0" dirty="0"/>
              <a:t>번 새벽에 자주 일어남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887" y="1536724"/>
            <a:ext cx="6234150" cy="46368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391" y="1536724"/>
            <a:ext cx="7198425" cy="46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0955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-1383704" y="1412776"/>
            <a:ext cx="13825536" cy="50205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 err="1"/>
              <a:t>Sleeptime</a:t>
            </a:r>
            <a:r>
              <a:rPr lang="ko-KR" altLang="en-US" dirty="0"/>
              <a:t>에 일어나</a:t>
            </a:r>
            <a:r>
              <a:rPr lang="en-US" altLang="ko-KR" dirty="0"/>
              <a:t> </a:t>
            </a:r>
            <a:r>
              <a:rPr lang="ko-KR" altLang="en-US" dirty="0"/>
              <a:t>있는 </a:t>
            </a:r>
            <a:r>
              <a:rPr lang="ko-KR" altLang="en-US" dirty="0" smtClean="0"/>
              <a:t>건수 </a:t>
            </a:r>
            <a:r>
              <a:rPr lang="ko-KR" altLang="en-US" dirty="0"/>
              <a:t>비교 </a:t>
            </a:r>
            <a:r>
              <a:rPr lang="en-US" altLang="ko-KR" dirty="0"/>
              <a:t>(</a:t>
            </a:r>
            <a:r>
              <a:rPr lang="en-US" altLang="ko-KR" dirty="0" err="1"/>
              <a:t>mlight</a:t>
            </a:r>
            <a:r>
              <a:rPr lang="en-US" altLang="ko-KR" dirty="0"/>
              <a:t> vs </a:t>
            </a:r>
            <a:r>
              <a:rPr lang="en-US" altLang="ko-KR" dirty="0" err="1"/>
              <a:t>wlight</a:t>
            </a:r>
            <a:r>
              <a:rPr lang="en-US" altLang="ko-KR" dirty="0"/>
              <a:t>)</a:t>
            </a:r>
          </a:p>
        </p:txBody>
      </p:sp>
      <p:sp>
        <p:nvSpPr>
          <p:cNvPr id="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Id6,8,10,9</a:t>
            </a:r>
            <a:r>
              <a:rPr lang="ko-KR" altLang="en-US" b="0" dirty="0" smtClean="0"/>
              <a:t>번 새벽에 자주 일어남 </a:t>
            </a:r>
            <a:endParaRPr lang="ko-KR" altLang="en-US" b="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7680" y="1576760"/>
            <a:ext cx="6279000" cy="46368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048" y="1556792"/>
            <a:ext cx="6884475" cy="46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2111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4"/>
          <p:cNvSpPr>
            <a:spLocks noGrp="1"/>
          </p:cNvSpPr>
          <p:nvPr>
            <p:ph idx="1"/>
          </p:nvPr>
        </p:nvSpPr>
        <p:spPr>
          <a:xfrm>
            <a:off x="560512" y="1373857"/>
            <a:ext cx="9145016" cy="522349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예측 타겟 중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F1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점수가 낮은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Q1, S1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탐색</a:t>
            </a:r>
            <a:endParaRPr lang="en-US" altLang="ko-KR" sz="14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타겟 데이터 탐색 </a:t>
            </a:r>
            <a:r>
              <a:rPr lang="en-US" altLang="ko-KR" sz="1600" dirty="0" smtClean="0"/>
              <a:t>- Q1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/>
              <a:t>타겟 데이터 탐색 </a:t>
            </a:r>
            <a:r>
              <a:rPr lang="en-US" altLang="ko-KR" sz="1600" dirty="0" smtClean="0"/>
              <a:t>- S1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블루투스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wifi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같은 </a:t>
            </a:r>
            <a:r>
              <a:rPr lang="ko-KR" altLang="en-US" sz="1600" dirty="0" err="1" smtClean="0"/>
              <a:t>기기신호와</a:t>
            </a:r>
            <a:r>
              <a:rPr lang="ko-KR" altLang="en-US" sz="1600" dirty="0" smtClean="0"/>
              <a:t> 타겟과의 상관관계 분석</a:t>
            </a:r>
            <a:endParaRPr lang="en-US" altLang="ko-KR" sz="1600" dirty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과도한 기기 사용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en-US" altLang="ko-KR" sz="1600" dirty="0" err="1" smtClean="0"/>
              <a:t>Sleeptime</a:t>
            </a:r>
            <a:r>
              <a:rPr lang="en-US" altLang="ko-KR" sz="1600" dirty="0" smtClean="0"/>
              <a:t>(00-05)</a:t>
            </a:r>
            <a:r>
              <a:rPr lang="ko-KR" altLang="en-US" sz="1600" dirty="0" smtClean="0"/>
              <a:t>에 행동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주변소음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코골이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뒤척임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새벽화장실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운동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걸음수</a:t>
            </a:r>
            <a:r>
              <a:rPr lang="ko-KR" altLang="en-US" sz="1600" dirty="0" smtClean="0"/>
              <a:t> 등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err="1" smtClean="0"/>
              <a:t>심박동수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계절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월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주말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공휴일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휴가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타겟과의 상관관계 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/>
              <a:t>이미지 분석 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err="1"/>
              <a:t>Sleeptime</a:t>
            </a:r>
            <a:r>
              <a:rPr lang="ko-KR" altLang="en-US" sz="1600" dirty="0"/>
              <a:t>에 일어난 건수 </a:t>
            </a:r>
            <a:r>
              <a:rPr lang="en-US" altLang="ko-KR" sz="1600" dirty="0"/>
              <a:t>(</a:t>
            </a:r>
            <a:r>
              <a:rPr lang="en-US" altLang="ko-KR" sz="1600" dirty="0" err="1"/>
              <a:t>wakeupcount</a:t>
            </a:r>
            <a:r>
              <a:rPr lang="en-US" altLang="ko-KR" sz="1600" dirty="0"/>
              <a:t>)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endParaRPr lang="ko-KR" altLang="en-US" sz="1600" dirty="0"/>
          </a:p>
          <a:p>
            <a:pPr marL="400050" indent="-400050">
              <a:lnSpc>
                <a:spcPct val="150000"/>
              </a:lnSpc>
              <a:buAutoNum type="romanUcPeriod"/>
            </a:pPr>
            <a:endParaRPr lang="ko-KR" altLang="en-US" sz="1600" dirty="0" smtClean="0"/>
          </a:p>
        </p:txBody>
      </p:sp>
      <p:sp>
        <p:nvSpPr>
          <p:cNvPr id="8" name="제목 5"/>
          <p:cNvSpPr>
            <a:spLocks noGrp="1"/>
          </p:cNvSpPr>
          <p:nvPr>
            <p:ph type="title"/>
          </p:nvPr>
        </p:nvSpPr>
        <p:spPr>
          <a:xfrm>
            <a:off x="488504" y="836712"/>
            <a:ext cx="4032448" cy="360040"/>
          </a:xfrm>
        </p:spPr>
        <p:txBody>
          <a:bodyPr/>
          <a:lstStyle/>
          <a:p>
            <a:r>
              <a:rPr lang="ko-KR" altLang="en-US" sz="2400" dirty="0" smtClean="0"/>
              <a:t>목차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60512" y="5490337"/>
            <a:ext cx="5976664" cy="432048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102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en-US" altLang="ko-KR" dirty="0" smtClean="0"/>
              <a:t>[7</a:t>
            </a:r>
            <a:r>
              <a:rPr lang="ko-KR" altLang="en-US" dirty="0" smtClean="0"/>
              <a:t>채널</a:t>
            </a:r>
            <a:r>
              <a:rPr lang="en-US" altLang="ko-KR" dirty="0" smtClean="0"/>
              <a:t>]</a:t>
            </a:r>
            <a:r>
              <a:rPr lang="ko-KR" altLang="en-US" dirty="0" smtClean="0"/>
              <a:t> </a:t>
            </a:r>
            <a:r>
              <a:rPr lang="en-US" altLang="ko-KR" dirty="0"/>
              <a:t>id01 </a:t>
            </a:r>
            <a:r>
              <a:rPr lang="en-US" altLang="ko-KR" dirty="0" smtClean="0"/>
              <a:t>2024-06-26 </a:t>
            </a:r>
            <a:r>
              <a:rPr lang="ko-KR" altLang="en-US" dirty="0" smtClean="0"/>
              <a:t>이미지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664" y="908720"/>
            <a:ext cx="5472608" cy="5472608"/>
          </a:xfrm>
          <a:prstGeom prst="rect">
            <a:avLst/>
          </a:prstGeom>
        </p:spPr>
      </p:pic>
      <p:sp>
        <p:nvSpPr>
          <p:cNvPr id="4" name="모서리가 둥근 직사각형 3"/>
          <p:cNvSpPr/>
          <p:nvPr/>
        </p:nvSpPr>
        <p:spPr>
          <a:xfrm>
            <a:off x="344488" y="980728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altitude</a:t>
            </a:r>
            <a:endParaRPr lang="ko-KR" altLang="en-US" sz="1200"/>
          </a:p>
        </p:txBody>
      </p:sp>
      <p:sp>
        <p:nvSpPr>
          <p:cNvPr id="6" name="모서리가 둥근 직사각형 5"/>
          <p:cNvSpPr/>
          <p:nvPr/>
        </p:nvSpPr>
        <p:spPr>
          <a:xfrm>
            <a:off x="344488" y="1741041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latitude (</a:t>
            </a:r>
            <a:r>
              <a:rPr lang="ko-KR" altLang="en-US" sz="1200" dirty="0"/>
              <a:t>스케일 적용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344488" y="2636912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longitude (</a:t>
            </a:r>
            <a:r>
              <a:rPr lang="ko-KR" altLang="en-US" sz="1200" dirty="0"/>
              <a:t>스케일 적용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344488" y="3429000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speed</a:t>
            </a:r>
            <a:endParaRPr lang="ko-KR" altLang="en-US" sz="1200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344488" y="4169876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heart_rate</a:t>
            </a:r>
            <a:endParaRPr lang="ko-KR" altLang="en-US" sz="1200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344488" y="4869160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m_activity</a:t>
            </a:r>
            <a:endParaRPr lang="ko-KR" altLang="en-US" sz="1200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344488" y="5805264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step</a:t>
            </a:r>
            <a:endParaRPr lang="ko-KR" altLang="en-US" sz="1200" dirty="0"/>
          </a:p>
        </p:txBody>
      </p:sp>
      <p:sp>
        <p:nvSpPr>
          <p:cNvPr id="12" name="직사각형 11"/>
          <p:cNvSpPr/>
          <p:nvPr/>
        </p:nvSpPr>
        <p:spPr>
          <a:xfrm>
            <a:off x="2394460" y="908720"/>
            <a:ext cx="1512168" cy="54726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2615782" y="680763"/>
            <a:ext cx="1069524" cy="3077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</a:rPr>
              <a:t>Sleep time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473280" y="3933056"/>
            <a:ext cx="2160240" cy="1080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dirty="0" smtClean="0">
                <a:solidFill>
                  <a:schemeClr val="tx1"/>
                </a:solidFill>
              </a:rPr>
              <a:t>코 거는 건가</a:t>
            </a:r>
            <a:r>
              <a:rPr lang="en-US" altLang="ko-KR" sz="1050" dirty="0" smtClean="0">
                <a:solidFill>
                  <a:schemeClr val="tx1"/>
                </a:solidFill>
              </a:rPr>
              <a:t>?</a:t>
            </a:r>
          </a:p>
          <a:p>
            <a:r>
              <a:rPr lang="ko-KR" altLang="en-US" sz="1050" dirty="0" smtClean="0">
                <a:solidFill>
                  <a:schemeClr val="tx1"/>
                </a:solidFill>
              </a:rPr>
              <a:t>잠자는데도 시계를 차고 자는 건가</a:t>
            </a:r>
            <a:r>
              <a:rPr lang="en-US" altLang="ko-KR" sz="1050" dirty="0" smtClean="0">
                <a:solidFill>
                  <a:schemeClr val="tx1"/>
                </a:solidFill>
              </a:rPr>
              <a:t>?</a:t>
            </a:r>
          </a:p>
          <a:p>
            <a:r>
              <a:rPr lang="ko-KR" altLang="en-US" sz="1050" dirty="0" smtClean="0">
                <a:solidFill>
                  <a:schemeClr val="tx1"/>
                </a:solidFill>
              </a:rPr>
              <a:t>센서가 어떻게 작동하지</a:t>
            </a:r>
            <a:r>
              <a:rPr lang="en-US" altLang="ko-KR" sz="1050" dirty="0" smtClean="0">
                <a:solidFill>
                  <a:schemeClr val="tx1"/>
                </a:solidFill>
              </a:rPr>
              <a:t>?   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3580336" y="2636912"/>
            <a:ext cx="504056" cy="544289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3433278" y="1100399"/>
            <a:ext cx="367594" cy="384386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7473280" y="1563307"/>
            <a:ext cx="2160240" cy="1080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dirty="0" smtClean="0">
                <a:solidFill>
                  <a:schemeClr val="tx1"/>
                </a:solidFill>
              </a:rPr>
              <a:t>움직인 건가</a:t>
            </a:r>
            <a:r>
              <a:rPr lang="en-US" altLang="ko-KR" sz="1050" dirty="0" smtClean="0">
                <a:solidFill>
                  <a:schemeClr val="tx1"/>
                </a:solidFill>
              </a:rPr>
              <a:t>? </a:t>
            </a:r>
            <a:r>
              <a:rPr lang="ko-KR" altLang="en-US" sz="1050" dirty="0" err="1" smtClean="0">
                <a:solidFill>
                  <a:schemeClr val="tx1"/>
                </a:solidFill>
              </a:rPr>
              <a:t>움직일때</a:t>
            </a:r>
            <a:r>
              <a:rPr lang="ko-KR" altLang="en-US" sz="1050" dirty="0" smtClean="0">
                <a:solidFill>
                  <a:schemeClr val="tx1"/>
                </a:solidFill>
              </a:rPr>
              <a:t> 핸드폰을 </a:t>
            </a:r>
            <a:endParaRPr lang="en-US" altLang="ko-KR" sz="1050" dirty="0" smtClean="0">
              <a:solidFill>
                <a:schemeClr val="tx1"/>
              </a:solidFill>
            </a:endParaRPr>
          </a:p>
          <a:p>
            <a:r>
              <a:rPr lang="ko-KR" altLang="en-US" sz="1050" dirty="0" smtClean="0">
                <a:solidFill>
                  <a:schemeClr val="tx1"/>
                </a:solidFill>
              </a:rPr>
              <a:t>들고 움직이나</a:t>
            </a:r>
            <a:r>
              <a:rPr lang="en-US" altLang="ko-KR" sz="1050" dirty="0" smtClean="0">
                <a:solidFill>
                  <a:schemeClr val="tx1"/>
                </a:solidFill>
              </a:rPr>
              <a:t>? 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19" name="직선 화살표 연결선 18"/>
          <p:cNvCxnSpPr>
            <a:stCxn id="17" idx="1"/>
            <a:endCxn id="16" idx="6"/>
          </p:cNvCxnSpPr>
          <p:nvPr/>
        </p:nvCxnSpPr>
        <p:spPr>
          <a:xfrm flipH="1" flipV="1">
            <a:off x="3800872" y="1292592"/>
            <a:ext cx="3672408" cy="8107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17" idx="1"/>
            <a:endCxn id="15" idx="6"/>
          </p:cNvCxnSpPr>
          <p:nvPr/>
        </p:nvCxnSpPr>
        <p:spPr>
          <a:xfrm flipH="1">
            <a:off x="4084392" y="2103367"/>
            <a:ext cx="3388888" cy="8056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22"/>
          <p:cNvSpPr/>
          <p:nvPr/>
        </p:nvSpPr>
        <p:spPr>
          <a:xfrm>
            <a:off x="3076280" y="4236975"/>
            <a:ext cx="504056" cy="544289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/>
          <p:cNvCxnSpPr>
            <a:stCxn id="14" idx="1"/>
          </p:cNvCxnSpPr>
          <p:nvPr/>
        </p:nvCxnSpPr>
        <p:spPr>
          <a:xfrm flipH="1">
            <a:off x="3617075" y="4473116"/>
            <a:ext cx="3856205" cy="360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1865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170" y="913202"/>
            <a:ext cx="5468126" cy="5468126"/>
          </a:xfrm>
          <a:prstGeom prst="rect">
            <a:avLst/>
          </a:prstGeom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en-US" altLang="ko-KR" dirty="0" smtClean="0"/>
              <a:t>[7</a:t>
            </a:r>
            <a:r>
              <a:rPr lang="ko-KR" altLang="en-US" dirty="0" smtClean="0"/>
              <a:t>채널</a:t>
            </a:r>
            <a:r>
              <a:rPr lang="en-US" altLang="ko-KR" dirty="0" smtClean="0"/>
              <a:t>]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sleeptime</a:t>
            </a:r>
            <a:r>
              <a:rPr lang="en-US" altLang="ko-KR" dirty="0" smtClean="0"/>
              <a:t> (00</a:t>
            </a:r>
            <a:r>
              <a:rPr lang="ko-KR" altLang="en-US" dirty="0" smtClean="0"/>
              <a:t>시부터 </a:t>
            </a:r>
            <a:r>
              <a:rPr lang="en-US" altLang="ko-KR" dirty="0" smtClean="0"/>
              <a:t>06</a:t>
            </a:r>
            <a:r>
              <a:rPr lang="ko-KR" altLang="en-US" dirty="0" smtClean="0"/>
              <a:t>까지</a:t>
            </a:r>
            <a:r>
              <a:rPr lang="en-US" altLang="ko-KR" dirty="0" smtClean="0"/>
              <a:t>) </a:t>
            </a:r>
            <a:r>
              <a:rPr lang="ko-KR" altLang="en-US" dirty="0" smtClean="0"/>
              <a:t>이미지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344488" y="980728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altitude</a:t>
            </a:r>
            <a:endParaRPr lang="ko-KR" altLang="en-US" sz="1200"/>
          </a:p>
        </p:txBody>
      </p:sp>
      <p:sp>
        <p:nvSpPr>
          <p:cNvPr id="6" name="모서리가 둥근 직사각형 5"/>
          <p:cNvSpPr/>
          <p:nvPr/>
        </p:nvSpPr>
        <p:spPr>
          <a:xfrm>
            <a:off x="344488" y="1741041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latitude (</a:t>
            </a:r>
            <a:r>
              <a:rPr lang="ko-KR" altLang="en-US" sz="1200" dirty="0"/>
              <a:t>스케일 적용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344488" y="2636912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longitude (</a:t>
            </a:r>
            <a:r>
              <a:rPr lang="ko-KR" altLang="en-US" sz="1200" dirty="0"/>
              <a:t>스케일 적용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344488" y="3429000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speed</a:t>
            </a:r>
            <a:endParaRPr lang="ko-KR" altLang="en-US" sz="1200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344488" y="4169876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heart_rate</a:t>
            </a:r>
            <a:endParaRPr lang="ko-KR" altLang="en-US" sz="1200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344488" y="4869160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m_activity</a:t>
            </a:r>
            <a:endParaRPr lang="ko-KR" altLang="en-US" sz="1200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344488" y="5805264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step</a:t>
            </a:r>
            <a:endParaRPr lang="ko-KR" altLang="en-US" sz="1200" dirty="0"/>
          </a:p>
        </p:txBody>
      </p:sp>
      <p:sp>
        <p:nvSpPr>
          <p:cNvPr id="16" name="직사각형 15"/>
          <p:cNvSpPr/>
          <p:nvPr/>
        </p:nvSpPr>
        <p:spPr>
          <a:xfrm>
            <a:off x="3944888" y="913202"/>
            <a:ext cx="3672408" cy="5468126"/>
          </a:xfrm>
          <a:prstGeom prst="rect">
            <a:avLst/>
          </a:prstGeom>
          <a:solidFill>
            <a:srgbClr val="FFC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삭제 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64153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ko-KR" altLang="en-US" dirty="0" smtClean="0"/>
              <a:t>논문 주제 </a:t>
            </a:r>
            <a:r>
              <a:rPr lang="en-US" altLang="ko-KR" dirty="0" smtClean="0"/>
              <a:t>: [7</a:t>
            </a:r>
            <a:r>
              <a:rPr lang="ko-KR" altLang="en-US" dirty="0" smtClean="0"/>
              <a:t>채널</a:t>
            </a:r>
            <a:r>
              <a:rPr lang="en-US" altLang="ko-KR" dirty="0" smtClean="0"/>
              <a:t>] </a:t>
            </a:r>
            <a:r>
              <a:rPr lang="en-US" altLang="ko-KR" dirty="0" smtClean="0">
                <a:sym typeface="Wingdings" panose="05000000000000000000" pitchFamily="2" charset="2"/>
              </a:rPr>
              <a:t> [2</a:t>
            </a:r>
            <a:r>
              <a:rPr lang="ko-KR" altLang="en-US" dirty="0" smtClean="0">
                <a:sym typeface="Wingdings" panose="05000000000000000000" pitchFamily="2" charset="2"/>
              </a:rPr>
              <a:t>채널 </a:t>
            </a:r>
            <a:r>
              <a:rPr lang="en-US" altLang="ko-KR" dirty="0" smtClean="0">
                <a:sym typeface="Wingdings" panose="05000000000000000000" pitchFamily="2" charset="2"/>
              </a:rPr>
              <a:t>or 7</a:t>
            </a:r>
            <a:r>
              <a:rPr lang="ko-KR" altLang="en-US" dirty="0" smtClean="0">
                <a:sym typeface="Wingdings" panose="05000000000000000000" pitchFamily="2" charset="2"/>
              </a:rPr>
              <a:t>채널</a:t>
            </a:r>
            <a:r>
              <a:rPr lang="en-US" altLang="ko-KR" dirty="0" smtClean="0">
                <a:sym typeface="Wingdings" panose="05000000000000000000" pitchFamily="2" charset="2"/>
              </a:rPr>
              <a:t>]</a:t>
            </a:r>
            <a:endParaRPr lang="ko-KR" altLang="en-US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1784648" y="2348880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altitude</a:t>
            </a:r>
            <a:endParaRPr lang="ko-KR" altLang="en-US" sz="1200"/>
          </a:p>
        </p:txBody>
      </p:sp>
      <p:sp>
        <p:nvSpPr>
          <p:cNvPr id="6" name="모서리가 둥근 직사각형 5"/>
          <p:cNvSpPr/>
          <p:nvPr/>
        </p:nvSpPr>
        <p:spPr>
          <a:xfrm>
            <a:off x="1784648" y="2900941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latitude (</a:t>
            </a:r>
            <a:r>
              <a:rPr lang="ko-KR" altLang="en-US" sz="1200" dirty="0"/>
              <a:t>스케일 적용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1784648" y="3453002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longitude (</a:t>
            </a:r>
            <a:r>
              <a:rPr lang="ko-KR" altLang="en-US" sz="1200" dirty="0"/>
              <a:t>스케일 적용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1784648" y="4005063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speed</a:t>
            </a:r>
            <a:endParaRPr lang="ko-KR" altLang="en-US" sz="1200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1784648" y="4557124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heart_rate</a:t>
            </a:r>
            <a:endParaRPr lang="ko-KR" altLang="en-US" sz="1200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1784648" y="5109185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m_activity</a:t>
            </a:r>
            <a:endParaRPr lang="ko-KR" altLang="en-US" sz="1200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1784648" y="5661248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step</a:t>
            </a:r>
            <a:endParaRPr lang="ko-KR" altLang="en-US" sz="1200" dirty="0"/>
          </a:p>
        </p:txBody>
      </p:sp>
      <p:sp>
        <p:nvSpPr>
          <p:cNvPr id="12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/>
              <a:t>움직일 때 마다 항상 핸드폰을 가지고 움직이는 것은 아님 </a:t>
            </a:r>
            <a:r>
              <a:rPr lang="en-US" altLang="ko-KR" b="0" dirty="0" smtClean="0">
                <a:sym typeface="Wingdings" panose="05000000000000000000" pitchFamily="2" charset="2"/>
              </a:rPr>
              <a:t> </a:t>
            </a:r>
            <a:r>
              <a:rPr lang="ko-KR" altLang="en-US" b="0" dirty="0" smtClean="0">
                <a:sym typeface="Wingdings" panose="05000000000000000000" pitchFamily="2" charset="2"/>
              </a:rPr>
              <a:t>가령 새벽에 </a:t>
            </a:r>
            <a:r>
              <a:rPr lang="ko-KR" altLang="en-US" b="0" dirty="0" err="1" smtClean="0">
                <a:sym typeface="Wingdings" panose="05000000000000000000" pitchFamily="2" charset="2"/>
              </a:rPr>
              <a:t>화장일에</a:t>
            </a:r>
            <a:r>
              <a:rPr lang="ko-KR" altLang="en-US" b="0" dirty="0" smtClean="0">
                <a:sym typeface="Wingdings" panose="05000000000000000000" pitchFamily="2" charset="2"/>
              </a:rPr>
              <a:t> 갔는데 핸드폰 </a:t>
            </a:r>
            <a:r>
              <a:rPr lang="ko-KR" altLang="en-US" b="0" dirty="0" err="1" smtClean="0">
                <a:sym typeface="Wingdings" panose="05000000000000000000" pitchFamily="2" charset="2"/>
              </a:rPr>
              <a:t>안가지고</a:t>
            </a:r>
            <a:r>
              <a:rPr lang="ko-KR" altLang="en-US" b="0" dirty="0" smtClean="0">
                <a:sym typeface="Wingdings" panose="05000000000000000000" pitchFamily="2" charset="2"/>
              </a:rPr>
              <a:t> 가면 </a:t>
            </a:r>
            <a:r>
              <a:rPr lang="en-US" altLang="ko-KR" b="0" dirty="0" smtClean="0">
                <a:sym typeface="Wingdings" panose="05000000000000000000" pitchFamily="2" charset="2"/>
              </a:rPr>
              <a:t>GPS</a:t>
            </a:r>
            <a:r>
              <a:rPr lang="ko-KR" altLang="en-US" b="0" dirty="0" smtClean="0">
                <a:sym typeface="Wingdings" panose="05000000000000000000" pitchFamily="2" charset="2"/>
              </a:rPr>
              <a:t>나 </a:t>
            </a:r>
            <a:r>
              <a:rPr lang="en-US" altLang="ko-KR" b="0" dirty="0" err="1" smtClean="0">
                <a:sym typeface="Wingdings" panose="05000000000000000000" pitchFamily="2" charset="2"/>
              </a:rPr>
              <a:t>m_activity</a:t>
            </a:r>
            <a:r>
              <a:rPr lang="ko-KR" altLang="en-US" b="0" dirty="0" smtClean="0">
                <a:sym typeface="Wingdings" panose="05000000000000000000" pitchFamily="2" charset="2"/>
              </a:rPr>
              <a:t>는 기록이 안되는 거임</a:t>
            </a:r>
            <a:r>
              <a:rPr lang="en-US" altLang="ko-KR" b="0" dirty="0" smtClean="0">
                <a:sym typeface="Wingdings" panose="05000000000000000000" pitchFamily="2" charset="2"/>
              </a:rPr>
              <a:t>. </a:t>
            </a:r>
            <a:r>
              <a:rPr lang="ko-KR" altLang="en-US" b="0" dirty="0" smtClean="0">
                <a:sym typeface="Wingdings" panose="05000000000000000000" pitchFamily="2" charset="2"/>
              </a:rPr>
              <a:t>그리고 </a:t>
            </a:r>
            <a:r>
              <a:rPr lang="ko-KR" altLang="en-US" b="0" dirty="0" err="1" smtClean="0">
                <a:sym typeface="Wingdings" panose="05000000000000000000" pitchFamily="2" charset="2"/>
              </a:rPr>
              <a:t>스마트와치도</a:t>
            </a:r>
            <a:r>
              <a:rPr lang="ko-KR" altLang="en-US" b="0" dirty="0" smtClean="0">
                <a:sym typeface="Wingdings" panose="05000000000000000000" pitchFamily="2" charset="2"/>
              </a:rPr>
              <a:t> 항상 차고 있는 것도 </a:t>
            </a:r>
            <a:r>
              <a:rPr lang="ko-KR" altLang="en-US" b="0" dirty="0" err="1" smtClean="0">
                <a:sym typeface="Wingdings" panose="05000000000000000000" pitchFamily="2" charset="2"/>
              </a:rPr>
              <a:t>아닐거라고</a:t>
            </a:r>
            <a:r>
              <a:rPr lang="ko-KR" altLang="en-US" b="0" dirty="0" smtClean="0">
                <a:sym typeface="Wingdings" panose="05000000000000000000" pitchFamily="2" charset="2"/>
              </a:rPr>
              <a:t> 생각함</a:t>
            </a:r>
            <a:r>
              <a:rPr lang="en-US" altLang="ko-KR" b="0" dirty="0" smtClean="0">
                <a:sym typeface="Wingdings" panose="05000000000000000000" pitchFamily="2" charset="2"/>
              </a:rPr>
              <a:t>. </a:t>
            </a:r>
            <a:r>
              <a:rPr lang="ko-KR" altLang="en-US" b="0" dirty="0" smtClean="0">
                <a:sym typeface="Wingdings" panose="05000000000000000000" pitchFamily="2" charset="2"/>
              </a:rPr>
              <a:t>보통 새벽에는 충전을 하기 위해서라도 손목에서 시계를 풀어서 </a:t>
            </a:r>
            <a:r>
              <a:rPr lang="ko-KR" altLang="en-US" b="0" dirty="0" err="1" smtClean="0">
                <a:sym typeface="Wingdings" panose="05000000000000000000" pitchFamily="2" charset="2"/>
              </a:rPr>
              <a:t>놓으니깐</a:t>
            </a:r>
            <a:r>
              <a:rPr lang="en-US" altLang="ko-KR" b="0" dirty="0" smtClean="0">
                <a:sym typeface="Wingdings" panose="05000000000000000000" pitchFamily="2" charset="2"/>
              </a:rPr>
              <a:t>.. </a:t>
            </a:r>
            <a:r>
              <a:rPr lang="ko-KR" altLang="en-US" b="0" dirty="0" smtClean="0">
                <a:sym typeface="Wingdings" panose="05000000000000000000" pitchFamily="2" charset="2"/>
              </a:rPr>
              <a:t>그럼 새벽에 굳이 </a:t>
            </a:r>
            <a:r>
              <a:rPr lang="ko-KR" altLang="en-US" b="0" dirty="0" err="1" smtClean="0">
                <a:sym typeface="Wingdings" panose="05000000000000000000" pitchFamily="2" charset="2"/>
              </a:rPr>
              <a:t>들고다니지</a:t>
            </a:r>
            <a:r>
              <a:rPr lang="ko-KR" altLang="en-US" b="0" dirty="0" smtClean="0">
                <a:sym typeface="Wingdings" panose="05000000000000000000" pitchFamily="2" charset="2"/>
              </a:rPr>
              <a:t> 않더라도 </a:t>
            </a:r>
            <a:r>
              <a:rPr lang="en-US" altLang="ko-KR" b="0" dirty="0" smtClean="0">
                <a:sym typeface="Wingdings" panose="05000000000000000000" pitchFamily="2" charset="2"/>
              </a:rPr>
              <a:t>device</a:t>
            </a:r>
            <a:r>
              <a:rPr lang="ko-KR" altLang="en-US" b="0" dirty="0" smtClean="0">
                <a:sym typeface="Wingdings" panose="05000000000000000000" pitchFamily="2" charset="2"/>
              </a:rPr>
              <a:t>가 항상 켜져 있어서 항시 로그 수집이 가능한 로그는 무엇이 있을까를 생각해 봤을 때 </a:t>
            </a:r>
            <a:r>
              <a:rPr lang="en-US" altLang="ko-KR" b="0" dirty="0" smtClean="0">
                <a:sym typeface="Wingdings" panose="05000000000000000000" pitchFamily="2" charset="2"/>
              </a:rPr>
              <a:t>  </a:t>
            </a:r>
            <a:r>
              <a:rPr lang="en-US" altLang="ko-KR" u="sng" dirty="0" smtClean="0">
                <a:solidFill>
                  <a:schemeClr val="accent4"/>
                </a:solidFill>
                <a:sym typeface="Wingdings" panose="05000000000000000000" pitchFamily="2" charset="2"/>
              </a:rPr>
              <a:t>{</a:t>
            </a:r>
            <a:r>
              <a:rPr lang="ko-KR" altLang="en-US" u="sng" dirty="0" smtClean="0">
                <a:solidFill>
                  <a:schemeClr val="accent4"/>
                </a:solidFill>
                <a:sym typeface="Wingdings" panose="05000000000000000000" pitchFamily="2" charset="2"/>
              </a:rPr>
              <a:t>빛</a:t>
            </a:r>
            <a:r>
              <a:rPr lang="en-US" altLang="ko-KR" u="sng" dirty="0" smtClean="0">
                <a:solidFill>
                  <a:schemeClr val="accent4"/>
                </a:solidFill>
                <a:sym typeface="Wingdings" panose="05000000000000000000" pitchFamily="2" charset="2"/>
              </a:rPr>
              <a:t>}</a:t>
            </a:r>
            <a:r>
              <a:rPr lang="ko-KR" altLang="en-US" u="sng" dirty="0" smtClean="0">
                <a:solidFill>
                  <a:schemeClr val="accent4"/>
                </a:solidFill>
                <a:sym typeface="Wingdings" panose="05000000000000000000" pitchFamily="2" charset="2"/>
              </a:rPr>
              <a:t>과 </a:t>
            </a:r>
            <a:r>
              <a:rPr lang="en-US" altLang="ko-KR" u="sng" dirty="0" smtClean="0">
                <a:solidFill>
                  <a:schemeClr val="accent4"/>
                </a:solidFill>
                <a:sym typeface="Wingdings" panose="05000000000000000000" pitchFamily="2" charset="2"/>
              </a:rPr>
              <a:t>{</a:t>
            </a:r>
            <a:r>
              <a:rPr lang="ko-KR" altLang="en-US" u="sng" dirty="0" smtClean="0">
                <a:solidFill>
                  <a:schemeClr val="accent4"/>
                </a:solidFill>
                <a:sym typeface="Wingdings" panose="05000000000000000000" pitchFamily="2" charset="2"/>
              </a:rPr>
              <a:t>소리</a:t>
            </a:r>
            <a:r>
              <a:rPr lang="en-US" altLang="ko-KR" u="sng" dirty="0" smtClean="0">
                <a:solidFill>
                  <a:schemeClr val="accent4"/>
                </a:solidFill>
                <a:sym typeface="Wingdings" panose="05000000000000000000" pitchFamily="2" charset="2"/>
              </a:rPr>
              <a:t>}</a:t>
            </a:r>
            <a:r>
              <a:rPr lang="ko-KR" altLang="en-US" b="0" dirty="0" smtClean="0">
                <a:sym typeface="Wingdings" panose="05000000000000000000" pitchFamily="2" charset="2"/>
              </a:rPr>
              <a:t>  </a:t>
            </a:r>
            <a:r>
              <a:rPr lang="ko-KR" altLang="en-US" b="0" dirty="0" smtClean="0"/>
              <a:t> </a:t>
            </a:r>
            <a:endParaRPr lang="ko-KR" altLang="en-US" b="0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5457056" y="2780928"/>
            <a:ext cx="2232248" cy="110412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strike="sngStrike" dirty="0" err="1">
                <a:solidFill>
                  <a:srgbClr val="FF0000"/>
                </a:solidFill>
              </a:rPr>
              <a:t>mAmbience</a:t>
            </a:r>
            <a:r>
              <a:rPr lang="en-US" altLang="ko-KR" sz="1050" strike="sngStrike" dirty="0">
                <a:solidFill>
                  <a:srgbClr val="FF0000"/>
                </a:solidFill>
              </a:rPr>
              <a:t> </a:t>
            </a:r>
            <a:r>
              <a:rPr lang="ko-KR" altLang="en-US" sz="1050" strike="sngStrike" dirty="0">
                <a:solidFill>
                  <a:srgbClr val="FF0000"/>
                </a:solidFill>
              </a:rPr>
              <a:t>추정주변소리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mLight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>
                <a:solidFill>
                  <a:schemeClr val="tx1"/>
                </a:solidFill>
              </a:rPr>
              <a:t>주변 밝기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wLight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 err="1">
                <a:solidFill>
                  <a:schemeClr val="tx1"/>
                </a:solidFill>
              </a:rPr>
              <a:t>앰비언트</a:t>
            </a:r>
            <a:r>
              <a:rPr lang="ko-KR" altLang="en-US" sz="1050" dirty="0">
                <a:solidFill>
                  <a:schemeClr val="tx1"/>
                </a:solidFill>
              </a:rPr>
              <a:t> 라이트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5457056" y="4653136"/>
            <a:ext cx="2232248" cy="110412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mActivity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 err="1">
                <a:solidFill>
                  <a:schemeClr val="tx1"/>
                </a:solidFill>
              </a:rPr>
              <a:t>추정행동</a:t>
            </a:r>
            <a:endParaRPr lang="ko-KR" altLang="en-US" sz="105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mGps</a:t>
            </a:r>
            <a:r>
              <a:rPr lang="en-US" altLang="ko-KR" sz="1050" dirty="0">
                <a:solidFill>
                  <a:schemeClr val="tx1"/>
                </a:solidFill>
              </a:rPr>
              <a:t>, GPS </a:t>
            </a:r>
            <a:r>
              <a:rPr lang="ko-KR" altLang="en-US" sz="1050" dirty="0">
                <a:solidFill>
                  <a:schemeClr val="tx1"/>
                </a:solidFill>
              </a:rPr>
              <a:t>기반 핸드폰 위치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wHr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 err="1">
                <a:solidFill>
                  <a:schemeClr val="tx1"/>
                </a:solidFill>
              </a:rPr>
              <a:t>심박동수</a:t>
            </a:r>
            <a:endParaRPr lang="ko-KR" altLang="en-US" sz="105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wPedo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 err="1">
                <a:solidFill>
                  <a:schemeClr val="tx1"/>
                </a:solidFill>
              </a:rPr>
              <a:t>걸음수</a:t>
            </a:r>
            <a:endParaRPr lang="ko-KR" altLang="en-US" sz="300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457056" y="2348880"/>
            <a:ext cx="132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Sleep time</a:t>
            </a:r>
            <a:endParaRPr lang="ko-KR" alt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5457056" y="4160735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Day time</a:t>
            </a:r>
            <a:endParaRPr lang="ko-KR" altLang="en-US" b="1" dirty="0"/>
          </a:p>
        </p:txBody>
      </p:sp>
      <p:sp>
        <p:nvSpPr>
          <p:cNvPr id="3" name="오른쪽 중괄호 2"/>
          <p:cNvSpPr/>
          <p:nvPr/>
        </p:nvSpPr>
        <p:spPr>
          <a:xfrm>
            <a:off x="3656856" y="2533546"/>
            <a:ext cx="576064" cy="3343726"/>
          </a:xfrm>
          <a:prstGeom prst="rightBrace">
            <a:avLst>
              <a:gd name="adj1" fmla="val 87699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/>
          <p:cNvCxnSpPr>
            <a:stCxn id="3" idx="1"/>
            <a:endCxn id="13" idx="1"/>
          </p:cNvCxnSpPr>
          <p:nvPr/>
        </p:nvCxnSpPr>
        <p:spPr>
          <a:xfrm flipV="1">
            <a:off x="4232920" y="3332989"/>
            <a:ext cx="1224136" cy="872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3" idx="1"/>
            <a:endCxn id="17" idx="1"/>
          </p:cNvCxnSpPr>
          <p:nvPr/>
        </p:nvCxnSpPr>
        <p:spPr>
          <a:xfrm>
            <a:off x="4232920" y="4205409"/>
            <a:ext cx="1224136" cy="999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22"/>
          <p:cNvSpPr/>
          <p:nvPr/>
        </p:nvSpPr>
        <p:spPr>
          <a:xfrm>
            <a:off x="4051184" y="4038372"/>
            <a:ext cx="325752" cy="320359"/>
          </a:xfrm>
          <a:prstGeom prst="ellipse">
            <a:avLst/>
          </a:prstGeom>
          <a:solidFill>
            <a:srgbClr val="FFC000"/>
          </a:solidFill>
          <a:ln w="31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6840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en-US" altLang="ko-KR" dirty="0" smtClean="0"/>
              <a:t>[2</a:t>
            </a:r>
            <a:r>
              <a:rPr lang="ko-KR" altLang="en-US" dirty="0" smtClean="0"/>
              <a:t>채널</a:t>
            </a:r>
            <a:r>
              <a:rPr lang="en-US" altLang="ko-KR" dirty="0" smtClean="0"/>
              <a:t>]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sleeptime</a:t>
            </a:r>
            <a:r>
              <a:rPr lang="en-US" altLang="ko-KR" dirty="0" smtClean="0"/>
              <a:t> (00</a:t>
            </a:r>
            <a:r>
              <a:rPr lang="ko-KR" altLang="en-US" dirty="0" smtClean="0"/>
              <a:t>시부터 </a:t>
            </a:r>
            <a:r>
              <a:rPr lang="en-US" altLang="ko-KR" dirty="0" smtClean="0"/>
              <a:t>06</a:t>
            </a:r>
            <a:r>
              <a:rPr lang="ko-KR" altLang="en-US" dirty="0" smtClean="0"/>
              <a:t>까지</a:t>
            </a:r>
            <a:r>
              <a:rPr lang="en-US" altLang="ko-KR" dirty="0" smtClean="0"/>
              <a:t>) </a:t>
            </a:r>
            <a:r>
              <a:rPr lang="ko-KR" altLang="en-US" dirty="0" smtClean="0"/>
              <a:t>이미지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344488" y="1988840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mLight</a:t>
            </a:r>
            <a:endParaRPr lang="en-US" altLang="ko-KR" sz="1200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344488" y="4293096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wLight</a:t>
            </a:r>
            <a:endParaRPr lang="en-US" altLang="ko-KR" sz="1200" dirty="0"/>
          </a:p>
        </p:txBody>
      </p:sp>
      <p:sp>
        <p:nvSpPr>
          <p:cNvPr id="2" name="직사각형 1"/>
          <p:cNvSpPr/>
          <p:nvPr/>
        </p:nvSpPr>
        <p:spPr>
          <a:xfrm>
            <a:off x="8193360" y="188640"/>
            <a:ext cx="1368152" cy="39181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FF0000"/>
                </a:solidFill>
              </a:rPr>
              <a:t>논문 주제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720" y="980728"/>
            <a:ext cx="5184576" cy="5184576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4304928" y="980728"/>
            <a:ext cx="3312368" cy="5184576"/>
          </a:xfrm>
          <a:prstGeom prst="rect">
            <a:avLst/>
          </a:prstGeom>
          <a:solidFill>
            <a:srgbClr val="FFC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삭제 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41044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en-US" altLang="ko-KR" dirty="0" smtClean="0"/>
              <a:t>[3</a:t>
            </a:r>
            <a:r>
              <a:rPr lang="ko-KR" altLang="en-US" dirty="0" smtClean="0"/>
              <a:t>채널</a:t>
            </a:r>
            <a:r>
              <a:rPr lang="en-US" altLang="ko-KR" dirty="0" smtClean="0"/>
              <a:t>][</a:t>
            </a:r>
            <a:r>
              <a:rPr lang="en-US" altLang="ko-KR" dirty="0" smtClean="0"/>
              <a:t>id05]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8193360" y="188640"/>
            <a:ext cx="1368152" cy="39181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FF0000"/>
                </a:solidFill>
              </a:rPr>
              <a:t>논문 주제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dirty="0"/>
              <a:t># id05</a:t>
            </a:r>
            <a:endParaRPr lang="ko-KR" altLang="en-US" dirty="0"/>
          </a:p>
          <a:p>
            <a:r>
              <a:rPr lang="en-US" altLang="ko-KR" dirty="0"/>
              <a:t>[S1-0] 2024-08-30</a:t>
            </a:r>
            <a:endParaRPr lang="ko-KR" altLang="en-US" dirty="0"/>
          </a:p>
          <a:p>
            <a:r>
              <a:rPr lang="en-US" altLang="ko-KR" dirty="0"/>
              <a:t>[S1-0] 2024-10-28</a:t>
            </a:r>
            <a:endParaRPr lang="ko-KR" altLang="en-US" dirty="0"/>
          </a:p>
          <a:p>
            <a:r>
              <a:rPr lang="en-US" altLang="ko-KR" dirty="0"/>
              <a:t>[S1-0] 2024-10-29</a:t>
            </a:r>
            <a:endParaRPr lang="ko-KR" altLang="en-US" dirty="0"/>
          </a:p>
          <a:p>
            <a:r>
              <a:rPr lang="en-US" altLang="ko-KR" dirty="0"/>
              <a:t>[S1-0] 2024-10-30</a:t>
            </a:r>
            <a:endParaRPr lang="ko-KR" altLang="en-US" dirty="0"/>
          </a:p>
          <a:p>
            <a:endParaRPr lang="ko-KR" altLang="en-US" dirty="0"/>
          </a:p>
          <a:p>
            <a:r>
              <a:rPr lang="en-US" altLang="ko-KR" dirty="0"/>
              <a:t>[S1-1] 2024-08-31</a:t>
            </a:r>
            <a:endParaRPr lang="ko-KR" altLang="en-US" dirty="0"/>
          </a:p>
          <a:p>
            <a:r>
              <a:rPr lang="en-US" altLang="ko-KR" dirty="0"/>
              <a:t>[S1-1] 2024-09-05</a:t>
            </a:r>
            <a:endParaRPr lang="ko-KR" altLang="en-US" dirty="0"/>
          </a:p>
          <a:p>
            <a:r>
              <a:rPr lang="en-US" altLang="ko-KR" dirty="0"/>
              <a:t>[S1-1] 2024-09-06</a:t>
            </a:r>
            <a:endParaRPr lang="ko-KR" altLang="en-US" dirty="0"/>
          </a:p>
          <a:p>
            <a:r>
              <a:rPr lang="en-US" altLang="ko-KR" dirty="0"/>
              <a:t>[S1-1] 2024-09-07</a:t>
            </a:r>
            <a:endParaRPr lang="ko-KR" altLang="en-US" dirty="0"/>
          </a:p>
          <a:p>
            <a:r>
              <a:rPr lang="en-US" altLang="ko-KR" dirty="0"/>
              <a:t>[S1-1] 2024-09-08</a:t>
            </a:r>
            <a:endParaRPr lang="ko-KR" altLang="en-US" dirty="0"/>
          </a:p>
          <a:p>
            <a:endParaRPr lang="ko-KR" altLang="en-US" dirty="0"/>
          </a:p>
          <a:p>
            <a:r>
              <a:rPr lang="en-US" altLang="ko-KR" dirty="0" smtClean="0"/>
              <a:t>[</a:t>
            </a:r>
            <a:r>
              <a:rPr lang="en-US" altLang="ko-KR" dirty="0"/>
              <a:t>S1-2] 2024-10-24</a:t>
            </a:r>
            <a:endParaRPr lang="ko-KR" altLang="en-US" dirty="0"/>
          </a:p>
          <a:p>
            <a:r>
              <a:rPr lang="en-US" altLang="ko-KR" dirty="0"/>
              <a:t>[S1-2] 2024-10-25</a:t>
            </a:r>
            <a:endParaRPr lang="ko-KR" altLang="en-US" dirty="0"/>
          </a:p>
          <a:p>
            <a:r>
              <a:rPr lang="en-US" altLang="ko-KR" dirty="0"/>
              <a:t>[S1-2] 2024-10-26</a:t>
            </a:r>
            <a:endParaRPr lang="ko-KR" altLang="en-US" dirty="0"/>
          </a:p>
          <a:p>
            <a:r>
              <a:rPr lang="en-US" altLang="ko-KR" dirty="0"/>
              <a:t>[S1-2] 2024-10-27</a:t>
            </a:r>
            <a:endParaRPr lang="ko-KR" altLang="en-US" b="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488" y="4389186"/>
            <a:ext cx="1884840" cy="188484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073" y="4416742"/>
            <a:ext cx="1857284" cy="1857284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8582" y="4389186"/>
            <a:ext cx="1857284" cy="1857284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2317" y="4389186"/>
            <a:ext cx="1884840" cy="188484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6696" y="908133"/>
            <a:ext cx="1515166" cy="1515166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9513" y="903255"/>
            <a:ext cx="1494856" cy="1494856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5854" y="915853"/>
            <a:ext cx="1498282" cy="1498282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6546" y="903255"/>
            <a:ext cx="1494856" cy="1494856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9556" y="2703704"/>
            <a:ext cx="1562306" cy="1562306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24073" y="2606379"/>
            <a:ext cx="1756956" cy="1756956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45854" y="2643742"/>
            <a:ext cx="1686582" cy="1686582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26663" y="2650053"/>
            <a:ext cx="1634739" cy="1634739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31444" y="2650407"/>
            <a:ext cx="1686582" cy="168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2141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en-US" altLang="ko-KR" dirty="0" smtClean="0"/>
              <a:t>[7</a:t>
            </a:r>
            <a:r>
              <a:rPr lang="ko-KR" altLang="en-US" dirty="0" smtClean="0"/>
              <a:t>채널</a:t>
            </a:r>
            <a:r>
              <a:rPr lang="en-US" altLang="ko-KR" dirty="0" smtClean="0"/>
              <a:t>]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8193360" y="188640"/>
            <a:ext cx="1368152" cy="39181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FF0000"/>
                </a:solidFill>
              </a:rPr>
              <a:t>논문 주제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en-US" altLang="ko-KR" b="0" dirty="0" smtClean="0"/>
              <a:t>@@@</a:t>
            </a:r>
            <a:endParaRPr lang="ko-KR" altLang="en-US" b="0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488504" y="1628800"/>
            <a:ext cx="2232248" cy="110412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mAmbience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>
                <a:solidFill>
                  <a:schemeClr val="tx1"/>
                </a:solidFill>
              </a:rPr>
              <a:t>추정주변소리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mLight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>
                <a:solidFill>
                  <a:schemeClr val="tx1"/>
                </a:solidFill>
              </a:rPr>
              <a:t>주변 밝기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wLight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 err="1">
                <a:solidFill>
                  <a:schemeClr val="tx1"/>
                </a:solidFill>
              </a:rPr>
              <a:t>앰비언트</a:t>
            </a:r>
            <a:r>
              <a:rPr lang="ko-KR" altLang="en-US" sz="1050" dirty="0">
                <a:solidFill>
                  <a:schemeClr val="tx1"/>
                </a:solidFill>
              </a:rPr>
              <a:t> 라이트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488504" y="3501008"/>
            <a:ext cx="2232248" cy="110412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mActivity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 err="1">
                <a:solidFill>
                  <a:schemeClr val="tx1"/>
                </a:solidFill>
              </a:rPr>
              <a:t>추정행동</a:t>
            </a:r>
            <a:endParaRPr lang="ko-KR" altLang="en-US" sz="105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mGps</a:t>
            </a:r>
            <a:r>
              <a:rPr lang="en-US" altLang="ko-KR" sz="1050" dirty="0">
                <a:solidFill>
                  <a:schemeClr val="tx1"/>
                </a:solidFill>
              </a:rPr>
              <a:t>, GPS </a:t>
            </a:r>
            <a:r>
              <a:rPr lang="ko-KR" altLang="en-US" sz="1050" dirty="0">
                <a:solidFill>
                  <a:schemeClr val="tx1"/>
                </a:solidFill>
              </a:rPr>
              <a:t>기반 핸드폰 위치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wHr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 err="1">
                <a:solidFill>
                  <a:schemeClr val="tx1"/>
                </a:solidFill>
              </a:rPr>
              <a:t>심박동수</a:t>
            </a:r>
            <a:endParaRPr lang="ko-KR" altLang="en-US" sz="105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wPedo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 err="1">
                <a:solidFill>
                  <a:schemeClr val="tx1"/>
                </a:solidFill>
              </a:rPr>
              <a:t>걸음수</a:t>
            </a:r>
            <a:endParaRPr lang="ko-KR" altLang="en-US" sz="300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8504" y="1196752"/>
            <a:ext cx="132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Sleep time</a:t>
            </a:r>
            <a:endParaRPr lang="ko-KR" alt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488504" y="3008607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Day time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2134508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560512" y="1373857"/>
            <a:ext cx="9145016" cy="507947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예측 타겟 중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F1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점수가 낮은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Q1, S1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탐색</a:t>
            </a:r>
            <a:endParaRPr lang="en-US" altLang="ko-KR" sz="14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타겟 데이터 탐색 </a:t>
            </a:r>
            <a:r>
              <a:rPr lang="en-US" altLang="ko-KR" sz="1600" dirty="0" smtClean="0"/>
              <a:t>- Q1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/>
              <a:t>타겟 데이터 탐색 </a:t>
            </a:r>
            <a:r>
              <a:rPr lang="en-US" altLang="ko-KR" sz="1600" dirty="0" smtClean="0"/>
              <a:t>- S1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블루투스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wifi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같은 </a:t>
            </a:r>
            <a:r>
              <a:rPr lang="ko-KR" altLang="en-US" sz="1600" dirty="0" err="1" smtClean="0"/>
              <a:t>기기신호와</a:t>
            </a:r>
            <a:r>
              <a:rPr lang="ko-KR" altLang="en-US" sz="1600" dirty="0" smtClean="0"/>
              <a:t> 타겟과의 상관관계 분석</a:t>
            </a:r>
            <a:endParaRPr lang="en-US" altLang="ko-KR" sz="1600" dirty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과도한 기기 사용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en-US" altLang="ko-KR" sz="1600" dirty="0" err="1" smtClean="0"/>
              <a:t>Sleeptime</a:t>
            </a:r>
            <a:r>
              <a:rPr lang="en-US" altLang="ko-KR" sz="1600" dirty="0" smtClean="0"/>
              <a:t>(00-05)</a:t>
            </a:r>
            <a:r>
              <a:rPr lang="ko-KR" altLang="en-US" sz="1600" dirty="0" smtClean="0"/>
              <a:t>에 행동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주변소음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코골이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뒤척임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새벽화장실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운동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걸음수</a:t>
            </a:r>
            <a:r>
              <a:rPr lang="ko-KR" altLang="en-US" sz="1600" dirty="0" smtClean="0"/>
              <a:t> 등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err="1" smtClean="0"/>
              <a:t>심박동수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계절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월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주말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공휴일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휴가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타겟과의 상관관계 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 smtClean="0"/>
              <a:t>이미지 분석 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err="1"/>
              <a:t>Sleeptime</a:t>
            </a:r>
            <a:r>
              <a:rPr lang="ko-KR" altLang="en-US" sz="1600" dirty="0"/>
              <a:t>에 일어난 건수 </a:t>
            </a:r>
            <a:r>
              <a:rPr lang="en-US" altLang="ko-KR" sz="1600" dirty="0"/>
              <a:t>(</a:t>
            </a:r>
            <a:r>
              <a:rPr lang="en-US" altLang="ko-KR" sz="1600" dirty="0" err="1" smtClean="0"/>
              <a:t>wakeupcount</a:t>
            </a:r>
            <a:r>
              <a:rPr lang="en-US" altLang="ko-KR" sz="1600" dirty="0" smtClean="0"/>
              <a:t>)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 smtClean="0"/>
              <a:t>타겟 탐색 추가 </a:t>
            </a:r>
            <a:endParaRPr lang="ko-KR" altLang="en-US" sz="1600" dirty="0"/>
          </a:p>
          <a:p>
            <a:pPr marL="400050" indent="-400050">
              <a:lnSpc>
                <a:spcPct val="150000"/>
              </a:lnSpc>
              <a:buAutoNum type="romanUcPeriod"/>
            </a:pPr>
            <a:endParaRPr lang="ko-KR" altLang="en-US" sz="1600" dirty="0" smtClean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488504" y="836712"/>
            <a:ext cx="4032448" cy="360040"/>
          </a:xfrm>
        </p:spPr>
        <p:txBody>
          <a:bodyPr/>
          <a:lstStyle/>
          <a:p>
            <a:r>
              <a:rPr lang="ko-KR" altLang="en-US" sz="2400" dirty="0" smtClean="0"/>
              <a:t>목차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560512" y="6309320"/>
            <a:ext cx="4680520" cy="432048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453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en-US" altLang="ko-KR" dirty="0" smtClean="0"/>
              <a:t>Train, Test </a:t>
            </a:r>
            <a:r>
              <a:rPr lang="ko-KR" altLang="en-US" dirty="0" smtClean="0"/>
              <a:t>월별 건수 </a:t>
            </a:r>
            <a:endParaRPr lang="ko-KR" altLang="en-US" dirty="0"/>
          </a:p>
        </p:txBody>
      </p:sp>
      <p:sp>
        <p:nvSpPr>
          <p:cNvPr id="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7, 8</a:t>
            </a:r>
            <a:r>
              <a:rPr lang="ko-KR" altLang="en-US" b="0" dirty="0" smtClean="0"/>
              <a:t>월이 많음 </a:t>
            </a:r>
            <a:endParaRPr lang="ko-KR" altLang="en-US" b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0" y="1340768"/>
            <a:ext cx="4051392" cy="302246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008" y="1342637"/>
            <a:ext cx="4051392" cy="302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5282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ko-KR" altLang="en-US" dirty="0" smtClean="0"/>
              <a:t>타겟 분포 비교 </a:t>
            </a:r>
            <a:endParaRPr lang="ko-KR" altLang="en-US" dirty="0"/>
          </a:p>
        </p:txBody>
      </p:sp>
      <p:sp>
        <p:nvSpPr>
          <p:cNvPr id="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S3 </a:t>
            </a:r>
            <a:r>
              <a:rPr lang="en-US" altLang="ko-KR" b="0" dirty="0" smtClean="0">
                <a:sym typeface="Wingdings" panose="05000000000000000000" pitchFamily="2" charset="2"/>
              </a:rPr>
              <a:t> left skew distribution </a:t>
            </a:r>
            <a:endParaRPr lang="ko-KR" altLang="en-US" b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84784"/>
            <a:ext cx="2736304" cy="209928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824" y="1416293"/>
            <a:ext cx="2862692" cy="219624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160" y="1382296"/>
            <a:ext cx="3003478" cy="2304256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345" y="3861048"/>
            <a:ext cx="3003479" cy="2304256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6816" y="3730013"/>
            <a:ext cx="3174276" cy="243529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3160" y="3737756"/>
            <a:ext cx="3164181" cy="2427547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6471092" y="3730012"/>
            <a:ext cx="3161858" cy="24787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2032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ko-KR" altLang="en-US" dirty="0" smtClean="0"/>
              <a:t>월별 타겟 </a:t>
            </a:r>
            <a:r>
              <a:rPr lang="ko-KR" altLang="en-US" dirty="0" err="1" smtClean="0"/>
              <a:t>트랜드</a:t>
            </a:r>
            <a:r>
              <a:rPr lang="ko-KR" altLang="en-US" dirty="0" smtClean="0"/>
              <a:t> 비교 </a:t>
            </a:r>
            <a:endParaRPr lang="ko-KR" altLang="en-US" dirty="0"/>
          </a:p>
        </p:txBody>
      </p:sp>
      <p:sp>
        <p:nvSpPr>
          <p:cNvPr id="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Q3 (</a:t>
            </a:r>
            <a:r>
              <a:rPr lang="ko-KR" altLang="en-US" b="0" dirty="0" smtClean="0"/>
              <a:t>스트레스</a:t>
            </a:r>
            <a:r>
              <a:rPr lang="en-US" altLang="ko-KR" b="0" dirty="0" smtClean="0"/>
              <a:t>) </a:t>
            </a:r>
            <a:r>
              <a:rPr lang="ko-KR" altLang="en-US" b="0" dirty="0" smtClean="0"/>
              <a:t>월과 양의 관계 </a:t>
            </a:r>
            <a:endParaRPr lang="en-US" altLang="ko-KR" b="0" dirty="0" smtClean="0"/>
          </a:p>
          <a:p>
            <a:r>
              <a:rPr lang="en-US" altLang="ko-KR" b="0" dirty="0" smtClean="0"/>
              <a:t>S3 (</a:t>
            </a:r>
            <a:r>
              <a:rPr lang="ko-KR" altLang="en-US" b="0" dirty="0" smtClean="0"/>
              <a:t>수면 지연 시간</a:t>
            </a:r>
            <a:r>
              <a:rPr lang="en-US" altLang="ko-KR" b="0" dirty="0" smtClean="0"/>
              <a:t>) </a:t>
            </a:r>
            <a:r>
              <a:rPr lang="ko-KR" altLang="en-US" b="0" dirty="0" smtClean="0"/>
              <a:t>월과 음의 관계 </a:t>
            </a:r>
            <a:r>
              <a:rPr lang="en-US" altLang="ko-KR" b="0" dirty="0" smtClean="0"/>
              <a:t> </a:t>
            </a:r>
            <a:endParaRPr lang="ko-KR" altLang="en-US" b="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467" y="4165385"/>
            <a:ext cx="2689334" cy="204901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1470" y="4133299"/>
            <a:ext cx="2773561" cy="2113189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04" y="4120699"/>
            <a:ext cx="2689334" cy="2049016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569" y="1772816"/>
            <a:ext cx="2689334" cy="2049016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5846" y="1669032"/>
            <a:ext cx="2689334" cy="2049016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9184" y="1636945"/>
            <a:ext cx="2773561" cy="2113189"/>
          </a:xfrm>
          <a:prstGeom prst="rect">
            <a:avLst/>
          </a:prstGeom>
        </p:spPr>
      </p:pic>
      <p:cxnSp>
        <p:nvCxnSpPr>
          <p:cNvPr id="26" name="직선 화살표 연결선 25"/>
          <p:cNvCxnSpPr/>
          <p:nvPr/>
        </p:nvCxnSpPr>
        <p:spPr>
          <a:xfrm flipV="1">
            <a:off x="9059317" y="2924944"/>
            <a:ext cx="394753" cy="2648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9058139" y="4306677"/>
            <a:ext cx="324606" cy="3423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3513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ko-KR" altLang="en-US" dirty="0" smtClean="0"/>
              <a:t>타겟 간의 관계 분석 </a:t>
            </a:r>
            <a:r>
              <a:rPr lang="en-US" altLang="ko-KR" dirty="0" smtClean="0"/>
              <a:t>(1/)</a:t>
            </a:r>
            <a:endParaRPr lang="ko-KR" altLang="en-US" dirty="0"/>
          </a:p>
        </p:txBody>
      </p:sp>
      <p:sp>
        <p:nvSpPr>
          <p:cNvPr id="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Q2</a:t>
            </a:r>
            <a:r>
              <a:rPr lang="ko-KR" altLang="en-US" b="0" dirty="0" smtClean="0"/>
              <a:t>와 </a:t>
            </a:r>
            <a:r>
              <a:rPr lang="en-US" altLang="ko-KR" b="0" dirty="0" smtClean="0"/>
              <a:t>Q3</a:t>
            </a:r>
            <a:r>
              <a:rPr lang="ko-KR" altLang="en-US" b="0" dirty="0" smtClean="0"/>
              <a:t>는 양의 관계 </a:t>
            </a:r>
            <a:endParaRPr lang="en-US" altLang="ko-KR" b="0" dirty="0" smtClean="0"/>
          </a:p>
          <a:p>
            <a:r>
              <a:rPr lang="en-US" altLang="ko-KR" b="0" dirty="0" smtClean="0"/>
              <a:t>S1 ~ S3 </a:t>
            </a:r>
            <a:r>
              <a:rPr lang="ko-KR" altLang="en-US" b="0" dirty="0" smtClean="0"/>
              <a:t>는 모두 양의 관계 </a:t>
            </a:r>
            <a:endParaRPr lang="en-US" altLang="ko-KR" b="0" dirty="0" smtClean="0"/>
          </a:p>
          <a:p>
            <a:endParaRPr lang="en-US" altLang="ko-KR" b="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80" y="1556792"/>
            <a:ext cx="2929826" cy="223224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823" y="1552890"/>
            <a:ext cx="2934947" cy="223615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5" y="1552890"/>
            <a:ext cx="3018358" cy="229970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829" y="4005064"/>
            <a:ext cx="3010872" cy="229399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5628" y="3989589"/>
            <a:ext cx="3013236" cy="2295799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5" y="3951915"/>
            <a:ext cx="3150388" cy="240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6072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ko-KR" altLang="en-US" dirty="0"/>
              <a:t>타겟 간의 관계 분석 </a:t>
            </a:r>
            <a:r>
              <a:rPr lang="en-US" altLang="ko-KR" dirty="0" smtClean="0"/>
              <a:t>(2/)</a:t>
            </a:r>
            <a:endParaRPr lang="ko-KR" altLang="en-US" dirty="0"/>
          </a:p>
        </p:txBody>
      </p:sp>
      <p:sp>
        <p:nvSpPr>
          <p:cNvPr id="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Q1(</a:t>
            </a:r>
            <a:r>
              <a:rPr lang="ko-KR" altLang="en-US" b="0" dirty="0" err="1" smtClean="0"/>
              <a:t>수면의질</a:t>
            </a:r>
            <a:r>
              <a:rPr lang="en-US" altLang="ko-KR" b="0" dirty="0" smtClean="0"/>
              <a:t>)</a:t>
            </a:r>
            <a:r>
              <a:rPr lang="ko-KR" altLang="en-US" b="0" dirty="0" smtClean="0"/>
              <a:t>과 </a:t>
            </a:r>
            <a:r>
              <a:rPr lang="en-US" altLang="ko-KR" b="0" dirty="0" smtClean="0"/>
              <a:t>S1(</a:t>
            </a:r>
            <a:r>
              <a:rPr lang="ko-KR" altLang="en-US" b="0" dirty="0" err="1" smtClean="0"/>
              <a:t>총수면시간</a:t>
            </a:r>
            <a:r>
              <a:rPr lang="en-US" altLang="ko-KR" b="0" dirty="0" smtClean="0"/>
              <a:t>)</a:t>
            </a:r>
            <a:r>
              <a:rPr lang="ko-KR" altLang="en-US" b="0" dirty="0" smtClean="0"/>
              <a:t>은 양의 관계 </a:t>
            </a:r>
            <a:endParaRPr lang="en-US" altLang="ko-KR" b="0" dirty="0" smtClean="0"/>
          </a:p>
          <a:p>
            <a:r>
              <a:rPr lang="en-US" altLang="ko-KR" b="0" dirty="0" smtClean="0"/>
              <a:t>Q3(</a:t>
            </a:r>
            <a:r>
              <a:rPr lang="ko-KR" altLang="en-US" b="0" dirty="0" smtClean="0"/>
              <a:t>스트레스</a:t>
            </a:r>
            <a:r>
              <a:rPr lang="en-US" altLang="ko-KR" b="0" dirty="0" smtClean="0"/>
              <a:t>)</a:t>
            </a:r>
            <a:r>
              <a:rPr lang="ko-KR" altLang="en-US" b="0" dirty="0" smtClean="0"/>
              <a:t>와 </a:t>
            </a:r>
            <a:r>
              <a:rPr lang="en-US" altLang="ko-KR" b="0" dirty="0" smtClean="0"/>
              <a:t>S3(</a:t>
            </a:r>
            <a:r>
              <a:rPr lang="ko-KR" altLang="en-US" b="0" dirty="0" smtClean="0"/>
              <a:t>수면지연시간</a:t>
            </a:r>
            <a:r>
              <a:rPr lang="en-US" altLang="ko-KR" b="0" dirty="0" smtClean="0"/>
              <a:t>)</a:t>
            </a:r>
            <a:r>
              <a:rPr lang="ko-KR" altLang="en-US" b="0" dirty="0" smtClean="0"/>
              <a:t>은 음의 관계 </a:t>
            </a:r>
            <a:endParaRPr lang="en-US" altLang="ko-KR" b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506" y="1538019"/>
            <a:ext cx="2227072" cy="146416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941" y="1538018"/>
            <a:ext cx="2227072" cy="1464162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55" y="1556581"/>
            <a:ext cx="2227072" cy="1464161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560" y="3208491"/>
            <a:ext cx="2227072" cy="1464161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7941" y="3259228"/>
            <a:ext cx="2227072" cy="1464162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55" y="3208491"/>
            <a:ext cx="2227072" cy="146416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2560" y="4880001"/>
            <a:ext cx="2227072" cy="1464161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8076" y="4898394"/>
            <a:ext cx="2227072" cy="1464161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0344" y="4845123"/>
            <a:ext cx="2227072" cy="14641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573369" y="2492896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(+)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17797" y="5649111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(-)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457066" y="5649111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(-)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26800"/>
      </p:ext>
    </p:extLst>
  </p:cSld>
  <p:clrMapOvr>
    <a:masterClrMapping/>
  </p:clrMapOvr>
</p:sld>
</file>

<file path=ppt/theme/theme1.xml><?xml version="1.0" encoding="utf-8"?>
<a:theme xmlns:a="http://schemas.openxmlformats.org/drawingml/2006/main" name="KT_PMO_제안템플릿(가로)_20150501_v0.93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0_Cov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02_간지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2_간지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03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05_마지막장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05_마지막장">
      <a:majorFont>
        <a:latin typeface="-2002"/>
        <a:ea typeface="-2002"/>
        <a:cs typeface=""/>
      </a:majorFont>
      <a:minorFont>
        <a:latin typeface="-윤고딕320"/>
        <a:ea typeface="-윤고딕32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5_마지막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23051</TotalTime>
  <Words>3140</Words>
  <Application>Microsoft Office PowerPoint</Application>
  <PresentationFormat>A4 용지(210x297mm)</PresentationFormat>
  <Paragraphs>590</Paragraphs>
  <Slides>50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6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69" baseType="lpstr">
      <vt:lpstr>-2002</vt:lpstr>
      <vt:lpstr>HY중고딕</vt:lpstr>
      <vt:lpstr>굴림</vt:lpstr>
      <vt:lpstr>나눔고딕</vt:lpstr>
      <vt:lpstr>나눔고딕 ExtraBold</vt:lpstr>
      <vt:lpstr>맑은 고딕</vt:lpstr>
      <vt:lpstr>-윤고딕320</vt:lpstr>
      <vt:lpstr>Arial</vt:lpstr>
      <vt:lpstr>Courier New</vt:lpstr>
      <vt:lpstr>Tahoma</vt:lpstr>
      <vt:lpstr>Verdana</vt:lpstr>
      <vt:lpstr>Wingdings</vt:lpstr>
      <vt:lpstr>KT_PMO_제안템플릿(가로)_20150501_v0.93</vt:lpstr>
      <vt:lpstr>02_간지</vt:lpstr>
      <vt:lpstr>03_컨텐츠영역</vt:lpstr>
      <vt:lpstr>05_마지막장</vt:lpstr>
      <vt:lpstr>4_컨텐츠영역</vt:lpstr>
      <vt:lpstr>5_컨텐츠영역</vt:lpstr>
      <vt:lpstr>워크시트</vt:lpstr>
      <vt:lpstr>데이터 탐색1</vt:lpstr>
      <vt:lpstr>목차</vt:lpstr>
      <vt:lpstr>월별 Q1 건수 - TRAIN</vt:lpstr>
      <vt:lpstr>월별 Q1 건수 - TEST</vt:lpstr>
      <vt:lpstr>개인별 Q1 평균 점수 비교분석 (1/2) </vt:lpstr>
      <vt:lpstr>개인별 Q1 평균 점수 비교분석 (2/2) </vt:lpstr>
      <vt:lpstr>목차</vt:lpstr>
      <vt:lpstr>월별 S1 건수 - TRAIN</vt:lpstr>
      <vt:lpstr>개인별 S1 평균 점수 비교분석 (1/) </vt:lpstr>
      <vt:lpstr>[참고] Q1 평균점수 (기상 직후 본인이 인지한 전반적인 수면의 질)</vt:lpstr>
      <vt:lpstr>[참고] Q2 평균점수 (취침 직전 본인이 느낀 신체적 피로 수준) </vt:lpstr>
      <vt:lpstr>[참고] Q3 평균점수 (취침 직전 본인이 느낀 스트레스 수준) </vt:lpstr>
      <vt:lpstr>[참고] S1 평균점수 (총 수면 시간(TST) 가이드라인을 준수했는지 3LEVELS) </vt:lpstr>
      <vt:lpstr>[참고] S2 평균점수 (수면 효율(SE) 가이드라인을 준수했는지 여부) </vt:lpstr>
      <vt:lpstr>[참고] S3 평균점수 (수면 잠들기 지연 시간 가이드라인을 준수했는지 여부) </vt:lpstr>
      <vt:lpstr>목차</vt:lpstr>
      <vt:lpstr>[참고] AB 테스트를 위한 그룹 분류 </vt:lpstr>
      <vt:lpstr>블루투스 신호, 건수 비교 </vt:lpstr>
      <vt:lpstr>WIFI 신호, 건수 비교 </vt:lpstr>
      <vt:lpstr>{과도한 기기 사용}과 타겟과의 상관관계 분석</vt:lpstr>
      <vt:lpstr>{Sleeptime에 행동(주변소음, 코골이)}과 타겟과의 상관관계 분석</vt:lpstr>
      <vt:lpstr>{Sleeptime에 행동(주변소음, 코골이)}과 타겟과의 상관관계 분석</vt:lpstr>
      <vt:lpstr>{Sleeptime에 행동(주변소음, 코골이)}과 타겟과의 상관관계 분석</vt:lpstr>
      <vt:lpstr>{운동(걸음수 등)}과 타겟과의 상관관계 분석 </vt:lpstr>
      <vt:lpstr>{운동(걸음수 등)}과 타겟과의 상관관계 분석 </vt:lpstr>
      <vt:lpstr>{심박동수}와 타겟과의 상관관계 분석 </vt:lpstr>
      <vt:lpstr>{주말, 공휴일, 휴가}와 타겟과의 상관관계 분석 (1/)</vt:lpstr>
      <vt:lpstr>{주말, 공휴일, 휴가}와 타겟과의 상관관계 분석 (2/)</vt:lpstr>
      <vt:lpstr>{주말, 공휴일, 휴가}와 타겟과의 상관관계 분석 (3/)</vt:lpstr>
      <vt:lpstr>{주말, 공휴일, 휴가}와 타겟과의 상관관계 분석 (4/)</vt:lpstr>
      <vt:lpstr>{주말, 공휴일, 휴가}와 타겟과의 상관관계 분석 (5/)</vt:lpstr>
      <vt:lpstr>{주말, 공휴일, 휴가}와 타겟과의 상관관계 분석 (6/)</vt:lpstr>
      <vt:lpstr>{주말, 공휴일, 휴가}와 타겟과의 상관관계 분석 (7/)</vt:lpstr>
      <vt:lpstr>{계절/월}과 타겟과의 상관관계 분석 </vt:lpstr>
      <vt:lpstr>Sleeptime에 일어난 시간 &amp; 건수 비교</vt:lpstr>
      <vt:lpstr>Sleeptime에 일어나 있는 시간 비교 (mlight vs wlight)</vt:lpstr>
      <vt:lpstr>Sleeptime에 일어나 있는 건수 비교 (mlight vs wlight)</vt:lpstr>
      <vt:lpstr>목차</vt:lpstr>
      <vt:lpstr>[7채널] id01 2024-06-26 이미지 </vt:lpstr>
      <vt:lpstr>[7채널] sleeptime (00시부터 06까지) 이미지 </vt:lpstr>
      <vt:lpstr>논문 주제 : [7채널]  [2채널 or 7채널]</vt:lpstr>
      <vt:lpstr>[2채널] sleeptime (00시부터 06까지) 이미지 </vt:lpstr>
      <vt:lpstr>[3채널][id05]</vt:lpstr>
      <vt:lpstr>[7채널]</vt:lpstr>
      <vt:lpstr>목차</vt:lpstr>
      <vt:lpstr>Train, Test 월별 건수 </vt:lpstr>
      <vt:lpstr>타겟 분포 비교 </vt:lpstr>
      <vt:lpstr>월별 타겟 트랜드 비교 </vt:lpstr>
      <vt:lpstr>타겟 간의 관계 분석 (1/)</vt:lpstr>
      <vt:lpstr>타겟 간의 관계 분석 (2/)</vt:lpstr>
    </vt:vector>
  </TitlesOfParts>
  <Company>2e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Charles</dc:creator>
  <cp:lastModifiedBy>현종열</cp:lastModifiedBy>
  <cp:revision>1155</cp:revision>
  <dcterms:created xsi:type="dcterms:W3CDTF">2007-08-16T05:20:03Z</dcterms:created>
  <dcterms:modified xsi:type="dcterms:W3CDTF">2025-05-09T13:04:35Z</dcterms:modified>
</cp:coreProperties>
</file>