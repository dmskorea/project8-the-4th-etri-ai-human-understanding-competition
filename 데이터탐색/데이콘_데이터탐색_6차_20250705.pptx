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4"/>
  </p:notesMasterIdLst>
  <p:handoutMasterIdLst>
    <p:handoutMasterId r:id="rId15"/>
  </p:handoutMasterIdLst>
  <p:sldIdLst>
    <p:sldId id="301" r:id="rId7"/>
    <p:sldId id="422" r:id="rId8"/>
    <p:sldId id="423" r:id="rId9"/>
    <p:sldId id="424" r:id="rId10"/>
    <p:sldId id="425" r:id="rId11"/>
    <p:sldId id="426" r:id="rId12"/>
    <p:sldId id="427" r:id="rId13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75" d="100"/>
          <a:sy n="75" d="100"/>
        </p:scale>
        <p:origin x="1458" y="90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</a:t>
            </a:r>
            <a:r>
              <a:rPr lang="ko-KR" altLang="en-US" dirty="0" smtClean="0"/>
              <a:t>탐색</a:t>
            </a:r>
            <a:r>
              <a:rPr lang="en-US" altLang="ko-KR" dirty="0"/>
              <a:t>6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오차분석</a:t>
            </a:r>
            <a:r>
              <a:rPr lang="en-US" altLang="ko-KR" sz="2000" dirty="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2025.07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Q1: </a:t>
            </a:r>
            <a:r>
              <a:rPr lang="ko-KR" altLang="en-US" dirty="0"/>
              <a:t>기상 직후 본인이 인지한 전반적인 수면의 질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오차가 많고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오차 비율이 높은 </a:t>
            </a:r>
            <a:r>
              <a:rPr lang="en-US" altLang="ko-KR" dirty="0" smtClean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id08</a:t>
            </a: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</a:rPr>
              <a:t>평소에 늦게 자고</a:t>
            </a:r>
            <a:r>
              <a:rPr lang="en-US" altLang="ko-KR" u="sng" dirty="0" smtClean="0">
                <a:solidFill>
                  <a:srgbClr val="FF0000"/>
                </a:solidFill>
              </a:rPr>
              <a:t>(</a:t>
            </a:r>
            <a:r>
              <a:rPr lang="ko-KR" altLang="en-US" u="sng" dirty="0" smtClean="0">
                <a:solidFill>
                  <a:srgbClr val="FF0000"/>
                </a:solidFill>
              </a:rPr>
              <a:t>새벽 </a:t>
            </a:r>
            <a:r>
              <a:rPr lang="en-US" altLang="ko-KR" u="sng" dirty="0" smtClean="0">
                <a:solidFill>
                  <a:srgbClr val="FF0000"/>
                </a:solidFill>
              </a:rPr>
              <a:t>1</a:t>
            </a:r>
            <a:r>
              <a:rPr lang="ko-KR" altLang="en-US" u="sng" dirty="0" smtClean="0">
                <a:solidFill>
                  <a:srgbClr val="FF0000"/>
                </a:solidFill>
              </a:rPr>
              <a:t>시</a:t>
            </a:r>
            <a:r>
              <a:rPr lang="en-US" altLang="ko-KR" u="sng" dirty="0" smtClean="0">
                <a:solidFill>
                  <a:srgbClr val="FF0000"/>
                </a:solidFill>
              </a:rPr>
              <a:t>), </a:t>
            </a:r>
            <a:r>
              <a:rPr lang="ko-KR" altLang="en-US" u="sng" dirty="0" smtClean="0">
                <a:solidFill>
                  <a:srgbClr val="FF0000"/>
                </a:solidFill>
              </a:rPr>
              <a:t>늦게 일어남 오전 </a:t>
            </a:r>
            <a:r>
              <a:rPr lang="en-US" altLang="ko-KR" u="sng" dirty="0" smtClean="0">
                <a:solidFill>
                  <a:srgbClr val="FF0000"/>
                </a:solidFill>
              </a:rPr>
              <a:t>8</a:t>
            </a:r>
            <a:r>
              <a:rPr lang="ko-KR" altLang="en-US" u="sng" dirty="0" smtClean="0">
                <a:solidFill>
                  <a:srgbClr val="FF0000"/>
                </a:solidFill>
              </a:rPr>
              <a:t>시 이후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취침전에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신체적 피로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x (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야행성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) BUT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기상직후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수면의질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좋지 않다고 느낌</a:t>
            </a:r>
            <a:endParaRPr lang="en-US" altLang="ko-KR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평균 수면시간 상대적으로 적음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79400" y="2171364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8" y="2171363"/>
            <a:ext cx="9360842" cy="4646749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9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Q2: </a:t>
            </a:r>
            <a:r>
              <a:rPr lang="ko-KR" altLang="en-US" dirty="0"/>
              <a:t>취침 직전 본인이 느낀 신체적 피로 수준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id06, id01 </a:t>
            </a:r>
          </a:p>
          <a:p>
            <a:r>
              <a:rPr lang="ko-KR" altLang="en-US" u="sng" dirty="0" err="1" smtClean="0">
                <a:solidFill>
                  <a:srgbClr val="FF0000"/>
                </a:solidFill>
              </a:rPr>
              <a:t>두명</a:t>
            </a:r>
            <a:r>
              <a:rPr lang="ko-KR" altLang="en-US" u="sng" dirty="0" smtClean="0">
                <a:solidFill>
                  <a:srgbClr val="FF0000"/>
                </a:solidFill>
              </a:rPr>
              <a:t> 모두 일찍 자는 편임 </a:t>
            </a:r>
            <a:r>
              <a:rPr lang="en-US" altLang="ko-KR" u="sng" dirty="0" smtClean="0">
                <a:solidFill>
                  <a:srgbClr val="FF0000"/>
                </a:solidFill>
              </a:rPr>
              <a:t>(id06</a:t>
            </a:r>
            <a:r>
              <a:rPr lang="ko-KR" altLang="en-US" u="sng" dirty="0" smtClean="0">
                <a:solidFill>
                  <a:srgbClr val="FF0000"/>
                </a:solidFill>
              </a:rPr>
              <a:t>은 주말에는 주중보다 늦게 자는 경향 있음</a:t>
            </a:r>
            <a:r>
              <a:rPr lang="en-US" altLang="ko-KR" u="sng" dirty="0" smtClean="0">
                <a:solidFill>
                  <a:srgbClr val="FF0000"/>
                </a:solidFill>
              </a:rPr>
              <a:t>)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S1 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 잠들기 시간 가이드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잘따름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altLang="ko-KR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u="sng" dirty="0" smtClean="0">
                <a:solidFill>
                  <a:srgbClr val="FF0000"/>
                </a:solidFill>
              </a:rPr>
              <a:t>수면 잠들기 시간 가이드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잘따르면</a:t>
            </a:r>
            <a:r>
              <a:rPr lang="en-US" altLang="ko-KR" u="sng" dirty="0" smtClean="0">
                <a:solidFill>
                  <a:srgbClr val="FF0000"/>
                </a:solidFill>
              </a:rPr>
              <a:t>,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총수면</a:t>
            </a:r>
            <a:r>
              <a:rPr lang="ko-KR" altLang="en-US" u="sng" dirty="0" smtClean="0">
                <a:solidFill>
                  <a:srgbClr val="FF0000"/>
                </a:solidFill>
              </a:rPr>
              <a:t> 시간이 길 수 있음 </a:t>
            </a:r>
            <a:r>
              <a:rPr lang="en-US" altLang="ko-KR" u="sng" dirty="0" smtClean="0">
                <a:solidFill>
                  <a:srgbClr val="FF0000"/>
                </a:solidFill>
              </a:rPr>
              <a:t>, S3</a:t>
            </a:r>
            <a:r>
              <a:rPr lang="ko-KR" altLang="en-US" u="sng" dirty="0" smtClean="0">
                <a:solidFill>
                  <a:srgbClr val="FF0000"/>
                </a:solidFill>
              </a:rPr>
              <a:t>는 </a:t>
            </a:r>
            <a:r>
              <a:rPr lang="en-US" altLang="ko-KR" u="sng" dirty="0" smtClean="0">
                <a:solidFill>
                  <a:srgbClr val="FF0000"/>
                </a:solidFill>
              </a:rPr>
              <a:t>S1</a:t>
            </a:r>
            <a:r>
              <a:rPr lang="ko-KR" altLang="en-US" u="sng" dirty="0" smtClean="0">
                <a:solidFill>
                  <a:srgbClr val="FF0000"/>
                </a:solidFill>
              </a:rPr>
              <a:t>은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사전징후가</a:t>
            </a:r>
            <a:r>
              <a:rPr lang="ko-KR" altLang="en-US" u="sng" dirty="0" smtClean="0">
                <a:solidFill>
                  <a:srgbClr val="FF0000"/>
                </a:solidFill>
              </a:rPr>
              <a:t> 될 수 있음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12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4" y="2192212"/>
            <a:ext cx="9360470" cy="4646564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1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Q3: </a:t>
            </a:r>
            <a:r>
              <a:rPr lang="ko-KR" altLang="en-US" dirty="0"/>
              <a:t>취침 직전 본인이 느낀 스트레스 수준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>
                <a:solidFill>
                  <a:srgbClr val="FF0000"/>
                </a:solidFill>
              </a:rPr>
              <a:t>id08</a:t>
            </a: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</a:rPr>
              <a:t>평소에 늦게 자고</a:t>
            </a:r>
            <a:r>
              <a:rPr lang="en-US" altLang="ko-KR" u="sng" dirty="0">
                <a:solidFill>
                  <a:srgbClr val="FF0000"/>
                </a:solidFill>
              </a:rPr>
              <a:t>(</a:t>
            </a:r>
            <a:r>
              <a:rPr lang="ko-KR" altLang="en-US" u="sng" dirty="0">
                <a:solidFill>
                  <a:srgbClr val="FF0000"/>
                </a:solidFill>
              </a:rPr>
              <a:t>새벽 </a:t>
            </a:r>
            <a:r>
              <a:rPr lang="en-US" altLang="ko-KR" u="sng" dirty="0">
                <a:solidFill>
                  <a:srgbClr val="FF0000"/>
                </a:solidFill>
              </a:rPr>
              <a:t>1</a:t>
            </a:r>
            <a:r>
              <a:rPr lang="ko-KR" altLang="en-US" u="sng" dirty="0">
                <a:solidFill>
                  <a:srgbClr val="FF0000"/>
                </a:solidFill>
              </a:rPr>
              <a:t>시</a:t>
            </a:r>
            <a:r>
              <a:rPr lang="en-US" altLang="ko-KR" u="sng" dirty="0">
                <a:solidFill>
                  <a:srgbClr val="FF0000"/>
                </a:solidFill>
              </a:rPr>
              <a:t>), </a:t>
            </a:r>
            <a:r>
              <a:rPr lang="ko-KR" altLang="en-US" u="sng" dirty="0">
                <a:solidFill>
                  <a:srgbClr val="FF0000"/>
                </a:solidFill>
              </a:rPr>
              <a:t>늦게 일어남 오전 </a:t>
            </a:r>
            <a:r>
              <a:rPr lang="en-US" altLang="ko-KR" u="sng" dirty="0">
                <a:solidFill>
                  <a:srgbClr val="FF0000"/>
                </a:solidFill>
              </a:rPr>
              <a:t>8</a:t>
            </a:r>
            <a:r>
              <a:rPr lang="ko-KR" altLang="en-US" u="sng" dirty="0">
                <a:solidFill>
                  <a:srgbClr val="FF0000"/>
                </a:solidFill>
              </a:rPr>
              <a:t>시 이후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취침전에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신체적 피로 </a:t>
            </a:r>
            <a:r>
              <a:rPr lang="en-US" altLang="ko-KR" u="sng" dirty="0">
                <a:solidFill>
                  <a:srgbClr val="FF0000"/>
                </a:solidFill>
                <a:sym typeface="Wingdings" panose="05000000000000000000" pitchFamily="2" charset="2"/>
              </a:rPr>
              <a:t>x (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야행성</a:t>
            </a:r>
            <a:r>
              <a:rPr lang="en-US" altLang="ko-KR" u="sng" dirty="0">
                <a:solidFill>
                  <a:srgbClr val="FF0000"/>
                </a:solidFill>
                <a:sym typeface="Wingdings" panose="05000000000000000000" pitchFamily="2" charset="2"/>
              </a:rPr>
              <a:t>) BUT </a:t>
            </a: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기상직후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수면의질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좋지 않다고 느낌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평균 수면시간 상대적으로 적음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170247"/>
            <a:ext cx="9353550" cy="464312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27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S2: </a:t>
            </a:r>
            <a:r>
              <a:rPr lang="ko-KR" altLang="en-US" dirty="0"/>
              <a:t>수면 효율</a:t>
            </a:r>
            <a:r>
              <a:rPr lang="en-US" altLang="ko-KR" dirty="0"/>
              <a:t>(SE) </a:t>
            </a:r>
            <a:r>
              <a:rPr lang="ko-KR" altLang="en-US" dirty="0"/>
              <a:t>가이드라인을 준수했는지 여부 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id01, id04, id07</a:t>
            </a: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Id01, id04, id07 </a:t>
            </a:r>
            <a:r>
              <a:rPr lang="ko-KR" altLang="en-US" u="sng" dirty="0" smtClean="0">
                <a:solidFill>
                  <a:srgbClr val="FF0000"/>
                </a:solidFill>
              </a:rPr>
              <a:t>유사한 수면 패턴 보유 </a:t>
            </a:r>
            <a:r>
              <a:rPr lang="en-US" altLang="ko-KR" u="sng" dirty="0" smtClean="0">
                <a:solidFill>
                  <a:srgbClr val="FF0000"/>
                </a:solidFill>
              </a:rPr>
              <a:t>(</a:t>
            </a:r>
            <a:r>
              <a:rPr lang="ko-KR" altLang="en-US" u="sng" dirty="0" smtClean="0">
                <a:solidFill>
                  <a:srgbClr val="FF0000"/>
                </a:solidFill>
              </a:rPr>
              <a:t>특히</a:t>
            </a:r>
            <a:r>
              <a:rPr lang="en-US" altLang="ko-KR" u="sng" dirty="0" smtClean="0">
                <a:solidFill>
                  <a:srgbClr val="FF0000"/>
                </a:solidFill>
              </a:rPr>
              <a:t> id04, id07</a:t>
            </a:r>
            <a:r>
              <a:rPr lang="ko-KR" altLang="en-US" u="sng" dirty="0" smtClean="0">
                <a:solidFill>
                  <a:srgbClr val="FF0000"/>
                </a:solidFill>
              </a:rPr>
              <a:t>는</a:t>
            </a:r>
            <a:r>
              <a:rPr lang="en-US" altLang="ko-KR" u="sng" dirty="0">
                <a:solidFill>
                  <a:srgbClr val="FF0000"/>
                </a:solidFill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취침시간과</a:t>
            </a:r>
            <a:r>
              <a:rPr lang="ko-KR" altLang="en-US" u="sng" dirty="0" smtClean="0">
                <a:solidFill>
                  <a:srgbClr val="FF0000"/>
                </a:solidFill>
              </a:rPr>
              <a:t> 기상시간이 비슷하고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타겟평균도</a:t>
            </a:r>
            <a:r>
              <a:rPr lang="ko-KR" altLang="en-US" u="sng" dirty="0" smtClean="0">
                <a:solidFill>
                  <a:srgbClr val="FF0000"/>
                </a:solidFill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비슷</a:t>
            </a:r>
            <a:r>
              <a:rPr lang="en-US" altLang="ko-KR" u="sng" dirty="0" smtClean="0">
                <a:solidFill>
                  <a:srgbClr val="FF0000"/>
                </a:solidFill>
              </a:rPr>
              <a:t>)</a:t>
            </a:r>
          </a:p>
          <a:p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80" y="2179464"/>
            <a:ext cx="9360470" cy="464656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70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922072" cy="274638"/>
          </a:xfrm>
        </p:spPr>
        <p:txBody>
          <a:bodyPr/>
          <a:lstStyle/>
          <a:p>
            <a:r>
              <a:rPr lang="en-US" altLang="ko-KR" dirty="0"/>
              <a:t>S3: </a:t>
            </a:r>
            <a:r>
              <a:rPr lang="ko-KR" altLang="en-US" dirty="0"/>
              <a:t>수면 잠들기 지연 시간</a:t>
            </a:r>
            <a:r>
              <a:rPr lang="en-US" altLang="ko-KR" dirty="0"/>
              <a:t>(SOL </a:t>
            </a:r>
            <a:r>
              <a:rPr lang="ko-KR" altLang="en-US" dirty="0"/>
              <a:t>또는 </a:t>
            </a:r>
            <a:r>
              <a:rPr lang="en-US" altLang="ko-KR" dirty="0"/>
              <a:t>SL) </a:t>
            </a:r>
            <a:r>
              <a:rPr lang="ko-KR" altLang="en-US" dirty="0"/>
              <a:t>가이드라인을 준수했는지 여부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id04, id10</a:t>
            </a: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Id04, id10</a:t>
            </a:r>
            <a:r>
              <a:rPr lang="ko-KR" altLang="en-US" u="sng" dirty="0" smtClean="0">
                <a:solidFill>
                  <a:srgbClr val="FF0000"/>
                </a:solidFill>
              </a:rPr>
              <a:t>은 </a:t>
            </a:r>
            <a:r>
              <a:rPr lang="en-US" altLang="ko-KR" u="sng" dirty="0" smtClean="0">
                <a:solidFill>
                  <a:srgbClr val="FF0000"/>
                </a:solidFill>
              </a:rPr>
              <a:t>S3 </a:t>
            </a:r>
            <a:r>
              <a:rPr lang="ko-KR" altLang="en-US" u="sng" dirty="0" smtClean="0">
                <a:solidFill>
                  <a:srgbClr val="FF0000"/>
                </a:solidFill>
              </a:rPr>
              <a:t>타겟 평균이 약 </a:t>
            </a:r>
            <a:r>
              <a:rPr lang="en-US" altLang="ko-KR" u="sng" dirty="0" smtClean="0">
                <a:solidFill>
                  <a:srgbClr val="FF0000"/>
                </a:solidFill>
              </a:rPr>
              <a:t>50% </a:t>
            </a:r>
            <a:r>
              <a:rPr lang="ko-KR" altLang="en-US" u="sng" dirty="0" smtClean="0">
                <a:solidFill>
                  <a:srgbClr val="FF0000"/>
                </a:solidFill>
              </a:rPr>
              <a:t>다른 타겟이 비해서 상대적으로 맞추기 어려운 케이스 </a:t>
            </a:r>
            <a:endParaRPr lang="en-US" altLang="ko-KR" u="sng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타겟 평균이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50% 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의미는 타겟 그래프가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1110000111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이런식으로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연속성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?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아니라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101010101010110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의미 </a:t>
            </a:r>
            <a:endParaRPr lang="en-US" altLang="ko-KR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173163"/>
            <a:ext cx="9347675" cy="4640213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25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922072" cy="274638"/>
          </a:xfrm>
        </p:spPr>
        <p:txBody>
          <a:bodyPr/>
          <a:lstStyle/>
          <a:p>
            <a:r>
              <a:rPr lang="en-US" altLang="ko-KR" dirty="0" smtClean="0"/>
              <a:t>S1: </a:t>
            </a:r>
            <a:r>
              <a:rPr lang="ko-KR" altLang="en-US" dirty="0"/>
              <a:t>총 수면 시간</a:t>
            </a:r>
            <a:r>
              <a:rPr lang="en-US" altLang="ko-KR" dirty="0"/>
              <a:t>(TST) </a:t>
            </a:r>
            <a:r>
              <a:rPr lang="ko-KR" altLang="en-US" dirty="0"/>
              <a:t>가이드라인을 준수했는지 </a:t>
            </a:r>
            <a:r>
              <a:rPr lang="en-US" altLang="ko-KR" dirty="0"/>
              <a:t>3LEVELS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 smtClean="0">
                <a:solidFill>
                  <a:srgbClr val="FF0000"/>
                </a:solidFill>
              </a:rPr>
              <a:t>오차 </a:t>
            </a:r>
            <a:r>
              <a:rPr lang="en-US" altLang="ko-KR" u="sng" dirty="0" smtClean="0">
                <a:solidFill>
                  <a:srgbClr val="FF0000"/>
                </a:solidFill>
              </a:rPr>
              <a:t>: S1!=0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76" y="2174901"/>
            <a:ext cx="9344174" cy="463847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79779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27787</TotalTime>
  <Words>281</Words>
  <Application>Microsoft Office PowerPoint</Application>
  <PresentationFormat>A4 용지(210x297mm)</PresentationFormat>
  <Paragraphs>27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7</vt:i4>
      </vt:variant>
    </vt:vector>
  </HeadingPairs>
  <TitlesOfParts>
    <vt:vector size="24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탐색6 (오차분석)</vt:lpstr>
      <vt:lpstr>Q1: 기상 직후 본인이 인지한 전반적인 수면의 질</vt:lpstr>
      <vt:lpstr>Q2: 취침 직전 본인이 느낀 신체적 피로 수준</vt:lpstr>
      <vt:lpstr>Q3: 취침 직전 본인이 느낀 스트레스 수준</vt:lpstr>
      <vt:lpstr>S2: 수면 효율(SE) 가이드라인을 준수했는지 여부 </vt:lpstr>
      <vt:lpstr>S3: 수면 잠들기 지연 시간(SOL 또는 SL) 가이드라인을 준수했는지 여부</vt:lpstr>
      <vt:lpstr>S1: 총 수면 시간(TST) 가이드라인을 준수했는지 3LEVELS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1271</cp:revision>
  <dcterms:created xsi:type="dcterms:W3CDTF">2007-08-16T05:20:03Z</dcterms:created>
  <dcterms:modified xsi:type="dcterms:W3CDTF">2025-07-05T09:53:28Z</dcterms:modified>
</cp:coreProperties>
</file>