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  <p:sldMasterId id="2147483764" r:id="rId2"/>
    <p:sldMasterId id="2147483650" r:id="rId3"/>
    <p:sldMasterId id="2147483654" r:id="rId4"/>
    <p:sldMasterId id="2147483776" r:id="rId5"/>
    <p:sldMasterId id="2147483778" r:id="rId6"/>
  </p:sldMasterIdLst>
  <p:notesMasterIdLst>
    <p:notesMasterId r:id="rId32"/>
  </p:notesMasterIdLst>
  <p:handoutMasterIdLst>
    <p:handoutMasterId r:id="rId33"/>
  </p:handoutMasterIdLst>
  <p:sldIdLst>
    <p:sldId id="301" r:id="rId7"/>
    <p:sldId id="391" r:id="rId8"/>
    <p:sldId id="390" r:id="rId9"/>
    <p:sldId id="392" r:id="rId10"/>
    <p:sldId id="393" r:id="rId11"/>
    <p:sldId id="395" r:id="rId12"/>
    <p:sldId id="394" r:id="rId13"/>
    <p:sldId id="396" r:id="rId14"/>
    <p:sldId id="397" r:id="rId15"/>
    <p:sldId id="398" r:id="rId16"/>
    <p:sldId id="399" r:id="rId17"/>
    <p:sldId id="400" r:id="rId18"/>
    <p:sldId id="401" r:id="rId19"/>
    <p:sldId id="402" r:id="rId20"/>
    <p:sldId id="410" r:id="rId21"/>
    <p:sldId id="412" r:id="rId22"/>
    <p:sldId id="403" r:id="rId23"/>
    <p:sldId id="411" r:id="rId24"/>
    <p:sldId id="405" r:id="rId25"/>
    <p:sldId id="413" r:id="rId26"/>
    <p:sldId id="406" r:id="rId27"/>
    <p:sldId id="414" r:id="rId28"/>
    <p:sldId id="407" r:id="rId29"/>
    <p:sldId id="408" r:id="rId30"/>
    <p:sldId id="409" r:id="rId31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3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orient="horz" pos="754" userDrawn="1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1162">
          <p15:clr>
            <a:srgbClr val="A4A3A4"/>
          </p15:clr>
        </p15:guide>
        <p15:guide id="7" pos="3120">
          <p15:clr>
            <a:srgbClr val="A4A3A4"/>
          </p15:clr>
        </p15:guide>
        <p15:guide id="8" pos="217" userDrawn="1">
          <p15:clr>
            <a:srgbClr val="A4A3A4"/>
          </p15:clr>
        </p15:guide>
        <p15:guide id="9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CDACE6"/>
    <a:srgbClr val="FF7C80"/>
    <a:srgbClr val="FF5050"/>
    <a:srgbClr val="FFCCCC"/>
    <a:srgbClr val="FFFFFF"/>
    <a:srgbClr val="FF9999"/>
    <a:srgbClr val="FF6600"/>
    <a:srgbClr val="FF99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99157" autoAdjust="0"/>
  </p:normalViewPr>
  <p:slideViewPr>
    <p:cSldViewPr showGuides="1">
      <p:cViewPr>
        <p:scale>
          <a:sx n="66" d="100"/>
          <a:sy n="66" d="100"/>
        </p:scale>
        <p:origin x="2514" y="978"/>
      </p:cViewPr>
      <p:guideLst>
        <p:guide orient="horz" pos="2115"/>
        <p:guide orient="horz" pos="73"/>
        <p:guide orient="horz" pos="3974"/>
        <p:guide orient="horz" pos="754"/>
        <p:guide orient="horz" pos="346"/>
        <p:guide orient="horz" pos="1162"/>
        <p:guide pos="3120"/>
        <p:guide pos="217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-1584" y="-96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5121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7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9419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표지(타이틀수정가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656856" y="2903173"/>
            <a:ext cx="4839060" cy="1143000"/>
          </a:xfrm>
          <a:prstGeom prst="rect">
            <a:avLst/>
          </a:prstGeo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128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72880" y="1570038"/>
            <a:ext cx="34496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307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2880" y="2172617"/>
            <a:ext cx="3887788" cy="31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30000"/>
        </a:lnSpc>
        <a:spcBef>
          <a:spcPct val="20000"/>
        </a:spcBef>
        <a:spcAft>
          <a:spcPct val="0"/>
        </a:spcAft>
        <a:buClrTx/>
        <a:buFont typeface="+mj-lt"/>
        <a:buAutoNum type="arabicPeriod"/>
        <a:defRPr kumimoji="1" sz="1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Wingdings" pitchFamily="2" charset="2"/>
        <a:buChar char="l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D35345"/>
        </a:buClr>
        <a:buFont typeface="Wingdings" pitchFamily="2" charset="2"/>
        <a:buChar char="§"/>
        <a:defRPr kumimoji="1" sz="1100" b="1">
          <a:solidFill>
            <a:srgbClr val="333333"/>
          </a:solidFill>
          <a:latin typeface="Verdana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HY중고딕" pitchFamily="18" charset="-127"/>
          <a:ea typeface="HY중고딕" pitchFamily="18" charset="-127"/>
        </a:defRPr>
      </a:lvl4pPr>
      <a:lvl5pPr marL="2209800" indent="-3810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6670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1242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5814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0386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8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그림 14" descr="tag.jpg"/>
          <p:cNvPicPr>
            <a:picLocks noChangeAspect="1"/>
          </p:cNvPicPr>
          <p:nvPr userDrawn="1"/>
        </p:nvPicPr>
        <p:blipFill>
          <a:blip r:embed="rId3" cstate="print"/>
          <a:srcRect l="28920"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SzPct val="140000"/>
        <a:buChar char="•"/>
        <a:defRPr kumimoji="1" sz="1200">
          <a:solidFill>
            <a:srgbClr val="080808"/>
          </a:solidFill>
          <a:latin typeface="+mn-lt"/>
          <a:ea typeface="+mn-ea"/>
          <a:cs typeface="+mn-cs"/>
        </a:defRPr>
      </a:lvl1pPr>
      <a:lvl2pPr marL="1208088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1100">
          <a:solidFill>
            <a:srgbClr val="080808"/>
          </a:solidFill>
          <a:latin typeface="+mn-lt"/>
          <a:ea typeface="+mn-ea"/>
        </a:defRPr>
      </a:lvl2pPr>
      <a:lvl3pPr marL="1616075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1000">
          <a:solidFill>
            <a:srgbClr val="080808"/>
          </a:solidFill>
          <a:latin typeface="+mn-lt"/>
          <a:ea typeface="+mn-ea"/>
        </a:defRPr>
      </a:lvl3pPr>
      <a:lvl4pPr marL="202406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3205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8892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3464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8036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2608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288704" y="2903173"/>
            <a:ext cx="6207212" cy="1143000"/>
          </a:xfrm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ko-KR" altLang="en-US" dirty="0" smtClean="0"/>
              <a:t>데이터 </a:t>
            </a:r>
            <a:r>
              <a:rPr lang="ko-KR" altLang="en-US" dirty="0" smtClean="0"/>
              <a:t>탐색</a:t>
            </a:r>
            <a:r>
              <a:rPr lang="en-US" altLang="ko-KR" dirty="0" smtClean="0"/>
              <a:t>3</a:t>
            </a:r>
            <a:br>
              <a:rPr lang="en-US" altLang="ko-KR" dirty="0" smtClean="0"/>
            </a:br>
            <a:r>
              <a:rPr lang="en-US" altLang="ko-KR" sz="1600" dirty="0" smtClean="0"/>
              <a:t>(</a:t>
            </a:r>
            <a:r>
              <a:rPr lang="ko-KR" altLang="en-US" sz="1600" dirty="0" smtClean="0"/>
              <a:t>검증 </a:t>
            </a:r>
            <a:r>
              <a:rPr lang="ko-KR" altLang="en-US" sz="1600" dirty="0" err="1" smtClean="0"/>
              <a:t>데이터셋</a:t>
            </a:r>
            <a:r>
              <a:rPr lang="ko-KR" altLang="en-US" sz="1600" dirty="0" smtClean="0"/>
              <a:t> 분포에 대한 이해</a:t>
            </a:r>
            <a:r>
              <a:rPr lang="en-US" altLang="ko-KR" sz="1600" dirty="0" smtClean="0"/>
              <a:t>)</a:t>
            </a:r>
            <a:endParaRPr lang="ko-KR" altLang="en-US" sz="12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488215" y="4170566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 smtClean="0">
                <a:latin typeface="나눔고딕" pitchFamily="50" charset="-127"/>
                <a:ea typeface="나눔고딕" pitchFamily="50" charset="-127"/>
              </a:rPr>
              <a:t>2025.05</a:t>
            </a:r>
            <a:endParaRPr lang="ko-KR" altLang="en-US" sz="16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779" y="6165304"/>
            <a:ext cx="9619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검증 </a:t>
            </a:r>
            <a:r>
              <a:rPr lang="ko-KR" altLang="en-US" dirty="0" err="1" smtClean="0"/>
              <a:t>데이터셋은</a:t>
            </a:r>
            <a:r>
              <a:rPr lang="ko-KR" altLang="en-US" dirty="0" smtClean="0"/>
              <a:t> 학습 </a:t>
            </a:r>
            <a:r>
              <a:rPr lang="ko-KR" altLang="en-US" dirty="0" err="1" smtClean="0"/>
              <a:t>데이터셋과</a:t>
            </a:r>
            <a:r>
              <a:rPr lang="ko-KR" altLang="en-US" dirty="0" smtClean="0"/>
              <a:t> 테스트 </a:t>
            </a:r>
            <a:r>
              <a:rPr lang="ko-KR" altLang="en-US" dirty="0" err="1" smtClean="0"/>
              <a:t>데이터셋과</a:t>
            </a:r>
            <a:r>
              <a:rPr lang="ko-KR" altLang="en-US" dirty="0" smtClean="0"/>
              <a:t> 얼마나 </a:t>
            </a:r>
            <a:r>
              <a:rPr lang="ko-KR" altLang="en-US" dirty="0" err="1" smtClean="0"/>
              <a:t>유사한가</a:t>
            </a:r>
            <a:r>
              <a:rPr lang="ko-KR" altLang="en-US" dirty="0" smtClean="0"/>
              <a:t> 또는 얼마나 다른가</a:t>
            </a:r>
            <a:r>
              <a:rPr lang="en-US" altLang="ko-KR" dirty="0" smtClean="0"/>
              <a:t>? 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4294967295"/>
          </p:nvPr>
        </p:nvSpPr>
        <p:spPr>
          <a:xfrm>
            <a:off x="760413" y="1373188"/>
            <a:ext cx="9145587" cy="50800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[train/valid]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건수 및 타겟 평점</a:t>
            </a:r>
          </a:p>
          <a:p>
            <a:r>
              <a:rPr lang="ko-KR" altLang="en-US" dirty="0"/>
              <a:t>월별 타겟 평점</a:t>
            </a:r>
          </a:p>
          <a:p>
            <a:r>
              <a:rPr lang="ko-KR" altLang="en-US" dirty="0" err="1"/>
              <a:t>요일별</a:t>
            </a:r>
            <a:r>
              <a:rPr lang="ko-KR" altLang="en-US" dirty="0"/>
              <a:t> 타겟 평점</a:t>
            </a:r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[</a:t>
            </a:r>
            <a:r>
              <a:rPr lang="en-US" altLang="ko-KR" dirty="0"/>
              <a:t>train/valid/test]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수면시간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기상시간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취침시간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걸음수</a:t>
            </a:r>
            <a:endParaRPr lang="ko-KR" altLang="en-US" dirty="0"/>
          </a:p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심박동수</a:t>
            </a:r>
            <a:endParaRPr lang="ko-KR" altLang="en-US" dirty="0"/>
          </a:p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앱사용시간</a:t>
            </a:r>
            <a:endParaRPr lang="ko-KR" altLang="en-US" dirty="0"/>
          </a:p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취침전</a:t>
            </a:r>
            <a:r>
              <a:rPr lang="ko-KR" altLang="en-US" dirty="0"/>
              <a:t> </a:t>
            </a:r>
            <a:r>
              <a:rPr lang="ko-KR" altLang="en-US" dirty="0" err="1"/>
              <a:t>앱사용시간</a:t>
            </a:r>
            <a:endParaRPr lang="ko-KR" altLang="en-US" dirty="0"/>
          </a:p>
          <a:p>
            <a:r>
              <a:rPr lang="en-US" altLang="ko-KR" dirty="0"/>
              <a:t>id</a:t>
            </a:r>
            <a:r>
              <a:rPr lang="ko-KR" altLang="en-US" dirty="0"/>
              <a:t>별 평균 와이파이 이용기기건수 </a:t>
            </a:r>
            <a:r>
              <a:rPr lang="en-US" altLang="ko-KR" dirty="0"/>
              <a:t>/ </a:t>
            </a:r>
            <a:r>
              <a:rPr lang="ko-KR" altLang="en-US" dirty="0"/>
              <a:t>이용시간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블루투스 이용기기건수 </a:t>
            </a:r>
            <a:r>
              <a:rPr lang="en-US" altLang="ko-KR" dirty="0"/>
              <a:t>/ </a:t>
            </a:r>
            <a:r>
              <a:rPr lang="ko-KR" altLang="en-US" dirty="0"/>
              <a:t>이용시간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추정 휴가일수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추정 </a:t>
            </a:r>
            <a:r>
              <a:rPr lang="ko-KR" altLang="en-US" dirty="0" err="1"/>
              <a:t>수면시간대</a:t>
            </a:r>
            <a:r>
              <a:rPr lang="ko-KR" altLang="en-US" dirty="0"/>
              <a:t> </a:t>
            </a:r>
            <a:r>
              <a:rPr lang="ko-KR" altLang="en-US" dirty="0" err="1"/>
              <a:t>기상건수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빛</a:t>
            </a:r>
            <a:r>
              <a:rPr lang="en-US" altLang="ko-KR" dirty="0"/>
              <a:t>,</a:t>
            </a:r>
            <a:r>
              <a:rPr lang="ko-KR" altLang="en-US" dirty="0"/>
              <a:t>소리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추정 </a:t>
            </a:r>
            <a:r>
              <a:rPr lang="ko-KR" altLang="en-US" dirty="0" err="1"/>
              <a:t>수면효율</a:t>
            </a:r>
            <a:endParaRPr lang="ko-KR" altLang="en-US" dirty="0"/>
          </a:p>
        </p:txBody>
      </p:sp>
      <p:sp>
        <p:nvSpPr>
          <p:cNvPr id="6" name="제목 5"/>
          <p:cNvSpPr>
            <a:spLocks noGrp="1"/>
          </p:cNvSpPr>
          <p:nvPr>
            <p:ph type="title" idx="4294967295"/>
          </p:nvPr>
        </p:nvSpPr>
        <p:spPr>
          <a:xfrm>
            <a:off x="754237" y="836712"/>
            <a:ext cx="992560" cy="360362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ko-KR" altLang="en-US" sz="2400" dirty="0" smtClean="0"/>
              <a:t>목차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776536" y="1628800"/>
            <a:ext cx="3024336" cy="864096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030A0">
                  <a:alpha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14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건수 및 타겟 </a:t>
            </a:r>
            <a:r>
              <a:rPr lang="ko-KR" altLang="en-US" dirty="0" smtClean="0"/>
              <a:t>평점 </a:t>
            </a:r>
            <a:r>
              <a:rPr lang="en-US" altLang="ko-KR" dirty="0" smtClean="0"/>
              <a:t>: </a:t>
            </a:r>
            <a:r>
              <a:rPr lang="en-US" altLang="ko-KR" dirty="0" smtClean="0"/>
              <a:t>S1 ~ S3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@@@</a:t>
            </a:r>
            <a:endParaRPr lang="ko-KR" altLang="en-US" b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320879"/>
            <a:ext cx="2778462" cy="1800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832" y="1299935"/>
            <a:ext cx="2778461" cy="1800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760" y="1296192"/>
            <a:ext cx="2778461" cy="180000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581589" y="3145849"/>
            <a:ext cx="8691891" cy="311755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en-US" altLang="ko-KR" sz="1050" dirty="0" smtClean="0">
                <a:solidFill>
                  <a:schemeClr val="tx1"/>
                </a:solidFill>
              </a:rPr>
              <a:t>S1 : id05 </a:t>
            </a:r>
            <a:r>
              <a:rPr lang="ko-KR" altLang="en-US" sz="1050" dirty="0" smtClean="0">
                <a:solidFill>
                  <a:schemeClr val="tx1"/>
                </a:solidFill>
              </a:rPr>
              <a:t>분포 상이 </a:t>
            </a:r>
            <a:endParaRPr lang="en-US" altLang="ko-KR" sz="1050" dirty="0" smtClean="0">
              <a:solidFill>
                <a:schemeClr val="tx1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en-US" altLang="ko-KR" sz="1050" dirty="0" smtClean="0">
                <a:solidFill>
                  <a:schemeClr val="tx1"/>
                </a:solidFill>
              </a:rPr>
              <a:t>S2 : id05, id10 </a:t>
            </a:r>
            <a:r>
              <a:rPr lang="ko-KR" altLang="en-US" sz="1050" dirty="0">
                <a:solidFill>
                  <a:schemeClr val="tx1"/>
                </a:solidFill>
              </a:rPr>
              <a:t>분포 상이 </a:t>
            </a:r>
            <a:endParaRPr lang="en-US" altLang="ko-KR" sz="1050" dirty="0" smtClean="0">
              <a:solidFill>
                <a:schemeClr val="tx1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en-US" altLang="ko-KR" sz="1050" dirty="0" smtClean="0">
                <a:solidFill>
                  <a:schemeClr val="tx1"/>
                </a:solidFill>
              </a:rPr>
              <a:t>S3 : </a:t>
            </a:r>
            <a:r>
              <a:rPr lang="en-US" altLang="ko-KR" sz="1050" dirty="0">
                <a:solidFill>
                  <a:schemeClr val="tx1"/>
                </a:solidFill>
              </a:rPr>
              <a:t>id05 </a:t>
            </a:r>
            <a:r>
              <a:rPr lang="ko-KR" altLang="en-US" sz="1050" dirty="0">
                <a:solidFill>
                  <a:schemeClr val="tx1"/>
                </a:solidFill>
              </a:rPr>
              <a:t>분포 상이 </a:t>
            </a:r>
            <a:endParaRPr lang="en-US" altLang="ko-KR" sz="1050" dirty="0" smtClean="0">
              <a:solidFill>
                <a:schemeClr val="tx1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endParaRPr lang="en-US" altLang="ko-KR" sz="1050" dirty="0" smtClean="0">
              <a:solidFill>
                <a:schemeClr val="tx1"/>
              </a:solidFill>
            </a:endParaRPr>
          </a:p>
          <a:p>
            <a:r>
              <a:rPr lang="en-US" altLang="ko-KR" sz="105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id05 </a:t>
            </a:r>
            <a:r>
              <a:rPr lang="ko-KR" altLang="en-US" sz="105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수명가이드</a:t>
            </a:r>
            <a:r>
              <a:rPr lang="ko-KR" altLang="en-US" sz="1050" dirty="0" smtClean="0">
                <a:solidFill>
                  <a:schemeClr val="tx1"/>
                </a:solidFill>
                <a:sym typeface="Wingdings" panose="05000000000000000000" pitchFamily="2" charset="2"/>
              </a:rPr>
              <a:t> 거의 준수하지 않은 사람 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664968" y="1421227"/>
            <a:ext cx="288032" cy="1359701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7778398" y="1421227"/>
            <a:ext cx="288032" cy="1359701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628498" y="1421227"/>
            <a:ext cx="288032" cy="1359701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2504728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S1</a:t>
            </a:r>
            <a:endParaRPr lang="ko-KR" altLang="en-US" sz="1400" dirty="0"/>
          </a:p>
        </p:txBody>
      </p:sp>
      <p:sp>
        <p:nvSpPr>
          <p:cNvPr id="14" name="직사각형 13"/>
          <p:cNvSpPr/>
          <p:nvPr/>
        </p:nvSpPr>
        <p:spPr>
          <a:xfrm>
            <a:off x="5492775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S2</a:t>
            </a:r>
            <a:endParaRPr lang="ko-KR" altLang="en-US" sz="1400" dirty="0"/>
          </a:p>
        </p:txBody>
      </p:sp>
      <p:sp>
        <p:nvSpPr>
          <p:cNvPr id="15" name="직사각형 14"/>
          <p:cNvSpPr/>
          <p:nvPr/>
        </p:nvSpPr>
        <p:spPr>
          <a:xfrm>
            <a:off x="8662352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S3</a:t>
            </a:r>
            <a:endParaRPr lang="ko-KR" altLang="en-US" sz="1400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95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건수 및 타겟 </a:t>
            </a:r>
            <a:r>
              <a:rPr lang="ko-KR" altLang="en-US" dirty="0" smtClean="0"/>
              <a:t>평점 </a:t>
            </a:r>
            <a:r>
              <a:rPr lang="en-US" altLang="ko-KR" dirty="0" smtClean="0"/>
              <a:t>: Q1 ~ Q3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@@@</a:t>
            </a:r>
            <a:endParaRPr lang="ko-KR" altLang="en-US" b="0" dirty="0"/>
          </a:p>
        </p:txBody>
      </p:sp>
      <p:sp>
        <p:nvSpPr>
          <p:cNvPr id="9" name="직사각형 8"/>
          <p:cNvSpPr/>
          <p:nvPr/>
        </p:nvSpPr>
        <p:spPr>
          <a:xfrm>
            <a:off x="581589" y="3145849"/>
            <a:ext cx="8691891" cy="311755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en-US" altLang="ko-KR" sz="1050" dirty="0" smtClean="0">
                <a:solidFill>
                  <a:schemeClr val="tx1"/>
                </a:solidFill>
              </a:rPr>
              <a:t>Q2 </a:t>
            </a:r>
            <a:r>
              <a:rPr lang="en-US" altLang="ko-KR" sz="1050" dirty="0">
                <a:solidFill>
                  <a:schemeClr val="tx1"/>
                </a:solidFill>
              </a:rPr>
              <a:t>: </a:t>
            </a:r>
            <a:r>
              <a:rPr lang="en-US" altLang="ko-KR" sz="1050" dirty="0" smtClean="0">
                <a:solidFill>
                  <a:schemeClr val="tx1"/>
                </a:solidFill>
              </a:rPr>
              <a:t>id05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 smtClean="0">
                <a:solidFill>
                  <a:schemeClr val="tx1"/>
                </a:solidFill>
              </a:rPr>
              <a:t>분포 </a:t>
            </a:r>
            <a:r>
              <a:rPr lang="ko-KR" altLang="en-US" sz="1050" dirty="0">
                <a:solidFill>
                  <a:schemeClr val="tx1"/>
                </a:solidFill>
              </a:rPr>
              <a:t>상이 </a:t>
            </a:r>
            <a:endParaRPr lang="en-US" altLang="ko-KR" sz="1050" dirty="0">
              <a:solidFill>
                <a:schemeClr val="tx1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en-US" altLang="ko-KR" sz="1050" dirty="0">
                <a:solidFill>
                  <a:schemeClr val="tx1"/>
                </a:solidFill>
                <a:sym typeface="Wingdings" panose="05000000000000000000" pitchFamily="2" charset="2"/>
              </a:rPr>
              <a:t> id05 </a:t>
            </a:r>
            <a:r>
              <a:rPr lang="ko-KR" altLang="en-US" sz="1050" dirty="0" err="1">
                <a:solidFill>
                  <a:schemeClr val="tx1"/>
                </a:solidFill>
                <a:sym typeface="Wingdings" panose="05000000000000000000" pitchFamily="2" charset="2"/>
              </a:rPr>
              <a:t>수명가이드</a:t>
            </a:r>
            <a:r>
              <a:rPr lang="ko-KR" altLang="en-US" sz="1050" dirty="0">
                <a:solidFill>
                  <a:schemeClr val="tx1"/>
                </a:solidFill>
                <a:sym typeface="Wingdings" panose="05000000000000000000" pitchFamily="2" charset="2"/>
              </a:rPr>
              <a:t> 거의 준수하지 않은 사람 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504728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Q1</a:t>
            </a:r>
            <a:endParaRPr lang="ko-KR" altLang="en-US" sz="1400" dirty="0"/>
          </a:p>
        </p:txBody>
      </p:sp>
      <p:sp>
        <p:nvSpPr>
          <p:cNvPr id="14" name="직사각형 13"/>
          <p:cNvSpPr/>
          <p:nvPr/>
        </p:nvSpPr>
        <p:spPr>
          <a:xfrm>
            <a:off x="5492775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Q</a:t>
            </a:r>
            <a:r>
              <a:rPr lang="en-US" altLang="ko-KR" sz="1400" dirty="0" smtClean="0"/>
              <a:t>2</a:t>
            </a:r>
            <a:endParaRPr lang="ko-KR" altLang="en-US" sz="1400" dirty="0"/>
          </a:p>
        </p:txBody>
      </p:sp>
      <p:sp>
        <p:nvSpPr>
          <p:cNvPr id="15" name="직사각형 14"/>
          <p:cNvSpPr/>
          <p:nvPr/>
        </p:nvSpPr>
        <p:spPr>
          <a:xfrm>
            <a:off x="8662352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Q</a:t>
            </a:r>
            <a:r>
              <a:rPr lang="en-US" altLang="ko-KR" sz="1400" dirty="0" smtClean="0"/>
              <a:t>3</a:t>
            </a:r>
            <a:endParaRPr lang="ko-KR" altLang="en-US" sz="1400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08" y="1335887"/>
            <a:ext cx="2679598" cy="1733073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758" y="1331267"/>
            <a:ext cx="2679598" cy="1733073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632" y="1320204"/>
            <a:ext cx="2679598" cy="1733073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4664968" y="1421227"/>
            <a:ext cx="288032" cy="1359701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72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월별 타겟 평점 </a:t>
            </a:r>
            <a:r>
              <a:rPr lang="en-US" altLang="ko-KR" dirty="0" smtClean="0"/>
              <a:t>: S1 ~ S3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@@@</a:t>
            </a:r>
            <a:endParaRPr lang="ko-KR" altLang="en-US" b="0" dirty="0"/>
          </a:p>
        </p:txBody>
      </p:sp>
      <p:sp>
        <p:nvSpPr>
          <p:cNvPr id="9" name="직사각형 8"/>
          <p:cNvSpPr/>
          <p:nvPr/>
        </p:nvSpPr>
        <p:spPr>
          <a:xfrm>
            <a:off x="581589" y="3145849"/>
            <a:ext cx="8691891" cy="311755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1050" dirty="0" smtClean="0">
              <a:solidFill>
                <a:schemeClr val="tx1"/>
              </a:solidFill>
            </a:endParaRPr>
          </a:p>
          <a:p>
            <a:r>
              <a:rPr lang="ko-KR" altLang="en-US" sz="1050" dirty="0" smtClean="0">
                <a:solidFill>
                  <a:schemeClr val="tx1"/>
                </a:solidFill>
              </a:rPr>
              <a:t>특이사항 없음 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504728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S1</a:t>
            </a:r>
            <a:endParaRPr lang="ko-KR" altLang="en-US" sz="1400" dirty="0"/>
          </a:p>
        </p:txBody>
      </p:sp>
      <p:sp>
        <p:nvSpPr>
          <p:cNvPr id="14" name="직사각형 13"/>
          <p:cNvSpPr/>
          <p:nvPr/>
        </p:nvSpPr>
        <p:spPr>
          <a:xfrm>
            <a:off x="5492775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S2</a:t>
            </a:r>
            <a:endParaRPr lang="ko-KR" altLang="en-US" sz="1400" dirty="0"/>
          </a:p>
        </p:txBody>
      </p:sp>
      <p:sp>
        <p:nvSpPr>
          <p:cNvPr id="15" name="직사각형 14"/>
          <p:cNvSpPr/>
          <p:nvPr/>
        </p:nvSpPr>
        <p:spPr>
          <a:xfrm>
            <a:off x="8662352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S3</a:t>
            </a:r>
            <a:endParaRPr lang="ko-KR" altLang="en-US" sz="1400" dirty="0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04" y="1196430"/>
            <a:ext cx="2832315" cy="1872208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948" y="1196430"/>
            <a:ext cx="2832315" cy="1872208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165" y="1196752"/>
            <a:ext cx="2832315" cy="1872208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11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월별 타겟 평점 </a:t>
            </a:r>
            <a:r>
              <a:rPr lang="en-US" altLang="ko-KR" dirty="0" smtClean="0"/>
              <a:t>: Q1 ~ Q3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@@@</a:t>
            </a:r>
            <a:endParaRPr lang="ko-KR" altLang="en-US" b="0" dirty="0"/>
          </a:p>
        </p:txBody>
      </p:sp>
      <p:sp>
        <p:nvSpPr>
          <p:cNvPr id="9" name="직사각형 8"/>
          <p:cNvSpPr/>
          <p:nvPr/>
        </p:nvSpPr>
        <p:spPr>
          <a:xfrm>
            <a:off x="581589" y="3145849"/>
            <a:ext cx="8691891" cy="311755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en-US" altLang="ko-KR" sz="1050" dirty="0" smtClean="0">
                <a:solidFill>
                  <a:schemeClr val="tx1"/>
                </a:solidFill>
              </a:rPr>
              <a:t>Q2 </a:t>
            </a:r>
            <a:r>
              <a:rPr lang="en-US" altLang="ko-KR" sz="1050" dirty="0">
                <a:solidFill>
                  <a:schemeClr val="tx1"/>
                </a:solidFill>
              </a:rPr>
              <a:t>: </a:t>
            </a:r>
            <a:r>
              <a:rPr lang="en-US" altLang="ko-KR" sz="1050" dirty="0" smtClean="0">
                <a:solidFill>
                  <a:schemeClr val="tx1"/>
                </a:solidFill>
              </a:rPr>
              <a:t>7</a:t>
            </a:r>
            <a:r>
              <a:rPr lang="ko-KR" altLang="en-US" sz="1050" dirty="0" smtClean="0">
                <a:solidFill>
                  <a:schemeClr val="tx1"/>
                </a:solidFill>
              </a:rPr>
              <a:t>월 상이 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504728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Q1</a:t>
            </a:r>
            <a:endParaRPr lang="ko-KR" altLang="en-US" sz="1400" dirty="0"/>
          </a:p>
        </p:txBody>
      </p:sp>
      <p:sp>
        <p:nvSpPr>
          <p:cNvPr id="14" name="직사각형 13"/>
          <p:cNvSpPr/>
          <p:nvPr/>
        </p:nvSpPr>
        <p:spPr>
          <a:xfrm>
            <a:off x="5492775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Q</a:t>
            </a:r>
            <a:r>
              <a:rPr lang="en-US" altLang="ko-KR" sz="1400" dirty="0" smtClean="0"/>
              <a:t>2</a:t>
            </a:r>
            <a:endParaRPr lang="ko-KR" altLang="en-US" sz="1400" dirty="0"/>
          </a:p>
        </p:txBody>
      </p:sp>
      <p:sp>
        <p:nvSpPr>
          <p:cNvPr id="15" name="직사각형 14"/>
          <p:cNvSpPr/>
          <p:nvPr/>
        </p:nvSpPr>
        <p:spPr>
          <a:xfrm>
            <a:off x="8662352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Q</a:t>
            </a:r>
            <a:r>
              <a:rPr lang="en-US" altLang="ko-KR" sz="1400" dirty="0" smtClean="0"/>
              <a:t>3</a:t>
            </a:r>
            <a:endParaRPr lang="ko-KR" altLang="en-US" sz="14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43" y="1296728"/>
            <a:ext cx="2618421" cy="173082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919" y="1285588"/>
            <a:ext cx="2747144" cy="181590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03" y="1285588"/>
            <a:ext cx="2715981" cy="1795309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89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요일별</a:t>
            </a:r>
            <a:r>
              <a:rPr lang="ko-KR" altLang="en-US" dirty="0" smtClean="0"/>
              <a:t> 타겟 평점 </a:t>
            </a:r>
            <a:r>
              <a:rPr lang="en-US" altLang="ko-KR" dirty="0" smtClean="0"/>
              <a:t>: S1 ~ S3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@@@</a:t>
            </a:r>
            <a:endParaRPr lang="ko-KR" altLang="en-US" b="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581589" y="3145849"/>
            <a:ext cx="8691891" cy="311755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1050" dirty="0" smtClean="0">
              <a:solidFill>
                <a:schemeClr val="tx1"/>
              </a:solidFill>
            </a:endParaRPr>
          </a:p>
          <a:p>
            <a:r>
              <a:rPr lang="ko-KR" altLang="en-US" sz="1050" dirty="0" smtClean="0">
                <a:solidFill>
                  <a:schemeClr val="tx1"/>
                </a:solidFill>
              </a:rPr>
              <a:t>특이사항 없음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504728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</a:t>
            </a:r>
            <a:r>
              <a:rPr lang="en-US" altLang="ko-KR" sz="1400" dirty="0" smtClean="0"/>
              <a:t>1</a:t>
            </a:r>
            <a:endParaRPr lang="ko-KR" altLang="en-US" sz="1400" dirty="0"/>
          </a:p>
        </p:txBody>
      </p:sp>
      <p:sp>
        <p:nvSpPr>
          <p:cNvPr id="14" name="직사각형 13"/>
          <p:cNvSpPr/>
          <p:nvPr/>
        </p:nvSpPr>
        <p:spPr>
          <a:xfrm>
            <a:off x="5492775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S2</a:t>
            </a:r>
            <a:endParaRPr lang="ko-KR" altLang="en-US" sz="1400" dirty="0"/>
          </a:p>
        </p:txBody>
      </p:sp>
      <p:sp>
        <p:nvSpPr>
          <p:cNvPr id="15" name="직사각형 14"/>
          <p:cNvSpPr/>
          <p:nvPr/>
        </p:nvSpPr>
        <p:spPr>
          <a:xfrm>
            <a:off x="8662352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S3</a:t>
            </a:r>
            <a:endParaRPr lang="ko-KR" altLang="en-US" sz="14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67" y="1263693"/>
            <a:ext cx="2569857" cy="1698719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7129" y="1248990"/>
            <a:ext cx="2611885" cy="17265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1595" y="1230845"/>
            <a:ext cx="2611885" cy="172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591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요일별</a:t>
            </a:r>
            <a:r>
              <a:rPr lang="ko-KR" altLang="en-US" dirty="0" smtClean="0"/>
              <a:t> 타겟 평점 </a:t>
            </a:r>
            <a:r>
              <a:rPr lang="en-US" altLang="ko-KR" dirty="0" smtClean="0"/>
              <a:t>: S1 ~ S3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@@@</a:t>
            </a:r>
            <a:endParaRPr lang="ko-KR" altLang="en-US" b="0" dirty="0"/>
          </a:p>
        </p:txBody>
      </p:sp>
      <p:sp>
        <p:nvSpPr>
          <p:cNvPr id="9" name="직사각형 8"/>
          <p:cNvSpPr/>
          <p:nvPr/>
        </p:nvSpPr>
        <p:spPr>
          <a:xfrm>
            <a:off x="581589" y="3145849"/>
            <a:ext cx="8691891" cy="311755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1050" dirty="0" smtClean="0">
              <a:solidFill>
                <a:schemeClr val="tx1"/>
              </a:solidFill>
            </a:endParaRPr>
          </a:p>
          <a:p>
            <a:r>
              <a:rPr lang="ko-KR" altLang="en-US" sz="1050" dirty="0" smtClean="0">
                <a:solidFill>
                  <a:schemeClr val="tx1"/>
                </a:solidFill>
              </a:rPr>
              <a:t>특이사항 없음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504728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Q1</a:t>
            </a:r>
            <a:endParaRPr lang="ko-KR" altLang="en-US" sz="1400" dirty="0"/>
          </a:p>
        </p:txBody>
      </p:sp>
      <p:sp>
        <p:nvSpPr>
          <p:cNvPr id="14" name="직사각형 13"/>
          <p:cNvSpPr/>
          <p:nvPr/>
        </p:nvSpPr>
        <p:spPr>
          <a:xfrm>
            <a:off x="5492775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Q</a:t>
            </a:r>
            <a:r>
              <a:rPr lang="en-US" altLang="ko-KR" sz="1400" dirty="0" smtClean="0"/>
              <a:t>2</a:t>
            </a:r>
            <a:endParaRPr lang="ko-KR" altLang="en-US" sz="1400" dirty="0"/>
          </a:p>
        </p:txBody>
      </p:sp>
      <p:sp>
        <p:nvSpPr>
          <p:cNvPr id="15" name="직사각형 14"/>
          <p:cNvSpPr/>
          <p:nvPr/>
        </p:nvSpPr>
        <p:spPr>
          <a:xfrm>
            <a:off x="8662352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Q</a:t>
            </a:r>
            <a:r>
              <a:rPr lang="en-US" altLang="ko-KR" sz="1400" dirty="0" smtClean="0"/>
              <a:t>3</a:t>
            </a:r>
            <a:endParaRPr lang="ko-KR" altLang="en-US" sz="14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95" y="1257181"/>
            <a:ext cx="2776518" cy="183532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523" y="1306394"/>
            <a:ext cx="2645132" cy="174847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455" y="1189049"/>
            <a:ext cx="2982090" cy="1971212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687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4294967295"/>
          </p:nvPr>
        </p:nvSpPr>
        <p:spPr>
          <a:xfrm>
            <a:off x="760413" y="1373188"/>
            <a:ext cx="9145587" cy="50800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[train/valid]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건수 및 타겟 평점</a:t>
            </a:r>
          </a:p>
          <a:p>
            <a:r>
              <a:rPr lang="ko-KR" altLang="en-US" dirty="0"/>
              <a:t>월별 타겟 평점</a:t>
            </a:r>
          </a:p>
          <a:p>
            <a:r>
              <a:rPr lang="ko-KR" altLang="en-US" dirty="0" err="1"/>
              <a:t>요일별</a:t>
            </a:r>
            <a:r>
              <a:rPr lang="ko-KR" altLang="en-US" dirty="0"/>
              <a:t> 타겟 평점</a:t>
            </a:r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[</a:t>
            </a:r>
            <a:r>
              <a:rPr lang="en-US" altLang="ko-KR" dirty="0"/>
              <a:t>train/valid/test]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수면시간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기상시간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취침시간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걸음수</a:t>
            </a:r>
            <a:endParaRPr lang="ko-KR" altLang="en-US" dirty="0"/>
          </a:p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심박동수</a:t>
            </a:r>
            <a:endParaRPr lang="ko-KR" altLang="en-US" dirty="0"/>
          </a:p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앱사용시간</a:t>
            </a:r>
            <a:endParaRPr lang="ko-KR" altLang="en-US" dirty="0"/>
          </a:p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취침전</a:t>
            </a:r>
            <a:r>
              <a:rPr lang="ko-KR" altLang="en-US" dirty="0"/>
              <a:t> </a:t>
            </a:r>
            <a:r>
              <a:rPr lang="ko-KR" altLang="en-US" dirty="0" err="1"/>
              <a:t>앱사용시간</a:t>
            </a:r>
            <a:endParaRPr lang="ko-KR" altLang="en-US" dirty="0"/>
          </a:p>
          <a:p>
            <a:r>
              <a:rPr lang="en-US" altLang="ko-KR" dirty="0"/>
              <a:t>id</a:t>
            </a:r>
            <a:r>
              <a:rPr lang="ko-KR" altLang="en-US" dirty="0"/>
              <a:t>별 평균 와이파이 이용기기건수 </a:t>
            </a:r>
            <a:r>
              <a:rPr lang="en-US" altLang="ko-KR" dirty="0"/>
              <a:t>/ </a:t>
            </a:r>
            <a:r>
              <a:rPr lang="ko-KR" altLang="en-US" dirty="0"/>
              <a:t>이용시간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블루투스 이용기기건수 </a:t>
            </a:r>
            <a:r>
              <a:rPr lang="en-US" altLang="ko-KR" dirty="0"/>
              <a:t>/ </a:t>
            </a:r>
            <a:r>
              <a:rPr lang="ko-KR" altLang="en-US" dirty="0"/>
              <a:t>이용시간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추정 휴가일수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추정 </a:t>
            </a:r>
            <a:r>
              <a:rPr lang="ko-KR" altLang="en-US" dirty="0" err="1"/>
              <a:t>수면시간대</a:t>
            </a:r>
            <a:r>
              <a:rPr lang="ko-KR" altLang="en-US" dirty="0"/>
              <a:t> </a:t>
            </a:r>
            <a:r>
              <a:rPr lang="ko-KR" altLang="en-US" dirty="0" err="1"/>
              <a:t>기상건수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빛</a:t>
            </a:r>
            <a:r>
              <a:rPr lang="en-US" altLang="ko-KR" dirty="0"/>
              <a:t>,</a:t>
            </a:r>
            <a:r>
              <a:rPr lang="ko-KR" altLang="en-US" dirty="0"/>
              <a:t>소리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추정 </a:t>
            </a:r>
            <a:r>
              <a:rPr lang="ko-KR" altLang="en-US" dirty="0" err="1"/>
              <a:t>수면효율</a:t>
            </a:r>
            <a:endParaRPr lang="ko-KR" altLang="en-US" dirty="0"/>
          </a:p>
        </p:txBody>
      </p:sp>
      <p:sp>
        <p:nvSpPr>
          <p:cNvPr id="6" name="제목 5"/>
          <p:cNvSpPr>
            <a:spLocks noGrp="1"/>
          </p:cNvSpPr>
          <p:nvPr>
            <p:ph type="title" idx="4294967295"/>
          </p:nvPr>
        </p:nvSpPr>
        <p:spPr>
          <a:xfrm>
            <a:off x="754237" y="836712"/>
            <a:ext cx="992560" cy="360362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ko-KR" altLang="en-US" sz="2400" dirty="0" smtClean="0"/>
              <a:t>목차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799481" y="2924944"/>
            <a:ext cx="3649463" cy="3096344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030A0">
                  <a:alpha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217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평균 수면시간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/>
              <a:t>특이사항 없음</a:t>
            </a:r>
            <a:endParaRPr lang="ko-KR" altLang="en-US" b="0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42" y="1579587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069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평균 기상시간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 smtClean="0"/>
              <a:t>특이사항 없음</a:t>
            </a:r>
            <a:endParaRPr lang="ko-KR" altLang="en-US" b="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60" y="1507579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3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평균 취침시간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Id01 – id05</a:t>
            </a:r>
            <a:r>
              <a:rPr lang="en-US" altLang="ko-KR" b="0" dirty="0" smtClean="0"/>
              <a:t>, id08, id10 : train, valid, test </a:t>
            </a:r>
            <a:r>
              <a:rPr lang="ko-KR" altLang="en-US" b="0" dirty="0" smtClean="0"/>
              <a:t>분포 유사 </a:t>
            </a:r>
            <a:endParaRPr lang="en-US" altLang="ko-KR" b="0" dirty="0" smtClean="0"/>
          </a:p>
          <a:p>
            <a:r>
              <a:rPr lang="en-US" altLang="ko-KR" b="0" dirty="0" smtClean="0"/>
              <a:t>Id06, id09 : valid, test </a:t>
            </a:r>
            <a:r>
              <a:rPr lang="ko-KR" altLang="en-US" b="0" dirty="0" smtClean="0"/>
              <a:t>분포 유사 </a:t>
            </a:r>
            <a:endParaRPr lang="en-US" altLang="ko-KR" b="0" dirty="0" smtClean="0"/>
          </a:p>
          <a:p>
            <a:r>
              <a:rPr lang="en-US" altLang="ko-KR" b="0" dirty="0" smtClean="0"/>
              <a:t>Id07 : train, valid, test </a:t>
            </a:r>
            <a:r>
              <a:rPr lang="ko-KR" altLang="en-US" b="0" dirty="0" smtClean="0"/>
              <a:t>분포 서로 상이 </a:t>
            </a:r>
            <a:endParaRPr lang="en-US" altLang="ko-KR" b="0" dirty="0" smtClean="0"/>
          </a:p>
          <a:p>
            <a:endParaRPr lang="ko-KR" altLang="en-US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42" y="1867619"/>
            <a:ext cx="7524750" cy="465772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5601072" y="3356992"/>
            <a:ext cx="648072" cy="3024336"/>
          </a:xfrm>
          <a:prstGeom prst="rect">
            <a:avLst/>
          </a:prstGeom>
          <a:noFill/>
          <a:ln w="31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7041232" y="3356992"/>
            <a:ext cx="648072" cy="3024336"/>
          </a:xfrm>
          <a:prstGeom prst="rect">
            <a:avLst/>
          </a:prstGeom>
          <a:noFill/>
          <a:ln w="31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4953000" y="3356992"/>
            <a:ext cx="648072" cy="3024336"/>
          </a:xfrm>
          <a:prstGeom prst="rect">
            <a:avLst/>
          </a:prstGeom>
          <a:noFill/>
          <a:ln w="31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856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걸음수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Id05 train</a:t>
            </a:r>
            <a:r>
              <a:rPr lang="ko-KR" altLang="en-US" b="0" dirty="0" smtClean="0"/>
              <a:t>만 살짝 분포 다름 </a:t>
            </a:r>
            <a:endParaRPr lang="ko-KR" altLang="en-US" b="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568" y="1627430"/>
            <a:ext cx="7524750" cy="4657725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4448943" y="2070400"/>
            <a:ext cx="573203" cy="4320480"/>
          </a:xfrm>
          <a:prstGeom prst="rect">
            <a:avLst/>
          </a:prstGeom>
          <a:noFill/>
          <a:ln w="31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765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</a:t>
            </a:r>
            <a:r>
              <a:rPr lang="ko-KR" altLang="en-US" dirty="0" smtClean="0"/>
              <a:t>별 평균 </a:t>
            </a:r>
            <a:r>
              <a:rPr lang="ko-KR" altLang="en-US" dirty="0" err="1" smtClean="0"/>
              <a:t>심박동수</a:t>
            </a:r>
            <a:r>
              <a:rPr lang="ko-KR" altLang="en-US" dirty="0" smtClean="0"/>
              <a:t> </a:t>
            </a:r>
            <a:r>
              <a:rPr lang="en-US" altLang="ko-KR" dirty="0"/>
              <a:t>(</a:t>
            </a:r>
            <a:r>
              <a:rPr lang="en-US" altLang="ko-KR" dirty="0" err="1" smtClean="0"/>
              <a:t>hr_evening_mean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/>
              <a:t>특이사항 없음</a:t>
            </a:r>
            <a:endParaRPr lang="ko-KR" altLang="en-US" b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40" y="1608408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260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</a:t>
            </a:r>
            <a:r>
              <a:rPr lang="ko-KR" altLang="en-US" dirty="0" smtClean="0"/>
              <a:t>별 평균 </a:t>
            </a:r>
            <a:r>
              <a:rPr lang="ko-KR" altLang="en-US" dirty="0" err="1" smtClean="0"/>
              <a:t>심박동수</a:t>
            </a:r>
            <a:r>
              <a:rPr lang="ko-KR" altLang="en-US" dirty="0" smtClean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hr_early_morning_mean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Id06 test </a:t>
            </a:r>
            <a:r>
              <a:rPr lang="ko-KR" altLang="en-US" b="0" dirty="0" err="1" smtClean="0"/>
              <a:t>데이터셋</a:t>
            </a:r>
            <a:r>
              <a:rPr lang="ko-KR" altLang="en-US" b="0" dirty="0" smtClean="0"/>
              <a:t> 분포 상이 </a:t>
            </a:r>
            <a:endParaRPr lang="ko-KR" altLang="en-US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40" y="1628800"/>
            <a:ext cx="7524750" cy="465772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5097016" y="2132856"/>
            <a:ext cx="737754" cy="4153669"/>
          </a:xfrm>
          <a:prstGeom prst="rect">
            <a:avLst/>
          </a:prstGeom>
          <a:noFill/>
          <a:ln w="31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656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7841952" cy="274638"/>
          </a:xfrm>
        </p:spPr>
        <p:txBody>
          <a:bodyPr/>
          <a:lstStyle/>
          <a:p>
            <a:r>
              <a:rPr lang="en-US" altLang="ko-KR" dirty="0" smtClean="0"/>
              <a:t>id</a:t>
            </a:r>
            <a:r>
              <a:rPr lang="ko-KR" altLang="en-US" dirty="0" smtClean="0"/>
              <a:t>별 평균 </a:t>
            </a:r>
            <a:r>
              <a:rPr lang="ko-KR" altLang="en-US" dirty="0" err="1" smtClean="0"/>
              <a:t>앱사용시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activehour_unique_app_count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/>
              <a:t>특이사항 없음</a:t>
            </a:r>
            <a:endParaRPr lang="ko-KR" altLang="en-US" b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612" y="1575436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63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7841952" cy="274638"/>
          </a:xfrm>
        </p:spPr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취침전</a:t>
            </a:r>
            <a:r>
              <a:rPr lang="ko-KR" altLang="en-US" dirty="0"/>
              <a:t> </a:t>
            </a:r>
            <a:r>
              <a:rPr lang="ko-KR" altLang="en-US" dirty="0" err="1" smtClean="0"/>
              <a:t>앱사용시간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 err="1"/>
              <a:t>beforebed_total_screen_time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Id10</a:t>
            </a:r>
            <a:r>
              <a:rPr lang="ko-KR" altLang="en-US" b="0" dirty="0" smtClean="0"/>
              <a:t>의 경우 </a:t>
            </a:r>
            <a:r>
              <a:rPr lang="en-US" altLang="ko-KR" b="0" dirty="0" smtClean="0"/>
              <a:t>valid, test </a:t>
            </a:r>
            <a:r>
              <a:rPr lang="ko-KR" altLang="en-US" b="0" dirty="0" smtClean="0"/>
              <a:t>분포 동일 </a:t>
            </a:r>
            <a:endParaRPr lang="ko-KR" altLang="en-US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40" y="1484784"/>
            <a:ext cx="7524750" cy="4657725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7977336" y="1700808"/>
            <a:ext cx="737754" cy="4320480"/>
          </a:xfrm>
          <a:prstGeom prst="rect">
            <a:avLst/>
          </a:prstGeom>
          <a:noFill/>
          <a:ln w="31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7709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7841952" cy="274638"/>
          </a:xfrm>
        </p:spPr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취침전</a:t>
            </a:r>
            <a:r>
              <a:rPr lang="ko-KR" altLang="en-US" dirty="0"/>
              <a:t> </a:t>
            </a:r>
            <a:r>
              <a:rPr lang="ko-KR" altLang="en-US" dirty="0" err="1" smtClean="0"/>
              <a:t>앱사용시간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 err="1"/>
              <a:t>beforebed_unique_app_count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/>
              <a:t>특이사항 없음</a:t>
            </a:r>
            <a:endParaRPr lang="ko-KR" altLang="en-US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40" y="1414355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3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평균 와이파이 </a:t>
            </a:r>
            <a:r>
              <a:rPr lang="ko-KR" altLang="en-US" dirty="0" smtClean="0"/>
              <a:t>세기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/>
              <a:t>특이사항 없음</a:t>
            </a:r>
            <a:endParaRPr lang="ko-KR" altLang="en-US" b="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560" y="1254055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35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평균 와이파이 </a:t>
            </a:r>
            <a:r>
              <a:rPr lang="ko-KR" altLang="en-US" dirty="0" err="1" smtClean="0"/>
              <a:t>신호건수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Id08 , id03, id05 </a:t>
            </a:r>
            <a:r>
              <a:rPr lang="ko-KR" altLang="en-US" b="0" dirty="0" smtClean="0"/>
              <a:t>분포 상이 </a:t>
            </a:r>
            <a:endParaRPr lang="ko-KR" altLang="en-US" b="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26" y="1578766"/>
            <a:ext cx="7524750" cy="465772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6177136" y="4365104"/>
            <a:ext cx="737754" cy="1871387"/>
          </a:xfrm>
          <a:prstGeom prst="rect">
            <a:avLst/>
          </a:prstGeom>
          <a:noFill/>
          <a:ln w="31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2757127" y="4077072"/>
            <a:ext cx="611697" cy="2159419"/>
          </a:xfrm>
          <a:prstGeom prst="rect">
            <a:avLst/>
          </a:prstGeom>
          <a:noFill/>
          <a:ln w="31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2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평균 블루투스 </a:t>
            </a:r>
            <a:r>
              <a:rPr lang="en-US" altLang="ko-KR" dirty="0" err="1"/>
              <a:t>ble_rssi_mean_afterwork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/>
              <a:t>특이사항 없음</a:t>
            </a:r>
            <a:endParaRPr lang="ko-KR" altLang="en-US" b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779" y="1346588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657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</a:t>
            </a:r>
            <a:r>
              <a:rPr lang="ko-KR" altLang="en-US" dirty="0" smtClean="0"/>
              <a:t>별 평균 블루투스 </a:t>
            </a:r>
            <a:r>
              <a:rPr lang="en-US" altLang="ko-KR" dirty="0" err="1"/>
              <a:t>ble_rssi_mean_sleeptime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/>
              <a:t>특이사항 없음</a:t>
            </a:r>
            <a:endParaRPr lang="ko-KR" altLang="en-US" b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40" y="1390826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45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추정 휴가일수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 smtClean="0"/>
              <a:t>이 변수는 분포가 각각 다르도록 만든 변수 </a:t>
            </a:r>
            <a:r>
              <a:rPr lang="en-US" altLang="ko-KR" b="0" dirty="0" smtClean="0"/>
              <a:t>(</a:t>
            </a:r>
            <a:r>
              <a:rPr lang="ko-KR" altLang="en-US" b="0" dirty="0" smtClean="0"/>
              <a:t>학습에서 제외하고 예외 조건으로  </a:t>
            </a:r>
            <a:r>
              <a:rPr lang="en-US" altLang="ko-KR" b="0" dirty="0" smtClean="0"/>
              <a:t>post processing </a:t>
            </a:r>
            <a:r>
              <a:rPr lang="ko-KR" altLang="en-US" b="0" dirty="0" smtClean="0"/>
              <a:t>필요</a:t>
            </a:r>
            <a:r>
              <a:rPr lang="en-US" altLang="ko-KR" b="0" dirty="0" smtClean="0"/>
              <a:t>)</a:t>
            </a:r>
            <a:endParaRPr lang="ko-KR" altLang="en-US" b="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340" y="1611406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530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</a:t>
            </a:r>
            <a:r>
              <a:rPr lang="ko-KR" altLang="en-US" dirty="0" smtClean="0"/>
              <a:t>별 추정 </a:t>
            </a:r>
            <a:r>
              <a:rPr lang="ko-KR" altLang="en-US" dirty="0" err="1" smtClean="0"/>
              <a:t>수면시간대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기상건수</a:t>
            </a:r>
            <a:r>
              <a:rPr lang="ko-KR" altLang="en-US" dirty="0" smtClean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awake_blocks</a:t>
            </a:r>
            <a:r>
              <a:rPr lang="en-US" altLang="ko-KR" dirty="0"/>
              <a:t>)</a:t>
            </a:r>
            <a:endParaRPr lang="en-US" altLang="ko-KR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※ </a:t>
            </a:r>
            <a:r>
              <a:rPr lang="ko-KR" altLang="en-US" dirty="0" smtClean="0">
                <a:solidFill>
                  <a:srgbClr val="FF0000"/>
                </a:solidFill>
              </a:rPr>
              <a:t>변수 </a:t>
            </a:r>
            <a:r>
              <a:rPr lang="ko-KR" altLang="en-US" dirty="0" err="1" smtClean="0">
                <a:solidFill>
                  <a:srgbClr val="FF0000"/>
                </a:solidFill>
              </a:rPr>
              <a:t>로직</a:t>
            </a:r>
            <a:r>
              <a:rPr lang="ko-KR" altLang="en-US" dirty="0" smtClean="0">
                <a:solidFill>
                  <a:srgbClr val="FF0000"/>
                </a:solidFill>
              </a:rPr>
              <a:t> 확인 필요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779" y="1575999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361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추정 </a:t>
            </a:r>
            <a:r>
              <a:rPr lang="ko-KR" altLang="en-US" dirty="0" err="1"/>
              <a:t>수면효율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/>
              <a:t>(</a:t>
            </a:r>
            <a:r>
              <a:rPr lang="ko-KR" altLang="en-US" b="0" dirty="0"/>
              <a:t>불끈 시간 </a:t>
            </a:r>
            <a:r>
              <a:rPr lang="en-US" altLang="ko-KR" b="0" dirty="0"/>
              <a:t>- </a:t>
            </a:r>
            <a:r>
              <a:rPr lang="ko-KR" altLang="en-US" b="0" dirty="0"/>
              <a:t>핸드폰 이용한 마지막 시간</a:t>
            </a:r>
            <a:r>
              <a:rPr lang="en-US" altLang="ko-KR" b="0" dirty="0"/>
              <a:t>) / </a:t>
            </a:r>
            <a:r>
              <a:rPr lang="ko-KR" altLang="en-US" b="0" dirty="0"/>
              <a:t>추정 수면시간 </a:t>
            </a:r>
            <a:r>
              <a:rPr lang="en-US" altLang="ko-KR" b="0" dirty="0"/>
              <a:t>= </a:t>
            </a:r>
            <a:r>
              <a:rPr lang="ko-KR" altLang="en-US" b="0" dirty="0"/>
              <a:t>추정 수면 효율 </a:t>
            </a:r>
            <a:r>
              <a:rPr lang="en-US" altLang="ko-KR" b="0" dirty="0"/>
              <a:t>(S2)</a:t>
            </a:r>
          </a:p>
        </p:txBody>
      </p:sp>
    </p:spTree>
    <p:extLst>
      <p:ext uri="{BB962C8B-B14F-4D97-AF65-F5344CB8AC3E}">
        <p14:creationId xmlns:p14="http://schemas.microsoft.com/office/powerpoint/2010/main" val="2161565935"/>
      </p:ext>
    </p:extLst>
  </p:cSld>
  <p:clrMapOvr>
    <a:masterClrMapping/>
  </p:clrMapOvr>
</p:sld>
</file>

<file path=ppt/theme/theme1.xml><?xml version="1.0" encoding="utf-8"?>
<a:theme xmlns:a="http://schemas.openxmlformats.org/drawingml/2006/main" name="KT_PMO_제안템플릿(가로)_20150501_v0.93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Cov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02_간지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2_간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03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05_마지막장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05_마지막장">
      <a:majorFont>
        <a:latin typeface="-2002"/>
        <a:ea typeface="-2002"/>
        <a:cs typeface=""/>
      </a:majorFont>
      <a:minorFont>
        <a:latin typeface="-윤고딕320"/>
        <a:ea typeface="-윤고딕32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5_마지막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23664</TotalTime>
  <Words>500</Words>
  <Application>Microsoft Office PowerPoint</Application>
  <PresentationFormat>A4 용지(210x297mm)</PresentationFormat>
  <Paragraphs>126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25</vt:i4>
      </vt:variant>
    </vt:vector>
  </HeadingPairs>
  <TitlesOfParts>
    <vt:vector size="42" baseType="lpstr">
      <vt:lpstr>-2002</vt:lpstr>
      <vt:lpstr>HY중고딕</vt:lpstr>
      <vt:lpstr>굴림</vt:lpstr>
      <vt:lpstr>나눔고딕</vt:lpstr>
      <vt:lpstr>나눔고딕 ExtraBold</vt:lpstr>
      <vt:lpstr>맑은 고딕</vt:lpstr>
      <vt:lpstr>-윤고딕320</vt:lpstr>
      <vt:lpstr>Arial</vt:lpstr>
      <vt:lpstr>Tahoma</vt:lpstr>
      <vt:lpstr>Verdana</vt:lpstr>
      <vt:lpstr>Wingdings</vt:lpstr>
      <vt:lpstr>KT_PMO_제안템플릿(가로)_20150501_v0.93</vt:lpstr>
      <vt:lpstr>02_간지</vt:lpstr>
      <vt:lpstr>03_컨텐츠영역</vt:lpstr>
      <vt:lpstr>05_마지막장</vt:lpstr>
      <vt:lpstr>4_컨텐츠영역</vt:lpstr>
      <vt:lpstr>5_컨텐츠영역</vt:lpstr>
      <vt:lpstr>데이터 탐색3 (검증 데이터셋 분포에 대한 이해)</vt:lpstr>
      <vt:lpstr>목차</vt:lpstr>
      <vt:lpstr>id별 건수 및 타겟 평점 : S1 ~ S3</vt:lpstr>
      <vt:lpstr>id별 건수 및 타겟 평점 : Q1 ~ Q3</vt:lpstr>
      <vt:lpstr>월별 타겟 평점 : S1 ~ S3 </vt:lpstr>
      <vt:lpstr>월별 타겟 평점 : Q1 ~ Q3 </vt:lpstr>
      <vt:lpstr>요일별 타겟 평점 : S1 ~ S3 </vt:lpstr>
      <vt:lpstr>요일별 타겟 평점 : S1 ~ S3 </vt:lpstr>
      <vt:lpstr>목차</vt:lpstr>
      <vt:lpstr>id별 평균 수면시간</vt:lpstr>
      <vt:lpstr>id별 평균 기상시간</vt:lpstr>
      <vt:lpstr>id별 평균 취침시간</vt:lpstr>
      <vt:lpstr>id별 평균 걸음수</vt:lpstr>
      <vt:lpstr>id별 평균 심박동수 (hr_evening_mean)</vt:lpstr>
      <vt:lpstr>id별 평균 심박동수 (hr_early_morning_mean)</vt:lpstr>
      <vt:lpstr>id별 평균 앱사용시 (activehour_unique_app_count)</vt:lpstr>
      <vt:lpstr>id별 평균 취침전 앱사용시간 (beforebed_total_screen_time)</vt:lpstr>
      <vt:lpstr>id별 평균 취침전 앱사용시간 (beforebed_unique_app_count)</vt:lpstr>
      <vt:lpstr>id별 평균 와이파이 세기</vt:lpstr>
      <vt:lpstr>id별 평균 와이파이 신호건수 </vt:lpstr>
      <vt:lpstr>id별 평균 블루투스 ble_rssi_mean_afterwork</vt:lpstr>
      <vt:lpstr>id별 평균 블루투스 ble_rssi_mean_sleeptime</vt:lpstr>
      <vt:lpstr>id별 추정 휴가일수</vt:lpstr>
      <vt:lpstr>id별 추정 수면시간대 기상건수 (awake_blocks)</vt:lpstr>
      <vt:lpstr>id별 추정 수면효율</vt:lpstr>
    </vt:vector>
  </TitlesOfParts>
  <Company>2e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Charles</dc:creator>
  <cp:lastModifiedBy>현종열</cp:lastModifiedBy>
  <cp:revision>1208</cp:revision>
  <dcterms:created xsi:type="dcterms:W3CDTF">2007-08-16T05:20:03Z</dcterms:created>
  <dcterms:modified xsi:type="dcterms:W3CDTF">2025-05-15T13:53:56Z</dcterms:modified>
</cp:coreProperties>
</file>