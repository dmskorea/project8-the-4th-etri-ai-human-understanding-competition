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13"/>
  </p:notesMasterIdLst>
  <p:handoutMasterIdLst>
    <p:handoutMasterId r:id="rId14"/>
  </p:handoutMasterIdLst>
  <p:sldIdLst>
    <p:sldId id="301" r:id="rId7"/>
    <p:sldId id="431" r:id="rId8"/>
    <p:sldId id="406" r:id="rId9"/>
    <p:sldId id="432" r:id="rId10"/>
    <p:sldId id="435" r:id="rId11"/>
    <p:sldId id="436" r:id="rId12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217" userDrawn="1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ACE6"/>
    <a:srgbClr val="FF7C80"/>
    <a:srgbClr val="FF0066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 varScale="1">
        <p:scale>
          <a:sx n="107" d="100"/>
          <a:sy n="107" d="100"/>
        </p:scale>
        <p:origin x="2070" y="102"/>
      </p:cViewPr>
      <p:guideLst>
        <p:guide orient="horz" pos="2115"/>
        <p:guide orient="horz" pos="73"/>
        <p:guide orient="horz" pos="3974"/>
        <p:guide orient="horz" pos="754"/>
        <p:guide orient="horz" pos="346"/>
        <p:guide orient="horz" pos="1162"/>
        <p:guide pos="3120"/>
        <p:guide pos="217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35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80" r:id="rId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136576" y="2564904"/>
            <a:ext cx="7359340" cy="114300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ko-KR" altLang="en-US" sz="2000" dirty="0" smtClean="0"/>
              <a:t>  </a:t>
            </a:r>
            <a:r>
              <a:rPr lang="en-US" altLang="ko-KR" sz="2000" dirty="0" smtClean="0"/>
              <a:t/>
            </a:r>
            <a:br>
              <a:rPr lang="en-US" altLang="ko-KR" sz="2000" dirty="0" smtClean="0"/>
            </a:br>
            <a:r>
              <a:rPr lang="ko-KR" altLang="en-US" sz="2000" dirty="0" err="1" smtClean="0"/>
              <a:t>설문형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small </a:t>
            </a:r>
            <a:r>
              <a:rPr lang="ko-KR" altLang="en-US" sz="2000" dirty="0" smtClean="0"/>
              <a:t>데이터를 위한 모델 최적화 </a:t>
            </a:r>
            <a:r>
              <a:rPr lang="en-US" altLang="ko-KR" sz="2000" dirty="0" smtClean="0"/>
              <a:t>(</a:t>
            </a:r>
            <a:r>
              <a:rPr lang="ko-KR" altLang="en-US" sz="2000" dirty="0" err="1"/>
              <a:t>생성형</a:t>
            </a:r>
            <a:r>
              <a:rPr lang="ko-KR" altLang="en-US" sz="2000" dirty="0"/>
              <a:t> </a:t>
            </a:r>
            <a:r>
              <a:rPr lang="en-US" altLang="ko-KR" sz="2000" dirty="0" smtClean="0"/>
              <a:t>AI</a:t>
            </a:r>
            <a:r>
              <a:rPr lang="ko-KR" altLang="en-US" sz="2000" dirty="0" smtClean="0"/>
              <a:t> 활용</a:t>
            </a:r>
            <a:r>
              <a:rPr lang="en-US" altLang="ko-KR" sz="2000" dirty="0" smtClean="0"/>
              <a:t>)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2025.05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5079479"/>
          </a:xfrm>
        </p:spPr>
        <p:txBody>
          <a:bodyPr/>
          <a:lstStyle/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주제 선정 배경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방법론 </a:t>
            </a:r>
            <a:endParaRPr lang="en-US" altLang="ko-KR" sz="1600" dirty="0" smtClean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1453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ko-KR" altLang="en-US" dirty="0" smtClean="0"/>
              <a:t>주제 선정 배경 </a:t>
            </a:r>
            <a:r>
              <a:rPr lang="en-US" altLang="ko-KR" dirty="0" smtClean="0"/>
              <a:t>(</a:t>
            </a:r>
            <a:r>
              <a:rPr lang="ko-KR" altLang="en-US" dirty="0" smtClean="0"/>
              <a:t>주제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생성형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를 활용한 모델 최적화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3096345"/>
          </a:xfrm>
        </p:spPr>
        <p:txBody>
          <a:bodyPr/>
          <a:lstStyle/>
          <a:p>
            <a:r>
              <a:rPr lang="ko-KR" altLang="en-US" b="0" dirty="0" smtClean="0"/>
              <a:t>이슈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샘플 사이즈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ym typeface="Wingdings" panose="05000000000000000000" pitchFamily="2" charset="2"/>
              </a:rPr>
              <a:t>학습 데이터 </a:t>
            </a:r>
            <a:r>
              <a:rPr lang="en-US" altLang="ko-KR" b="0" dirty="0" smtClean="0">
                <a:sym typeface="Wingdings" panose="05000000000000000000" pitchFamily="2" charset="2"/>
              </a:rPr>
              <a:t>450</a:t>
            </a:r>
            <a:r>
              <a:rPr lang="ko-KR" altLang="en-US" b="0" dirty="0" smtClean="0">
                <a:sym typeface="Wingdings" panose="05000000000000000000" pitchFamily="2" charset="2"/>
              </a:rPr>
              <a:t>건으로 일반적으로 모델 학습 어려움 쉽게 </a:t>
            </a:r>
            <a:r>
              <a:rPr lang="en-US" altLang="ko-KR" b="0" dirty="0" smtClean="0">
                <a:sym typeface="Wingdings" panose="05000000000000000000" pitchFamily="2" charset="2"/>
              </a:rPr>
              <a:t>under-fit or over-fit </a:t>
            </a:r>
            <a:r>
              <a:rPr lang="ko-KR" altLang="en-US" b="0" dirty="0" smtClean="0">
                <a:sym typeface="Wingdings" panose="05000000000000000000" pitchFamily="2" charset="2"/>
              </a:rPr>
              <a:t>발생</a:t>
            </a:r>
            <a:endParaRPr lang="en-US" altLang="ko-KR" b="0" dirty="0" smtClean="0">
              <a:sym typeface="Wingdings" panose="05000000000000000000" pitchFamily="2" charset="2"/>
            </a:endParaRPr>
          </a:p>
          <a:p>
            <a:endParaRPr lang="en-US" altLang="ko-KR" b="0" dirty="0">
              <a:sym typeface="Wingdings" panose="05000000000000000000" pitchFamily="2" charset="2"/>
            </a:endParaRPr>
          </a:p>
          <a:p>
            <a:r>
              <a:rPr lang="ko-KR" altLang="en-US" b="0" dirty="0" smtClean="0">
                <a:sym typeface="Wingdings" panose="05000000000000000000" pitchFamily="2" charset="2"/>
              </a:rPr>
              <a:t>모델 최적화를 위해서 여러가지 </a:t>
            </a:r>
            <a:r>
              <a:rPr lang="ko-KR" altLang="en-US" b="0" dirty="0" err="1" smtClean="0">
                <a:sym typeface="Wingdings" panose="05000000000000000000" pitchFamily="2" charset="2"/>
              </a:rPr>
              <a:t>다건의</a:t>
            </a:r>
            <a:r>
              <a:rPr lang="ko-KR" altLang="en-US" b="0" dirty="0" smtClean="0">
                <a:sym typeface="Wingdings" panose="05000000000000000000" pitchFamily="2" charset="2"/>
              </a:rPr>
              <a:t> </a:t>
            </a:r>
            <a:r>
              <a:rPr lang="en-US" altLang="ko-KR" b="0" dirty="0" smtClean="0">
                <a:sym typeface="Wingdings" panose="05000000000000000000" pitchFamily="2" charset="2"/>
              </a:rPr>
              <a:t>check-point </a:t>
            </a:r>
            <a:r>
              <a:rPr lang="ko-KR" altLang="en-US" b="0" dirty="0" smtClean="0">
                <a:sym typeface="Wingdings" panose="05000000000000000000" pitchFamily="2" charset="2"/>
              </a:rPr>
              <a:t>존재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ym typeface="Wingdings" panose="05000000000000000000" pitchFamily="2" charset="2"/>
              </a:rPr>
              <a:t>이를 모두 튜닝하는 </a:t>
            </a:r>
            <a:r>
              <a:rPr lang="en-US" altLang="ko-KR" b="0" dirty="0" smtClean="0">
                <a:sym typeface="Wingdings" panose="05000000000000000000" pitchFamily="2" charset="2"/>
              </a:rPr>
              <a:t>all-in-one </a:t>
            </a:r>
            <a:r>
              <a:rPr lang="ko-KR" altLang="en-US" b="0" dirty="0" smtClean="0">
                <a:sym typeface="Wingdings" panose="05000000000000000000" pitchFamily="2" charset="2"/>
              </a:rPr>
              <a:t>패키지 부재</a:t>
            </a:r>
            <a:endParaRPr lang="en-US" altLang="ko-KR" b="0" dirty="0" smtClean="0">
              <a:sym typeface="Wingdings" panose="05000000000000000000" pitchFamily="2" charset="2"/>
            </a:endParaRPr>
          </a:p>
          <a:p>
            <a:endParaRPr lang="en-US" altLang="ko-KR" b="0" dirty="0">
              <a:sym typeface="Wingdings" panose="05000000000000000000" pitchFamily="2" charset="2"/>
            </a:endParaRPr>
          </a:p>
          <a:p>
            <a:r>
              <a:rPr lang="ko-KR" altLang="en-US" b="0" dirty="0" err="1" smtClean="0">
                <a:sym typeface="Wingdings" panose="05000000000000000000" pitchFamily="2" charset="2"/>
              </a:rPr>
              <a:t>생성형</a:t>
            </a:r>
            <a:r>
              <a:rPr lang="ko-KR" altLang="en-US" b="0" dirty="0" smtClean="0">
                <a:sym typeface="Wingdings" panose="05000000000000000000" pitchFamily="2" charset="2"/>
              </a:rPr>
              <a:t> </a:t>
            </a:r>
            <a:r>
              <a:rPr lang="en-US" altLang="ko-KR" b="0" dirty="0" smtClean="0">
                <a:sym typeface="Wingdings" panose="05000000000000000000" pitchFamily="2" charset="2"/>
              </a:rPr>
              <a:t>AI</a:t>
            </a:r>
            <a:r>
              <a:rPr lang="ko-KR" altLang="en-US" b="0" dirty="0" smtClean="0">
                <a:sym typeface="Wingdings" panose="05000000000000000000" pitchFamily="2" charset="2"/>
              </a:rPr>
              <a:t>를 활용하여</a:t>
            </a:r>
            <a:r>
              <a:rPr lang="en-US" altLang="ko-KR" b="0" dirty="0" smtClean="0">
                <a:sym typeface="Wingdings" panose="05000000000000000000" pitchFamily="2" charset="2"/>
              </a:rPr>
              <a:t>, </a:t>
            </a:r>
            <a:r>
              <a:rPr lang="ko-KR" altLang="en-US" b="0" dirty="0" smtClean="0">
                <a:sym typeface="Wingdings" panose="05000000000000000000" pitchFamily="2" charset="2"/>
              </a:rPr>
              <a:t>모델 최적화를 진행하고자 함</a:t>
            </a:r>
            <a:endParaRPr lang="en-US" altLang="ko-KR" b="0" dirty="0" smtClean="0">
              <a:sym typeface="Wingdings" panose="05000000000000000000" pitchFamily="2" charset="2"/>
            </a:endParaRPr>
          </a:p>
          <a:p>
            <a:r>
              <a:rPr lang="en-US" altLang="ko-KR" b="0" dirty="0" smtClean="0">
                <a:solidFill>
                  <a:srgbClr val="FFC000"/>
                </a:solidFill>
                <a:sym typeface="Wingdings" panose="05000000000000000000" pitchFamily="2" charset="2"/>
              </a:rPr>
              <a:t>(※ </a:t>
            </a:r>
            <a:r>
              <a:rPr lang="ko-KR" altLang="en-US" b="0" dirty="0" smtClean="0">
                <a:solidFill>
                  <a:srgbClr val="FFC000"/>
                </a:solidFill>
                <a:sym typeface="Wingdings" panose="05000000000000000000" pitchFamily="2" charset="2"/>
              </a:rPr>
              <a:t>모델 </a:t>
            </a:r>
            <a:r>
              <a:rPr lang="en-US" altLang="ko-KR" b="0" dirty="0" smtClean="0">
                <a:solidFill>
                  <a:srgbClr val="FFC000"/>
                </a:solidFill>
                <a:sym typeface="Wingdings" panose="05000000000000000000" pitchFamily="2" charset="2"/>
              </a:rPr>
              <a:t>: QWEN 2.5-14B-Instruct-1M, </a:t>
            </a:r>
            <a:r>
              <a:rPr lang="ko-KR" altLang="en-US" b="0" dirty="0" smtClean="0">
                <a:solidFill>
                  <a:srgbClr val="FFC000"/>
                </a:solidFill>
                <a:sym typeface="Wingdings" panose="05000000000000000000" pitchFamily="2" charset="2"/>
              </a:rPr>
              <a:t>서버 </a:t>
            </a:r>
            <a:r>
              <a:rPr lang="en-US" altLang="ko-KR" b="0" dirty="0" smtClean="0">
                <a:solidFill>
                  <a:srgbClr val="FFC000"/>
                </a:solidFill>
                <a:sym typeface="Wingdings" panose="05000000000000000000" pitchFamily="2" charset="2"/>
              </a:rPr>
              <a:t>: </a:t>
            </a:r>
            <a:r>
              <a:rPr lang="en-US" altLang="ko-KR" b="0" dirty="0" err="1" smtClean="0">
                <a:solidFill>
                  <a:srgbClr val="FFC000"/>
                </a:solidFill>
                <a:sym typeface="Wingdings" panose="05000000000000000000" pitchFamily="2" charset="2"/>
              </a:rPr>
              <a:t>Golab</a:t>
            </a:r>
            <a:r>
              <a:rPr lang="en-US" altLang="ko-KR" b="0" dirty="0" smtClean="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en-US" altLang="ko-KR" b="0" dirty="0">
                <a:solidFill>
                  <a:srgbClr val="FFC000"/>
                </a:solidFill>
                <a:sym typeface="Wingdings" panose="05000000000000000000" pitchFamily="2" charset="2"/>
              </a:rPr>
              <a:t>Pro+ A100 VRAM </a:t>
            </a:r>
            <a:r>
              <a:rPr lang="en-US" altLang="ko-KR" b="0" dirty="0" smtClean="0">
                <a:solidFill>
                  <a:srgbClr val="FFC000"/>
                </a:solidFill>
                <a:sym typeface="Wingdings" panose="05000000000000000000" pitchFamily="2" charset="2"/>
              </a:rPr>
              <a:t>40G</a:t>
            </a:r>
            <a:r>
              <a:rPr lang="en-US" altLang="ko-KR" b="0" dirty="0" smtClean="0">
                <a:sym typeface="Wingdings" panose="05000000000000000000" pitchFamily="2" charset="2"/>
              </a:rPr>
              <a:t>)</a:t>
            </a:r>
          </a:p>
          <a:p>
            <a:endParaRPr lang="en-US" altLang="ko-KR" b="0" dirty="0" smtClean="0">
              <a:sym typeface="Wingdings" panose="05000000000000000000" pitchFamily="2" charset="2"/>
            </a:endParaRPr>
          </a:p>
          <a:p>
            <a:r>
              <a:rPr lang="en-US" altLang="ko-KR" b="0" dirty="0" smtClean="0">
                <a:sym typeface="Wingdings" panose="05000000000000000000" pitchFamily="2" charset="2"/>
              </a:rPr>
              <a:t>// </a:t>
            </a:r>
            <a:r>
              <a:rPr lang="ko-KR" altLang="en-US" b="0" dirty="0" smtClean="0">
                <a:sym typeface="Wingdings" panose="05000000000000000000" pitchFamily="2" charset="2"/>
              </a:rPr>
              <a:t>모델 최적화 영역 </a:t>
            </a:r>
            <a:r>
              <a:rPr lang="en-US" altLang="ko-KR" b="0" dirty="0" smtClean="0">
                <a:sym typeface="Wingdings" panose="05000000000000000000" pitchFamily="2" charset="2"/>
              </a:rPr>
              <a:t>:   </a:t>
            </a:r>
            <a:r>
              <a:rPr lang="ko-KR" altLang="en-US" b="0" dirty="0" err="1" smtClean="0">
                <a:sym typeface="Wingdings" panose="05000000000000000000" pitchFamily="2" charset="2"/>
              </a:rPr>
              <a:t>모델별</a:t>
            </a:r>
            <a:r>
              <a:rPr lang="ko-KR" altLang="en-US" b="0" dirty="0" smtClean="0">
                <a:sym typeface="Wingdings" panose="05000000000000000000" pitchFamily="2" charset="2"/>
              </a:rPr>
              <a:t> 최적화 </a:t>
            </a:r>
            <a:r>
              <a:rPr lang="en-US" altLang="ko-KR" b="0" dirty="0" smtClean="0">
                <a:sym typeface="Wingdings" panose="05000000000000000000" pitchFamily="2" charset="2"/>
              </a:rPr>
              <a:t>(Q1 ~ S3) </a:t>
            </a:r>
            <a:endParaRPr lang="en-US" altLang="ko-KR" b="0" dirty="0">
              <a:sym typeface="Wingdings" panose="05000000000000000000" pitchFamily="2" charset="2"/>
            </a:endParaRPr>
          </a:p>
          <a:p>
            <a:pPr marL="342900" indent="-342900">
              <a:buClrTx/>
              <a:buFont typeface="+mj-lt"/>
              <a:buAutoNum type="arabicPeriod"/>
            </a:pPr>
            <a:r>
              <a:rPr lang="en-US" altLang="ko-KR" b="0" dirty="0" smtClean="0">
                <a:sym typeface="Wingdings" panose="05000000000000000000" pitchFamily="2" charset="2"/>
              </a:rPr>
              <a:t>Feature selection</a:t>
            </a:r>
          </a:p>
          <a:p>
            <a:pPr marL="342900" indent="-342900">
              <a:buClrTx/>
              <a:buFont typeface="+mj-lt"/>
              <a:buAutoNum type="arabicPeriod"/>
            </a:pPr>
            <a:r>
              <a:rPr lang="en-US" altLang="ko-KR" b="0" dirty="0">
                <a:sym typeface="Wingdings" panose="05000000000000000000" pitchFamily="2" charset="2"/>
              </a:rPr>
              <a:t>H</a:t>
            </a:r>
            <a:r>
              <a:rPr lang="en-US" altLang="ko-KR" b="0" dirty="0" smtClean="0">
                <a:sym typeface="Wingdings" panose="05000000000000000000" pitchFamily="2" charset="2"/>
              </a:rPr>
              <a:t>yper parameter tuning </a:t>
            </a:r>
          </a:p>
          <a:p>
            <a:pPr marL="342900" indent="-342900">
              <a:buClrTx/>
              <a:buFont typeface="+mj-lt"/>
              <a:buAutoNum type="arabicPeriod"/>
            </a:pPr>
            <a:r>
              <a:rPr lang="en-US" altLang="ko-KR" b="0" dirty="0" smtClean="0"/>
              <a:t>Model ensemble </a:t>
            </a:r>
            <a:endParaRPr lang="ko-KR" altLang="en-US" b="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771092" y="4581128"/>
            <a:ext cx="2069486" cy="792088"/>
          </a:xfrm>
          <a:prstGeom prst="roundRect">
            <a:avLst>
              <a:gd name="adj" fmla="val 69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altLang="ko-KR" sz="1200">
                <a:sym typeface="Wingdings" panose="05000000000000000000" pitchFamily="2" charset="2"/>
              </a:rPr>
              <a:t>Feature selection</a:t>
            </a:r>
            <a:endParaRPr lang="en-US" altLang="ko-KR" sz="1200" dirty="0">
              <a:sym typeface="Wingdings" panose="05000000000000000000" pitchFamily="2" charset="2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3944888" y="4581128"/>
            <a:ext cx="2069486" cy="792088"/>
          </a:xfrm>
          <a:prstGeom prst="roundRect">
            <a:avLst>
              <a:gd name="adj" fmla="val 69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altLang="ko-KR" sz="1200">
                <a:sym typeface="Wingdings" panose="05000000000000000000" pitchFamily="2" charset="2"/>
              </a:rPr>
              <a:t>Hyper parameter tuning </a:t>
            </a:r>
            <a:endParaRPr lang="en-US" altLang="ko-KR" sz="1200" dirty="0">
              <a:sym typeface="Wingdings" panose="05000000000000000000" pitchFamily="2" charset="2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035788" y="4581128"/>
            <a:ext cx="2069486" cy="792088"/>
          </a:xfrm>
          <a:prstGeom prst="roundRect">
            <a:avLst>
              <a:gd name="adj" fmla="val 69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altLang="ko-KR" sz="1200"/>
              <a:t>Model ensemble </a:t>
            </a:r>
            <a:endParaRPr lang="ko-KR" altLang="en-US" sz="1200" dirty="0"/>
          </a:p>
        </p:txBody>
      </p:sp>
      <p:cxnSp>
        <p:nvCxnSpPr>
          <p:cNvPr id="11" name="직선 화살표 연결선 10"/>
          <p:cNvCxnSpPr>
            <a:stCxn id="8" idx="3"/>
            <a:endCxn id="9" idx="1"/>
          </p:cNvCxnSpPr>
          <p:nvPr/>
        </p:nvCxnSpPr>
        <p:spPr>
          <a:xfrm>
            <a:off x="2840578" y="4977172"/>
            <a:ext cx="1104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9" idx="3"/>
            <a:endCxn id="10" idx="1"/>
          </p:cNvCxnSpPr>
          <p:nvPr/>
        </p:nvCxnSpPr>
        <p:spPr>
          <a:xfrm>
            <a:off x="6014374" y="4977172"/>
            <a:ext cx="10214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528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방법론</a:t>
            </a:r>
            <a:r>
              <a:rPr lang="en-US" altLang="ko-KR" dirty="0" smtClean="0"/>
              <a:t>1, feature selection </a:t>
            </a:r>
            <a:endParaRPr lang="ko-KR" altLang="en-US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5616625"/>
          </a:xfrm>
        </p:spPr>
        <p:txBody>
          <a:bodyPr/>
          <a:lstStyle/>
          <a:p>
            <a:r>
              <a:rPr lang="en-US" altLang="ko-KR" sz="1200" b="0" dirty="0"/>
              <a:t># </a:t>
            </a:r>
            <a:r>
              <a:rPr lang="ko-KR" altLang="en-US" sz="1200" b="0" dirty="0"/>
              <a:t>지시사항 </a:t>
            </a:r>
            <a:endParaRPr lang="en-US" altLang="ko-KR" sz="1200" b="0" dirty="0"/>
          </a:p>
          <a:p>
            <a:r>
              <a:rPr lang="ko-KR" altLang="en-US" sz="1200" b="0" dirty="0" smtClean="0"/>
              <a:t>다음 </a:t>
            </a:r>
            <a:r>
              <a:rPr lang="ko-KR" altLang="en-US" sz="1200" b="0" dirty="0" err="1" smtClean="0"/>
              <a:t>변수중요도</a:t>
            </a:r>
            <a:r>
              <a:rPr lang="ko-KR" altLang="en-US" sz="1200" b="0" dirty="0" smtClean="0"/>
              <a:t> 정보를 활용해서 </a:t>
            </a:r>
            <a:r>
              <a:rPr lang="en-US" altLang="ko-KR" sz="1200" b="0" dirty="0" smtClean="0"/>
              <a:t>feature selection </a:t>
            </a:r>
            <a:r>
              <a:rPr lang="ko-KR" altLang="en-US" sz="1200" b="0" dirty="0" err="1" smtClean="0"/>
              <a:t>진행하시오</a:t>
            </a:r>
            <a:r>
              <a:rPr lang="en-US" altLang="ko-KR" sz="1200" b="0" dirty="0" smtClean="0"/>
              <a:t>. </a:t>
            </a:r>
          </a:p>
          <a:p>
            <a:r>
              <a:rPr lang="ko-KR" altLang="en-US" sz="1200" b="0" dirty="0" smtClean="0"/>
              <a:t>매 </a:t>
            </a:r>
            <a:r>
              <a:rPr lang="en-US" altLang="ko-KR" sz="1200" b="0" dirty="0" smtClean="0"/>
              <a:t>iteration </a:t>
            </a:r>
            <a:r>
              <a:rPr lang="ko-KR" altLang="en-US" sz="1200" b="0" dirty="0" smtClean="0"/>
              <a:t>마다 최 하위 변수 </a:t>
            </a:r>
            <a:r>
              <a:rPr lang="en-US" altLang="ko-KR" sz="1200" b="0" dirty="0" smtClean="0"/>
              <a:t>3</a:t>
            </a:r>
            <a:r>
              <a:rPr lang="ko-KR" altLang="en-US" sz="1200" b="0" dirty="0" smtClean="0"/>
              <a:t>개를 제거하시오</a:t>
            </a:r>
            <a:r>
              <a:rPr lang="en-US" altLang="ko-KR" sz="1200" b="0" dirty="0" smtClean="0"/>
              <a:t>. </a:t>
            </a:r>
          </a:p>
          <a:p>
            <a:r>
              <a:rPr lang="ko-KR" altLang="en-US" sz="1200" b="0" dirty="0" smtClean="0"/>
              <a:t>제거 전 </a:t>
            </a:r>
            <a:r>
              <a:rPr lang="en-US" altLang="ko-KR" sz="1200" b="0" dirty="0" smtClean="0"/>
              <a:t>f1 </a:t>
            </a:r>
            <a:r>
              <a:rPr lang="ko-KR" altLang="en-US" sz="1200" b="0" dirty="0" smtClean="0"/>
              <a:t>점수와 제거 후 </a:t>
            </a:r>
            <a:r>
              <a:rPr lang="en-US" altLang="ko-KR" sz="1200" b="0" dirty="0" smtClean="0"/>
              <a:t>f1 </a:t>
            </a:r>
            <a:r>
              <a:rPr lang="ko-KR" altLang="en-US" sz="1200" b="0" dirty="0" smtClean="0"/>
              <a:t>점수를 </a:t>
            </a:r>
            <a:r>
              <a:rPr lang="en-US" altLang="ko-KR" sz="1200" b="0" dirty="0" smtClean="0"/>
              <a:t>AB</a:t>
            </a:r>
            <a:r>
              <a:rPr lang="ko-KR" altLang="en-US" sz="1200" b="0" dirty="0" smtClean="0"/>
              <a:t>테스트를 진행해서 성능향상이 있는 경우 변수를 학습데이터셋에서 영구 제거하시오</a:t>
            </a:r>
            <a:r>
              <a:rPr lang="en-US" altLang="ko-KR" sz="1200" b="0" dirty="0" smtClean="0"/>
              <a:t>. </a:t>
            </a:r>
          </a:p>
          <a:p>
            <a:r>
              <a:rPr lang="ko-KR" altLang="en-US" sz="1200" b="0" dirty="0" err="1" smtClean="0"/>
              <a:t>변수셋이</a:t>
            </a:r>
            <a:r>
              <a:rPr lang="ko-KR" altLang="en-US" sz="1200" b="0" dirty="0" smtClean="0"/>
              <a:t> </a:t>
            </a:r>
            <a:r>
              <a:rPr lang="en-US" altLang="ko-KR" sz="1200" b="0" dirty="0" smtClean="0"/>
              <a:t>½</a:t>
            </a:r>
            <a:r>
              <a:rPr lang="ko-KR" altLang="en-US" sz="1200" b="0" dirty="0" smtClean="0"/>
              <a:t>에 도달하거나 모델 성능 최초 성능 대비 하락이 </a:t>
            </a:r>
            <a:r>
              <a:rPr lang="en-US" altLang="ko-KR" sz="1200" b="0" dirty="0" smtClean="0"/>
              <a:t>10% </a:t>
            </a:r>
            <a:r>
              <a:rPr lang="ko-KR" altLang="en-US" sz="1200" b="0" dirty="0" smtClean="0"/>
              <a:t>시 </a:t>
            </a:r>
            <a:r>
              <a:rPr lang="en-US" altLang="ko-KR" sz="1200" b="0" dirty="0" smtClean="0"/>
              <a:t>feature selection </a:t>
            </a:r>
            <a:r>
              <a:rPr lang="ko-KR" altLang="en-US" sz="1200" b="0" dirty="0" smtClean="0"/>
              <a:t>을 </a:t>
            </a:r>
            <a:r>
              <a:rPr lang="ko-KR" altLang="en-US" sz="1200" b="0" dirty="0" err="1" smtClean="0"/>
              <a:t>중단하시오</a:t>
            </a:r>
            <a:r>
              <a:rPr lang="en-US" altLang="ko-KR" sz="1200" b="0" dirty="0" smtClean="0"/>
              <a:t>. </a:t>
            </a:r>
          </a:p>
          <a:p>
            <a:endParaRPr lang="en-US" altLang="ko-KR" sz="1200" b="0" dirty="0" smtClean="0"/>
          </a:p>
          <a:p>
            <a:r>
              <a:rPr lang="en-US" altLang="ko-KR" sz="1200" b="0" dirty="0" smtClean="0"/>
              <a:t># </a:t>
            </a:r>
            <a:r>
              <a:rPr lang="ko-KR" altLang="en-US" sz="1200" b="0" dirty="0" smtClean="0"/>
              <a:t>프롬프트 제공 정보  </a:t>
            </a:r>
            <a:endParaRPr lang="en-US" altLang="ko-KR" sz="1200" b="0" dirty="0"/>
          </a:p>
          <a:p>
            <a:r>
              <a:rPr lang="en-US" altLang="ko-KR" sz="1200" b="0" dirty="0" smtClean="0"/>
              <a:t>1) </a:t>
            </a:r>
            <a:r>
              <a:rPr lang="ko-KR" altLang="en-US" sz="1200" b="0" dirty="0" err="1" smtClean="0"/>
              <a:t>변수중요도</a:t>
            </a:r>
            <a:r>
              <a:rPr lang="ko-KR" altLang="en-US" sz="1200" b="0" dirty="0" smtClean="0"/>
              <a:t> 상위</a:t>
            </a:r>
            <a:r>
              <a:rPr lang="en-US" altLang="ko-KR" sz="1200" b="0" dirty="0" smtClean="0"/>
              <a:t>10</a:t>
            </a:r>
            <a:r>
              <a:rPr lang="ko-KR" altLang="en-US" sz="1200" b="0" dirty="0" smtClean="0"/>
              <a:t>개 </a:t>
            </a:r>
            <a:r>
              <a:rPr lang="en-US" altLang="ko-KR" sz="1200" b="0" dirty="0" smtClean="0"/>
              <a:t>(gain)</a:t>
            </a:r>
          </a:p>
          <a:p>
            <a:r>
              <a:rPr lang="en-US" altLang="ko-KR" sz="1200" b="0" dirty="0" smtClean="0"/>
              <a:t>2) </a:t>
            </a:r>
            <a:r>
              <a:rPr lang="ko-KR" altLang="en-US" sz="1200" b="0" dirty="0" err="1"/>
              <a:t>변수중요도</a:t>
            </a:r>
            <a:r>
              <a:rPr lang="ko-KR" altLang="en-US" sz="1200" b="0" dirty="0"/>
              <a:t> </a:t>
            </a:r>
            <a:r>
              <a:rPr lang="ko-KR" altLang="en-US" sz="1200" b="0" dirty="0" smtClean="0"/>
              <a:t>하위</a:t>
            </a:r>
            <a:r>
              <a:rPr lang="en-US" altLang="ko-KR" sz="1200" b="0" dirty="0" smtClean="0"/>
              <a:t>10</a:t>
            </a:r>
            <a:r>
              <a:rPr lang="ko-KR" altLang="en-US" sz="1200" b="0" dirty="0"/>
              <a:t>개</a:t>
            </a:r>
            <a:r>
              <a:rPr lang="ko-KR" altLang="en-US" sz="1200" b="0" dirty="0" smtClean="0"/>
              <a:t> </a:t>
            </a:r>
            <a:r>
              <a:rPr lang="en-US" altLang="ko-KR" sz="1200" b="0" dirty="0"/>
              <a:t>(gain</a:t>
            </a:r>
            <a:r>
              <a:rPr lang="en-US" altLang="ko-KR" sz="1200" b="0" dirty="0" smtClean="0"/>
              <a:t>)</a:t>
            </a:r>
            <a:endParaRPr lang="en-US" altLang="ko-KR" sz="1200" b="0" dirty="0"/>
          </a:p>
          <a:p>
            <a:r>
              <a:rPr lang="en-US" altLang="ko-KR" sz="1200" b="0" dirty="0" smtClean="0"/>
              <a:t>3) </a:t>
            </a:r>
            <a:r>
              <a:rPr lang="ko-KR" altLang="en-US" sz="1200" b="0" dirty="0" err="1"/>
              <a:t>변수중요도</a:t>
            </a:r>
            <a:r>
              <a:rPr lang="ko-KR" altLang="en-US" sz="1200" b="0" dirty="0"/>
              <a:t> 상위</a:t>
            </a:r>
            <a:r>
              <a:rPr lang="en-US" altLang="ko-KR" sz="1200" b="0" dirty="0"/>
              <a:t>10</a:t>
            </a:r>
            <a:r>
              <a:rPr lang="ko-KR" altLang="en-US" sz="1200" b="0" dirty="0"/>
              <a:t>개 </a:t>
            </a:r>
            <a:r>
              <a:rPr lang="en-US" altLang="ko-KR" sz="1200" b="0" dirty="0" smtClean="0"/>
              <a:t>(permutation importance)</a:t>
            </a:r>
            <a:endParaRPr lang="en-US" altLang="ko-KR" sz="1200" b="0" dirty="0"/>
          </a:p>
          <a:p>
            <a:r>
              <a:rPr lang="en-US" altLang="ko-KR" sz="1200" b="0" dirty="0" smtClean="0"/>
              <a:t>4) </a:t>
            </a:r>
            <a:r>
              <a:rPr lang="ko-KR" altLang="en-US" sz="1200" b="0" dirty="0" err="1"/>
              <a:t>변수중요도</a:t>
            </a:r>
            <a:r>
              <a:rPr lang="ko-KR" altLang="en-US" sz="1200" b="0" dirty="0"/>
              <a:t> 하위</a:t>
            </a:r>
            <a:r>
              <a:rPr lang="en-US" altLang="ko-KR" sz="1200" b="0" dirty="0"/>
              <a:t>10</a:t>
            </a:r>
            <a:r>
              <a:rPr lang="ko-KR" altLang="en-US" sz="1200" b="0" dirty="0"/>
              <a:t>개 </a:t>
            </a:r>
            <a:r>
              <a:rPr lang="en-US" altLang="ko-KR" sz="1200" b="0" dirty="0" smtClean="0"/>
              <a:t>(</a:t>
            </a:r>
            <a:r>
              <a:rPr lang="en-US" altLang="ko-KR" sz="1200" b="0" dirty="0"/>
              <a:t>permutation</a:t>
            </a:r>
            <a:r>
              <a:rPr lang="en-US" altLang="ko-KR" sz="1200" b="0" dirty="0" smtClean="0"/>
              <a:t> </a:t>
            </a:r>
            <a:r>
              <a:rPr lang="en-US" altLang="ko-KR" sz="1200" b="0" dirty="0"/>
              <a:t>importance</a:t>
            </a:r>
            <a:r>
              <a:rPr lang="en-US" altLang="ko-KR" sz="1200" b="0" dirty="0" smtClean="0"/>
              <a:t>)</a:t>
            </a:r>
            <a:endParaRPr lang="en-US" altLang="ko-KR" sz="1200" b="0" dirty="0"/>
          </a:p>
          <a:p>
            <a:pPr indent="0"/>
            <a:r>
              <a:rPr lang="en-US" altLang="ko-KR" sz="1200" b="0" dirty="0" smtClean="0">
                <a:sym typeface="Wingdings" panose="05000000000000000000" pitchFamily="2" charset="2"/>
              </a:rPr>
              <a:t>- </a:t>
            </a:r>
            <a:r>
              <a:rPr lang="ko-KR" altLang="en-US" sz="1200" b="0" dirty="0" smtClean="0">
                <a:sym typeface="Wingdings" panose="05000000000000000000" pitchFamily="2" charset="2"/>
              </a:rPr>
              <a:t>투표 방식으로 하위 </a:t>
            </a:r>
            <a:r>
              <a:rPr lang="en-US" altLang="ko-KR" sz="1200" b="0" dirty="0" smtClean="0">
                <a:sym typeface="Wingdings" panose="05000000000000000000" pitchFamily="2" charset="2"/>
              </a:rPr>
              <a:t>3~5</a:t>
            </a:r>
            <a:r>
              <a:rPr lang="ko-KR" altLang="en-US" sz="1200" b="0" dirty="0" smtClean="0">
                <a:sym typeface="Wingdings" panose="05000000000000000000" pitchFamily="2" charset="2"/>
              </a:rPr>
              <a:t>개씩 변수 제거 </a:t>
            </a:r>
            <a:endParaRPr lang="en-US" altLang="ko-KR" sz="1200" b="0" dirty="0" smtClean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altLang="ko-KR" sz="1200" b="0" dirty="0" smtClean="0"/>
          </a:p>
          <a:p>
            <a:r>
              <a:rPr lang="en-US" altLang="ko-KR" sz="1200" b="0" dirty="0"/>
              <a:t>#</a:t>
            </a:r>
            <a:r>
              <a:rPr lang="en-US" altLang="ko-KR" sz="1200" b="0" dirty="0" smtClean="0"/>
              <a:t> AB </a:t>
            </a:r>
            <a:r>
              <a:rPr lang="ko-KR" altLang="en-US" sz="1200" b="0" dirty="0" smtClean="0"/>
              <a:t>테스트 </a:t>
            </a:r>
            <a:r>
              <a:rPr lang="en-US" altLang="ko-KR" sz="1200" b="0" dirty="0" smtClean="0"/>
              <a:t>: </a:t>
            </a:r>
          </a:p>
          <a:p>
            <a:r>
              <a:rPr lang="en-US" altLang="ko-KR" sz="1200" b="0" dirty="0" smtClean="0"/>
              <a:t>A </a:t>
            </a:r>
            <a:r>
              <a:rPr lang="ko-KR" altLang="en-US" sz="1200" b="0" dirty="0" smtClean="0"/>
              <a:t>변수 제거 전  </a:t>
            </a:r>
            <a:r>
              <a:rPr lang="en-US" altLang="ko-KR" sz="1200" b="0" dirty="0" smtClean="0"/>
              <a:t>vs B </a:t>
            </a:r>
            <a:r>
              <a:rPr lang="ko-KR" altLang="en-US" sz="1200" b="0" dirty="0" smtClean="0"/>
              <a:t>변수 제거 후</a:t>
            </a:r>
            <a:endParaRPr lang="en-US" altLang="ko-KR" sz="1200" b="0" dirty="0" smtClean="0"/>
          </a:p>
          <a:p>
            <a:endParaRPr lang="en-US" altLang="ko-KR" sz="1200" b="0" dirty="0" smtClean="0"/>
          </a:p>
          <a:p>
            <a:r>
              <a:rPr lang="en-US" altLang="ko-KR" sz="1200" b="0" dirty="0"/>
              <a:t>#</a:t>
            </a:r>
            <a:r>
              <a:rPr lang="en-US" altLang="ko-KR" sz="1200" b="0" dirty="0" smtClean="0"/>
              <a:t> stopping rule: </a:t>
            </a:r>
          </a:p>
          <a:p>
            <a:r>
              <a:rPr lang="en-US" altLang="ko-KR" sz="1200" b="0" dirty="0" smtClean="0"/>
              <a:t>1) </a:t>
            </a:r>
            <a:r>
              <a:rPr lang="ko-KR" altLang="en-US" sz="1200" b="0" dirty="0" smtClean="0"/>
              <a:t>최초 </a:t>
            </a:r>
            <a:r>
              <a:rPr lang="ko-KR" altLang="en-US" sz="1200" b="0" dirty="0" err="1" smtClean="0"/>
              <a:t>변수셋의</a:t>
            </a:r>
            <a:r>
              <a:rPr lang="ko-KR" altLang="en-US" sz="1200" b="0" dirty="0" smtClean="0"/>
              <a:t> </a:t>
            </a:r>
            <a:r>
              <a:rPr lang="en-US" altLang="ko-KR" sz="1200" b="0" dirty="0" smtClean="0"/>
              <a:t>½ </a:t>
            </a:r>
            <a:r>
              <a:rPr lang="ko-KR" altLang="en-US" sz="1200" b="0" dirty="0" smtClean="0"/>
              <a:t>도달하거나</a:t>
            </a:r>
            <a:endParaRPr lang="en-US" altLang="ko-KR" sz="1200" b="0" dirty="0" smtClean="0"/>
          </a:p>
          <a:p>
            <a:r>
              <a:rPr lang="en-US" altLang="ko-KR" sz="1200" b="0" dirty="0" smtClean="0"/>
              <a:t>2) </a:t>
            </a:r>
            <a:r>
              <a:rPr lang="ko-KR" altLang="en-US" sz="1200" b="0" dirty="0" smtClean="0"/>
              <a:t>모델 성능 하락이 </a:t>
            </a:r>
            <a:r>
              <a:rPr lang="en-US" altLang="ko-KR" sz="1200" b="0" dirty="0" smtClean="0"/>
              <a:t>10% </a:t>
            </a:r>
            <a:r>
              <a:rPr lang="ko-KR" altLang="en-US" sz="1200" b="0" dirty="0" smtClean="0"/>
              <a:t>이상 발생한 경우   </a:t>
            </a:r>
            <a:endParaRPr lang="en-US" altLang="ko-KR" sz="1200" b="0" dirty="0" smtClean="0"/>
          </a:p>
          <a:p>
            <a:r>
              <a:rPr lang="ko-KR" altLang="en-US" sz="1200" b="0" dirty="0" smtClean="0"/>
              <a:t> </a:t>
            </a:r>
            <a:endParaRPr lang="en-US" altLang="ko-KR" sz="1200" b="0" dirty="0" smtClean="0"/>
          </a:p>
          <a:p>
            <a:endParaRPr lang="en-US" altLang="ko-KR" sz="1200" b="0" dirty="0"/>
          </a:p>
          <a:p>
            <a:endParaRPr lang="en-US" altLang="ko-KR" sz="1200" b="0" dirty="0"/>
          </a:p>
        </p:txBody>
      </p:sp>
    </p:spTree>
    <p:extLst>
      <p:ext uri="{BB962C8B-B14F-4D97-AF65-F5344CB8AC3E}">
        <p14:creationId xmlns:p14="http://schemas.microsoft.com/office/powerpoint/2010/main" val="87955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방법론</a:t>
            </a:r>
            <a:r>
              <a:rPr lang="en-US" altLang="ko-KR" dirty="0"/>
              <a:t>2, Hyper parameter tuning </a:t>
            </a:r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2520281"/>
          </a:xfrm>
        </p:spPr>
        <p:txBody>
          <a:bodyPr/>
          <a:lstStyle/>
          <a:p>
            <a:r>
              <a:rPr lang="ko-KR" altLang="en-US" sz="1200" b="0" dirty="0" smtClean="0"/>
              <a:t>이슈 </a:t>
            </a:r>
            <a:r>
              <a:rPr lang="en-US" altLang="ko-KR" sz="1200" b="0" dirty="0" smtClean="0"/>
              <a:t>: </a:t>
            </a:r>
            <a:r>
              <a:rPr lang="ko-KR" altLang="en-US" sz="1200" b="0" dirty="0" smtClean="0"/>
              <a:t>튜닝해도 튜닝 안한 것 보다 성능이 좋지 못함 </a:t>
            </a:r>
            <a:r>
              <a:rPr lang="en-US" altLang="ko-KR" sz="1200" b="0" dirty="0" smtClean="0"/>
              <a:t>(</a:t>
            </a:r>
            <a:r>
              <a:rPr lang="ko-KR" altLang="en-US" sz="1200" b="0" dirty="0" err="1" smtClean="0"/>
              <a:t>오버빗</a:t>
            </a:r>
            <a:r>
              <a:rPr lang="ko-KR" altLang="en-US" sz="1200" b="0" dirty="0" smtClean="0"/>
              <a:t> 됨</a:t>
            </a:r>
            <a:r>
              <a:rPr lang="en-US" altLang="ko-KR" sz="1200" b="0" dirty="0" smtClean="0"/>
              <a:t>), </a:t>
            </a:r>
            <a:r>
              <a:rPr lang="ko-KR" altLang="en-US" sz="1200" b="0" dirty="0" smtClean="0"/>
              <a:t>튜닝 시 여러가지 고려해야 될 포인트가 많이 존재 </a:t>
            </a:r>
            <a:endParaRPr lang="en-US" altLang="ko-KR" sz="1200" b="0" dirty="0" smtClean="0"/>
          </a:p>
          <a:p>
            <a:pPr indent="0"/>
            <a:r>
              <a:rPr lang="en-US" altLang="ko-KR" sz="1200" b="0" dirty="0" smtClean="0"/>
              <a:t>- </a:t>
            </a:r>
            <a:r>
              <a:rPr lang="ko-KR" altLang="en-US" sz="1200" b="0" dirty="0" smtClean="0"/>
              <a:t>실제 유효한 충분한 학습</a:t>
            </a:r>
            <a:r>
              <a:rPr lang="en-US" altLang="ko-KR" sz="1200" b="0" dirty="0" smtClean="0"/>
              <a:t>(</a:t>
            </a:r>
            <a:r>
              <a:rPr lang="ko-KR" altLang="en-US" sz="1200" b="0" dirty="0" smtClean="0"/>
              <a:t>학습 곡선</a:t>
            </a:r>
            <a:r>
              <a:rPr lang="en-US" altLang="ko-KR" sz="1200" b="0" dirty="0" smtClean="0"/>
              <a:t>) </a:t>
            </a:r>
            <a:r>
              <a:rPr lang="ko-KR" altLang="en-US" sz="1200" b="0" dirty="0" smtClean="0"/>
              <a:t>이 되었는지</a:t>
            </a:r>
            <a:r>
              <a:rPr lang="en-US" altLang="ko-KR" sz="1200" b="0" dirty="0" smtClean="0"/>
              <a:t>, </a:t>
            </a:r>
          </a:p>
          <a:p>
            <a:pPr indent="0"/>
            <a:r>
              <a:rPr lang="en-US" altLang="ko-KR" sz="1200" b="0" dirty="0" smtClean="0"/>
              <a:t>- </a:t>
            </a:r>
            <a:r>
              <a:rPr lang="ko-KR" altLang="en-US" sz="1200" b="0" dirty="0" err="1" smtClean="0"/>
              <a:t>예측값</a:t>
            </a:r>
            <a:r>
              <a:rPr lang="ko-KR" altLang="en-US" sz="1200" b="0" dirty="0" smtClean="0"/>
              <a:t> 평균이 </a:t>
            </a:r>
            <a:r>
              <a:rPr lang="ko-KR" altLang="en-US" sz="1200" b="0" dirty="0" err="1" smtClean="0"/>
              <a:t>실제값과</a:t>
            </a:r>
            <a:r>
              <a:rPr lang="ko-KR" altLang="en-US" sz="1200" b="0" dirty="0" smtClean="0"/>
              <a:t> </a:t>
            </a:r>
            <a:r>
              <a:rPr lang="ko-KR" altLang="en-US" sz="1200" b="0" dirty="0" err="1" smtClean="0"/>
              <a:t>유사한지</a:t>
            </a:r>
            <a:r>
              <a:rPr lang="ko-KR" altLang="en-US" sz="1200" b="0" dirty="0" smtClean="0"/>
              <a:t> </a:t>
            </a:r>
            <a:r>
              <a:rPr lang="en-US" altLang="ko-KR" sz="1200" b="0" dirty="0" smtClean="0"/>
              <a:t>(</a:t>
            </a:r>
            <a:r>
              <a:rPr lang="ko-KR" altLang="en-US" sz="1200" b="0" dirty="0" err="1" smtClean="0"/>
              <a:t>예측평균</a:t>
            </a:r>
            <a:r>
              <a:rPr lang="en-US" altLang="ko-KR" sz="1200" b="0" dirty="0" smtClean="0"/>
              <a:t>)</a:t>
            </a:r>
          </a:p>
          <a:p>
            <a:endParaRPr lang="en-US" altLang="ko-KR" sz="1200" b="0" dirty="0" smtClean="0"/>
          </a:p>
          <a:p>
            <a:r>
              <a:rPr lang="en-US" altLang="ko-KR" sz="1200" b="0" dirty="0" smtClean="0"/>
              <a:t># </a:t>
            </a:r>
            <a:r>
              <a:rPr lang="ko-KR" altLang="en-US" sz="1200" b="0" dirty="0"/>
              <a:t>지시사항 </a:t>
            </a:r>
            <a:endParaRPr lang="en-US" altLang="ko-KR" sz="1200" b="0" dirty="0" smtClean="0"/>
          </a:p>
          <a:p>
            <a:r>
              <a:rPr lang="ko-KR" altLang="en-US" sz="1200" b="0" dirty="0" smtClean="0"/>
              <a:t>패키지 </a:t>
            </a:r>
            <a:r>
              <a:rPr lang="en-US" altLang="ko-KR" sz="1200" b="0" dirty="0" smtClean="0"/>
              <a:t>: </a:t>
            </a:r>
            <a:r>
              <a:rPr lang="ko-KR" altLang="en-US" sz="1200" b="0" dirty="0" smtClean="0"/>
              <a:t>튜닝 패키지 </a:t>
            </a:r>
            <a:r>
              <a:rPr lang="en-US" altLang="ko-KR" sz="1200" b="0" dirty="0" err="1" smtClean="0"/>
              <a:t>optuna</a:t>
            </a:r>
            <a:r>
              <a:rPr lang="en-US" altLang="ko-KR" sz="1200" b="0" dirty="0" smtClean="0"/>
              <a:t> </a:t>
            </a:r>
            <a:r>
              <a:rPr lang="ko-KR" altLang="en-US" sz="1200" b="0" dirty="0" smtClean="0"/>
              <a:t>활용 </a:t>
            </a:r>
            <a:r>
              <a:rPr lang="en-US" altLang="ko-KR" sz="1200" b="0" dirty="0" smtClean="0"/>
              <a:t> </a:t>
            </a:r>
          </a:p>
          <a:p>
            <a:r>
              <a:rPr lang="ko-KR" altLang="en-US" sz="1200" b="0" dirty="0" smtClean="0"/>
              <a:t>프롬프트 제공 정보 </a:t>
            </a:r>
            <a:r>
              <a:rPr lang="en-US" altLang="ko-KR" sz="1200" b="0" dirty="0" smtClean="0"/>
              <a:t>: </a:t>
            </a:r>
            <a:r>
              <a:rPr lang="en-US" altLang="ko-KR" sz="1200" b="0" dirty="0" err="1" smtClean="0"/>
              <a:t>optuna</a:t>
            </a:r>
            <a:r>
              <a:rPr lang="ko-KR" altLang="en-US" sz="1200" b="0" dirty="0" smtClean="0"/>
              <a:t>결과</a:t>
            </a:r>
            <a:r>
              <a:rPr lang="en-US" altLang="ko-KR" sz="1200" b="0" dirty="0" smtClean="0"/>
              <a:t>, </a:t>
            </a:r>
            <a:r>
              <a:rPr lang="en-US" altLang="ko-KR" sz="1200" b="0" dirty="0" err="1" smtClean="0"/>
              <a:t>oof</a:t>
            </a:r>
            <a:r>
              <a:rPr lang="en-US" altLang="ko-KR" sz="1200" b="0" dirty="0" smtClean="0"/>
              <a:t> </a:t>
            </a:r>
            <a:r>
              <a:rPr lang="ko-KR" altLang="en-US" sz="1200" b="0" dirty="0" smtClean="0"/>
              <a:t>결과</a:t>
            </a:r>
            <a:r>
              <a:rPr lang="en-US" altLang="ko-KR" sz="1200" b="0" dirty="0" smtClean="0"/>
              <a:t>(f1 score), </a:t>
            </a:r>
            <a:r>
              <a:rPr lang="ko-KR" altLang="en-US" sz="1200" b="0" dirty="0" smtClean="0"/>
              <a:t>변수 중요도</a:t>
            </a:r>
            <a:r>
              <a:rPr lang="en-US" altLang="ko-KR" sz="1200" b="0" dirty="0" smtClean="0"/>
              <a:t>, training history, train vs test </a:t>
            </a:r>
            <a:r>
              <a:rPr lang="ko-KR" altLang="en-US" sz="1200" b="0" dirty="0" err="1" smtClean="0"/>
              <a:t>예측값</a:t>
            </a:r>
            <a:r>
              <a:rPr lang="ko-KR" altLang="en-US" sz="1200" b="0" dirty="0" smtClean="0"/>
              <a:t> 평균 </a:t>
            </a:r>
            <a:endParaRPr lang="en-US" altLang="ko-KR" sz="1200" b="0" dirty="0"/>
          </a:p>
          <a:p>
            <a:endParaRPr lang="en-US" altLang="ko-KR" sz="1200" b="0" dirty="0" smtClean="0"/>
          </a:p>
          <a:p>
            <a:r>
              <a:rPr lang="en-US" altLang="ko-KR" sz="1200" b="0" dirty="0" smtClean="0"/>
              <a:t># stopping rule</a:t>
            </a:r>
          </a:p>
          <a:p>
            <a:r>
              <a:rPr lang="en-US" altLang="ko-KR" sz="1200" b="0" dirty="0" smtClean="0"/>
              <a:t>100</a:t>
            </a:r>
            <a:r>
              <a:rPr lang="ko-KR" altLang="en-US" sz="1200" b="0" dirty="0" smtClean="0"/>
              <a:t>회 이상 실행 </a:t>
            </a:r>
            <a:endParaRPr lang="en-US" altLang="ko-KR" sz="1200" b="0" dirty="0" smtClean="0"/>
          </a:p>
          <a:p>
            <a:endParaRPr lang="en-US" altLang="ko-KR" sz="1200" b="0" dirty="0" smtClean="0"/>
          </a:p>
          <a:p>
            <a:endParaRPr lang="en-US" altLang="ko-KR" sz="1200" b="0" dirty="0"/>
          </a:p>
          <a:p>
            <a:endParaRPr lang="en-US" altLang="ko-KR" sz="1200" b="0" dirty="0" smtClean="0"/>
          </a:p>
          <a:p>
            <a:r>
              <a:rPr lang="ko-KR" altLang="en-US" sz="1200" b="0" dirty="0" smtClean="0"/>
              <a:t> </a:t>
            </a:r>
            <a:endParaRPr lang="en-US" altLang="ko-KR" sz="1200" b="0" dirty="0" smtClean="0"/>
          </a:p>
          <a:p>
            <a:endParaRPr lang="en-US" altLang="ko-KR" sz="1200" b="0" dirty="0"/>
          </a:p>
          <a:p>
            <a:endParaRPr lang="en-US" altLang="ko-KR" sz="1200" b="0" dirty="0" smtClean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536322" y="4011414"/>
            <a:ext cx="2069486" cy="1152128"/>
          </a:xfrm>
          <a:prstGeom prst="roundRect">
            <a:avLst>
              <a:gd name="adj" fmla="val 69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/>
              <a:t>프롬프트 제공 정보 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optuna</a:t>
            </a:r>
            <a:r>
              <a:rPr lang="ko-KR" altLang="en-US" sz="1200" dirty="0"/>
              <a:t>결과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oof</a:t>
            </a:r>
            <a:r>
              <a:rPr lang="en-US" altLang="ko-KR" sz="1200" dirty="0"/>
              <a:t> </a:t>
            </a:r>
            <a:r>
              <a:rPr lang="ko-KR" altLang="en-US" sz="1200" dirty="0"/>
              <a:t>결과</a:t>
            </a:r>
            <a:r>
              <a:rPr lang="en-US" altLang="ko-KR" sz="1200" dirty="0"/>
              <a:t>(f1 score), </a:t>
            </a:r>
            <a:r>
              <a:rPr lang="ko-KR" altLang="en-US" sz="1200" dirty="0"/>
              <a:t>변수 중요도</a:t>
            </a:r>
            <a:r>
              <a:rPr lang="en-US" altLang="ko-KR" sz="1200" dirty="0"/>
              <a:t>, training history, train vs test </a:t>
            </a:r>
            <a:r>
              <a:rPr lang="ko-KR" altLang="en-US" sz="1200" dirty="0" err="1"/>
              <a:t>예측값</a:t>
            </a:r>
            <a:r>
              <a:rPr lang="ko-KR" altLang="en-US" sz="1200" dirty="0"/>
              <a:t> 평균 </a:t>
            </a:r>
            <a:endParaRPr lang="en-US" altLang="ko-KR" sz="12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2846022" y="4011414"/>
            <a:ext cx="2069486" cy="1152128"/>
          </a:xfrm>
          <a:prstGeom prst="roundRect">
            <a:avLst>
              <a:gd name="adj" fmla="val 69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ko-KR" altLang="en-US" sz="1200" dirty="0" err="1" smtClean="0">
                <a:sym typeface="Wingdings" panose="05000000000000000000" pitchFamily="2" charset="2"/>
              </a:rPr>
              <a:t>생성형</a:t>
            </a:r>
            <a:r>
              <a:rPr lang="ko-KR" altLang="en-US" sz="1200" dirty="0" smtClean="0">
                <a:sym typeface="Wingdings" panose="05000000000000000000" pitchFamily="2" charset="2"/>
              </a:rPr>
              <a:t> </a:t>
            </a:r>
            <a:r>
              <a:rPr lang="en-US" altLang="ko-KR" sz="1200" dirty="0" smtClean="0">
                <a:sym typeface="Wingdings" panose="05000000000000000000" pitchFamily="2" charset="2"/>
              </a:rPr>
              <a:t>AI </a:t>
            </a:r>
          </a:p>
          <a:p>
            <a:pPr algn="ctr">
              <a:buClrTx/>
            </a:pPr>
            <a:endParaRPr lang="en-US" altLang="ko-KR" sz="1200" dirty="0" smtClean="0">
              <a:sym typeface="Wingdings" panose="05000000000000000000" pitchFamily="2" charset="2"/>
            </a:endParaRPr>
          </a:p>
          <a:p>
            <a:pPr algn="ctr">
              <a:buClrTx/>
            </a:pPr>
            <a:r>
              <a:rPr lang="en-US" altLang="ko-KR" sz="1000" dirty="0" smtClean="0">
                <a:sym typeface="Wingdings" panose="05000000000000000000" pitchFamily="2" charset="2"/>
              </a:rPr>
              <a:t>QWEN 2.5-14B-Instruct-1M</a:t>
            </a:r>
            <a:endParaRPr lang="en-US" altLang="ko-KR" sz="1000" dirty="0">
              <a:sym typeface="Wingdings" panose="05000000000000000000" pitchFamily="2" charset="2"/>
            </a:endParaRPr>
          </a:p>
          <a:p>
            <a:pPr algn="ctr">
              <a:buClrTx/>
            </a:pPr>
            <a:r>
              <a:rPr lang="en-US" altLang="ko-KR" sz="1000" dirty="0" err="1" smtClean="0">
                <a:sym typeface="Wingdings" panose="05000000000000000000" pitchFamily="2" charset="2"/>
              </a:rPr>
              <a:t>Golab</a:t>
            </a:r>
            <a:r>
              <a:rPr lang="en-US" altLang="ko-KR" sz="1000" dirty="0" smtClean="0">
                <a:sym typeface="Wingdings" panose="05000000000000000000" pitchFamily="2" charset="2"/>
              </a:rPr>
              <a:t> Pro+ A100 VRAM 40G </a:t>
            </a:r>
            <a:endParaRPr lang="en-US" altLang="ko-KR" sz="1000" dirty="0">
              <a:sym typeface="Wingdings" panose="05000000000000000000" pitchFamily="2" charset="2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097016" y="4011414"/>
            <a:ext cx="2069486" cy="1152128"/>
          </a:xfrm>
          <a:prstGeom prst="roundRect">
            <a:avLst>
              <a:gd name="adj" fmla="val 69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ko-KR" altLang="en-US" sz="1200" dirty="0" err="1" smtClean="0"/>
              <a:t>파라미터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5</a:t>
            </a:r>
            <a:r>
              <a:rPr lang="ko-KR" altLang="en-US" sz="1200" dirty="0" smtClean="0"/>
              <a:t>개 추천 </a:t>
            </a:r>
            <a:endParaRPr lang="ko-KR" altLang="en-US" sz="1200" dirty="0"/>
          </a:p>
        </p:txBody>
      </p:sp>
      <p:cxnSp>
        <p:nvCxnSpPr>
          <p:cNvPr id="9" name="직선 화살표 연결선 8"/>
          <p:cNvCxnSpPr>
            <a:stCxn id="6" idx="3"/>
            <a:endCxn id="7" idx="1"/>
          </p:cNvCxnSpPr>
          <p:nvPr/>
        </p:nvCxnSpPr>
        <p:spPr>
          <a:xfrm>
            <a:off x="2605808" y="4587478"/>
            <a:ext cx="2402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>
            <a:stCxn id="7" idx="3"/>
            <a:endCxn id="8" idx="1"/>
          </p:cNvCxnSpPr>
          <p:nvPr/>
        </p:nvCxnSpPr>
        <p:spPr>
          <a:xfrm>
            <a:off x="4915508" y="4587478"/>
            <a:ext cx="1815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/>
          <p:cNvSpPr/>
          <p:nvPr/>
        </p:nvSpPr>
        <p:spPr>
          <a:xfrm>
            <a:off x="7348010" y="4011414"/>
            <a:ext cx="2069486" cy="1152128"/>
          </a:xfrm>
          <a:prstGeom prst="roundRect">
            <a:avLst>
              <a:gd name="adj" fmla="val 69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r>
              <a:rPr lang="en-US" altLang="ko-KR" sz="1200" dirty="0" smtClean="0"/>
              <a:t>AB  </a:t>
            </a:r>
            <a:r>
              <a:rPr lang="ko-KR" altLang="en-US" sz="1200" dirty="0" smtClean="0"/>
              <a:t>테스트</a:t>
            </a:r>
            <a:endParaRPr lang="en-US" altLang="ko-KR" sz="1200" dirty="0" smtClean="0"/>
          </a:p>
          <a:p>
            <a:pPr algn="ctr">
              <a:buClrTx/>
            </a:pPr>
            <a:r>
              <a:rPr lang="en-US" altLang="ko-KR" sz="1200" dirty="0" smtClean="0">
                <a:sym typeface="Wingdings" panose="05000000000000000000" pitchFamily="2" charset="2"/>
              </a:rPr>
              <a:t> </a:t>
            </a:r>
            <a:endParaRPr lang="en-US" altLang="ko-KR" sz="1200" dirty="0"/>
          </a:p>
          <a:p>
            <a:pPr algn="ctr">
              <a:buClrTx/>
            </a:pPr>
            <a:r>
              <a:rPr lang="en-US" altLang="ko-KR" sz="1200" dirty="0" smtClean="0"/>
              <a:t>(</a:t>
            </a:r>
            <a:r>
              <a:rPr lang="ko-KR" altLang="en-US" sz="1200" dirty="0" smtClean="0"/>
              <a:t>베스트 선택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cxnSp>
        <p:nvCxnSpPr>
          <p:cNvPr id="14" name="직선 화살표 연결선 13"/>
          <p:cNvCxnSpPr>
            <a:stCxn id="8" idx="3"/>
            <a:endCxn id="12" idx="1"/>
          </p:cNvCxnSpPr>
          <p:nvPr/>
        </p:nvCxnSpPr>
        <p:spPr>
          <a:xfrm>
            <a:off x="7166502" y="4587478"/>
            <a:ext cx="1815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stCxn id="12" idx="2"/>
            <a:endCxn id="6" idx="2"/>
          </p:cNvCxnSpPr>
          <p:nvPr/>
        </p:nvCxnSpPr>
        <p:spPr>
          <a:xfrm rot="5400000">
            <a:off x="4976909" y="1757698"/>
            <a:ext cx="12700" cy="6811688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57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3744417"/>
          </a:xfrm>
        </p:spPr>
        <p:txBody>
          <a:bodyPr/>
          <a:lstStyle/>
          <a:p>
            <a:r>
              <a:rPr lang="en-US" altLang="ko-KR" sz="1200" b="0" dirty="0" smtClean="0"/>
              <a:t># </a:t>
            </a:r>
            <a:r>
              <a:rPr lang="ko-KR" altLang="en-US" sz="1200" b="0" dirty="0" smtClean="0"/>
              <a:t>지시사항 </a:t>
            </a:r>
            <a:endParaRPr lang="en-US" altLang="ko-KR" sz="1200" b="0" dirty="0" smtClean="0"/>
          </a:p>
          <a:p>
            <a:r>
              <a:rPr lang="ko-KR" altLang="en-US" sz="1200" b="0" dirty="0" err="1" smtClean="0"/>
              <a:t>모델델</a:t>
            </a:r>
            <a:r>
              <a:rPr lang="en-US" altLang="ko-KR" sz="1200" b="0" dirty="0" smtClean="0"/>
              <a:t>(Q1~S3) </a:t>
            </a:r>
            <a:r>
              <a:rPr lang="en-US" altLang="ko-KR" sz="1200" b="0" dirty="0" err="1" smtClean="0"/>
              <a:t>oof</a:t>
            </a:r>
            <a:r>
              <a:rPr lang="en-US" altLang="ko-KR" sz="1200" b="0" dirty="0" smtClean="0"/>
              <a:t> </a:t>
            </a:r>
            <a:r>
              <a:rPr lang="ko-KR" altLang="en-US" sz="1200" b="0" dirty="0" smtClean="0"/>
              <a:t>결과 참고해서</a:t>
            </a:r>
            <a:r>
              <a:rPr lang="en-US" altLang="ko-KR" sz="1200" b="0" dirty="0" smtClean="0"/>
              <a:t>, </a:t>
            </a:r>
            <a:r>
              <a:rPr lang="ko-KR" altLang="en-US" sz="1200" b="0" dirty="0" smtClean="0"/>
              <a:t>최적의 앙상블 전략 </a:t>
            </a:r>
            <a:r>
              <a:rPr lang="ko-KR" altLang="en-US" sz="1200" b="0" dirty="0" err="1" smtClean="0"/>
              <a:t>추천하시오</a:t>
            </a:r>
            <a:r>
              <a:rPr lang="en-US" altLang="ko-KR" sz="1200" b="0" dirty="0" smtClean="0"/>
              <a:t>. </a:t>
            </a:r>
            <a:r>
              <a:rPr lang="ko-KR" altLang="en-US" sz="1200" b="0" dirty="0" smtClean="0"/>
              <a:t> </a:t>
            </a:r>
            <a:endParaRPr lang="en-US" altLang="ko-KR" sz="1200" b="0" dirty="0" smtClean="0"/>
          </a:p>
          <a:p>
            <a:endParaRPr lang="en-US" altLang="ko-KR" sz="1200" b="0" dirty="0"/>
          </a:p>
          <a:p>
            <a:r>
              <a:rPr lang="en-US" altLang="ko-KR" sz="1200" b="0" dirty="0" smtClean="0"/>
              <a:t># </a:t>
            </a:r>
            <a:r>
              <a:rPr lang="ko-KR" altLang="en-US" sz="1200" b="0" dirty="0" smtClean="0"/>
              <a:t>프롬프트 제공 정보 </a:t>
            </a:r>
            <a:r>
              <a:rPr lang="en-US" altLang="ko-KR" sz="1200" b="0" dirty="0" smtClean="0"/>
              <a:t>: </a:t>
            </a:r>
            <a:r>
              <a:rPr lang="ko-KR" altLang="en-US" sz="1200" b="0" dirty="0" err="1"/>
              <a:t>모델델</a:t>
            </a:r>
            <a:r>
              <a:rPr lang="en-US" altLang="ko-KR" sz="1200" b="0" dirty="0"/>
              <a:t>(Q1~S3) </a:t>
            </a:r>
            <a:r>
              <a:rPr lang="en-US" altLang="ko-KR" sz="1200" b="0" dirty="0" err="1"/>
              <a:t>oof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결과 </a:t>
            </a:r>
            <a:r>
              <a:rPr lang="ko-KR" altLang="en-US" sz="1200" b="0" dirty="0" smtClean="0"/>
              <a:t>제공</a:t>
            </a:r>
            <a:endParaRPr lang="en-US" altLang="ko-KR" sz="1200" b="0" dirty="0" smtClean="0"/>
          </a:p>
          <a:p>
            <a:endParaRPr lang="en-US" altLang="ko-KR" sz="1200" b="0" dirty="0"/>
          </a:p>
          <a:p>
            <a:r>
              <a:rPr lang="en-US" altLang="ko-KR" sz="1200" b="0" dirty="0" smtClean="0"/>
              <a:t># Few shot </a:t>
            </a:r>
            <a:r>
              <a:rPr lang="ko-KR" altLang="en-US" sz="1200" b="0" dirty="0" smtClean="0"/>
              <a:t>정보 제공 </a:t>
            </a:r>
            <a:endParaRPr lang="en-US" altLang="ko-KR" sz="1200" b="0" dirty="0" smtClean="0"/>
          </a:p>
          <a:p>
            <a:endParaRPr lang="en-US" altLang="ko-KR" sz="1200" b="0" dirty="0"/>
          </a:p>
          <a:p>
            <a:r>
              <a:rPr lang="en-US" altLang="ko-KR" sz="1200" b="0" dirty="0"/>
              <a:t>### </a:t>
            </a:r>
            <a:r>
              <a:rPr lang="ko-KR" altLang="en-US" sz="1200" b="0" dirty="0"/>
              <a:t>📦 </a:t>
            </a:r>
            <a:r>
              <a:rPr lang="en-US" altLang="ko-KR" sz="1200" b="0" dirty="0" smtClean="0"/>
              <a:t>summary</a:t>
            </a:r>
          </a:p>
          <a:p>
            <a:endParaRPr lang="en-US" altLang="ko-KR" sz="1200" b="0" dirty="0" smtClean="0"/>
          </a:p>
          <a:p>
            <a:r>
              <a:rPr lang="en-US" altLang="ko-KR" sz="1200" b="0" dirty="0" smtClean="0"/>
              <a:t>// </a:t>
            </a:r>
            <a:r>
              <a:rPr lang="ko-KR" altLang="en-US" sz="1200" b="0" dirty="0"/>
              <a:t>앙상블 </a:t>
            </a:r>
            <a:r>
              <a:rPr lang="ko-KR" altLang="en-US" sz="1200" b="0" dirty="0" smtClean="0"/>
              <a:t>후보</a:t>
            </a:r>
            <a:endParaRPr lang="en-US" altLang="ko-KR" sz="1200" b="0" dirty="0" smtClean="0"/>
          </a:p>
          <a:p>
            <a:r>
              <a:rPr lang="en-US" altLang="ko-KR" sz="1200" b="0" dirty="0" smtClean="0"/>
              <a:t>- </a:t>
            </a:r>
            <a:r>
              <a:rPr lang="en-US" altLang="ko-KR" sz="1200" b="0" dirty="0" err="1"/>
              <a:t>oof</a:t>
            </a:r>
            <a:r>
              <a:rPr lang="ko-KR" altLang="en-US" sz="1200" b="0" dirty="0"/>
              <a:t>앙상블</a:t>
            </a:r>
            <a:r>
              <a:rPr lang="en-US" altLang="ko-KR" sz="1200" b="0" dirty="0"/>
              <a:t>: Q1(1)-Q2(2)-Q3(1)-S1(1)-S2(1)-S3(2</a:t>
            </a:r>
            <a:r>
              <a:rPr lang="en-US" altLang="ko-KR" sz="1200" b="0" dirty="0" smtClean="0"/>
              <a:t>)</a:t>
            </a:r>
          </a:p>
          <a:p>
            <a:pPr indent="0"/>
            <a:r>
              <a:rPr lang="en-US" altLang="ko-KR" sz="1200" b="0" dirty="0" smtClean="0"/>
              <a:t>- </a:t>
            </a:r>
            <a:r>
              <a:rPr lang="en-US" altLang="ko-KR" sz="1200" b="0" dirty="0" err="1" smtClean="0"/>
              <a:t>vld</a:t>
            </a:r>
            <a:r>
              <a:rPr lang="ko-KR" altLang="en-US" sz="1200" b="0" dirty="0"/>
              <a:t>앙상블</a:t>
            </a:r>
            <a:r>
              <a:rPr lang="en-US" altLang="ko-KR" sz="1200" b="0" dirty="0"/>
              <a:t>: Q1(2)-Q2(1)-Q3(2)-S1(3)-S2(3)-S3(3</a:t>
            </a:r>
            <a:r>
              <a:rPr lang="en-US" altLang="ko-KR" sz="1200" b="0" dirty="0" smtClean="0"/>
              <a:t>)</a:t>
            </a:r>
          </a:p>
        </p:txBody>
      </p:sp>
      <p:sp>
        <p:nvSpPr>
          <p:cNvPr id="6" name="제목 4"/>
          <p:cNvSpPr txBox="1">
            <a:spLocks/>
          </p:cNvSpPr>
          <p:nvPr/>
        </p:nvSpPr>
        <p:spPr bwMode="auto">
          <a:xfrm>
            <a:off x="279400" y="377825"/>
            <a:ext cx="8850064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333333"/>
                </a:solidFill>
                <a:latin typeface="나눔고딕 ExtraBold" pitchFamily="50" charset="-127"/>
                <a:ea typeface="나눔고딕 ExtraBold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333333"/>
                </a:solidFill>
                <a:latin typeface="-2002" pitchFamily="18" charset="-127"/>
                <a:ea typeface="-2002" pitchFamily="18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/>
              <a:t>방법론</a:t>
            </a:r>
            <a:r>
              <a:rPr lang="en-US" altLang="ko-KR" dirty="0"/>
              <a:t>3, Model ensemble </a:t>
            </a:r>
            <a:endParaRPr lang="en-US" altLang="ko-KR" kern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4005064"/>
            <a:ext cx="9082090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837340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25628</TotalTime>
  <Words>457</Words>
  <Application>Microsoft Office PowerPoint</Application>
  <PresentationFormat>A4 용지(210x297mm)</PresentationFormat>
  <Paragraphs>78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6</vt:i4>
      </vt:variant>
    </vt:vector>
  </HeadingPairs>
  <TitlesOfParts>
    <vt:vector size="23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Arial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   설문형 small 데이터를 위한 모델 최적화 (생성형 AI 활용)</vt:lpstr>
      <vt:lpstr>목차</vt:lpstr>
      <vt:lpstr>주제 선정 배경 (주제 : 생성형 AI를 활용한 모델 최적화) </vt:lpstr>
      <vt:lpstr>방법론1, feature selection </vt:lpstr>
      <vt:lpstr>방법론2, Hyper parameter tuning </vt:lpstr>
      <vt:lpstr>PowerPoint 프레젠테이션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1188</cp:revision>
  <dcterms:created xsi:type="dcterms:W3CDTF">2007-08-16T05:20:03Z</dcterms:created>
  <dcterms:modified xsi:type="dcterms:W3CDTF">2025-05-15T08:26:15Z</dcterms:modified>
</cp:coreProperties>
</file>